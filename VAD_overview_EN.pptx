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Other models</c:v>
                </c:pt>
              </c:strCache>
            </c:strRef>
          </c:tx>
          <c:spPr>
            <a:ln w="47625">
              <a:noFill/>
            </a:ln>
          </c:spPr>
          <c:marker>
            <c:symbol val="circle"/>
            <c:size val="10"/>
            <c:spPr>
              <a:solidFill>
                <a:srgbClr val="A0A8B4"/>
              </a:solidFill>
              <a:ln w="19050">
                <a:solidFill>
                  <a:srgbClr val="FFFFFF"/>
                </a:solidFill>
              </a:ln>
            </c:spPr>
          </c:marker>
          <c:dLbls>
            <c:dLbl>
              <c:idx val="0"/>
              <c:tx>
                <c:rich>
                  <a:bodyPr/>
                  <a:lstStyle/>
                  <a:p>
                    <a:r>
                      <a:rPr sz="1100" b="0">
                        <a:solidFill>
                          <a:srgbClr val="5B6472"/>
                        </a:solidFill>
                        <a:latin typeface="Calibri"/>
                      </a:rPr>
                      <a:t>WebRTC (≈0 params)</a:t>
                    </a:r>
                  </a:p>
                </c:rich>
              </c:tx>
              <c:dLblPos val="r"/>
              <c:showLegendKey val="0"/>
              <c:showVal val="1"/>
              <c:showCatName val="0"/>
              <c:showSerName val="0"/>
              <c:showPercent val="0"/>
              <c:showBubbleSize val="0"/>
            </c:dLbl>
            <c:dLbl>
              <c:idx val="1"/>
              <c:tx>
                <c:rich>
                  <a:bodyPr/>
                  <a:lstStyle/>
                  <a:p>
                    <a:r>
                      <a:rPr sz="1100" b="0">
                        <a:solidFill>
                          <a:srgbClr val="5B6472"/>
                        </a:solidFill>
                        <a:latin typeface="Calibri"/>
                      </a:rPr>
                      <a:t>AtomicVAD</a:t>
                    </a:r>
                  </a:p>
                </c:rich>
              </c:tx>
              <c:dLblPos val="r"/>
              <c:showLegendKey val="0"/>
              <c:showVal val="1"/>
              <c:showCatName val="0"/>
              <c:showSerName val="0"/>
              <c:showPercent val="0"/>
              <c:showBubbleSize val="0"/>
            </c:dLbl>
            <c:dLbl>
              <c:idx val="2"/>
              <c:tx>
                <c:rich>
                  <a:bodyPr/>
                  <a:lstStyle/>
                  <a:p>
                    <a:r>
                      <a:rPr sz="1100" b="0">
                        <a:solidFill>
                          <a:srgbClr val="5B6472"/>
                        </a:solidFill>
                        <a:latin typeface="Calibri"/>
                      </a:rPr>
                      <a:t>SincQDR</a:t>
                    </a:r>
                  </a:p>
                </c:rich>
              </c:tx>
              <c:dLblPos val="l"/>
              <c:showLegendKey val="0"/>
              <c:showVal val="1"/>
              <c:showCatName val="0"/>
              <c:showSerName val="0"/>
              <c:showPercent val="0"/>
              <c:showBubbleSize val="0"/>
            </c:dLbl>
            <c:dLbl>
              <c:idx val="3"/>
              <c:tx>
                <c:rich>
                  <a:bodyPr/>
                  <a:lstStyle/>
                  <a:p>
                    <a:r>
                      <a:rPr sz="1100" b="0">
                        <a:solidFill>
                          <a:srgbClr val="5B6472"/>
                        </a:solidFill>
                        <a:latin typeface="Calibri"/>
                      </a:rPr>
                      <a:t>TinyVAD</a:t>
                    </a:r>
                  </a:p>
                </c:rich>
              </c:tx>
              <c:dLblPos val="r"/>
              <c:showLegendKey val="0"/>
              <c:showVal val="1"/>
              <c:showCatName val="0"/>
              <c:showSerName val="0"/>
              <c:showPercent val="0"/>
              <c:showBubbleSize val="0"/>
            </c:dLbl>
            <c:dLbl>
              <c:idx val="4"/>
              <c:tx>
                <c:rich>
                  <a:bodyPr/>
                  <a:lstStyle/>
                  <a:p>
                    <a:r>
                      <a:rPr sz="1100" b="0">
                        <a:solidFill>
                          <a:srgbClr val="5B6472"/>
                        </a:solidFill>
                        <a:latin typeface="Calibri"/>
                      </a:rPr>
                      <a:t>MarbleNet</a:t>
                    </a:r>
                  </a:p>
                </c:rich>
              </c:tx>
              <c:dLblPos val="r"/>
              <c:showLegendKey val="0"/>
              <c:showVal val="1"/>
              <c:showCatName val="0"/>
              <c:showSerName val="0"/>
              <c:showPercent val="0"/>
              <c:showBubbleSize val="0"/>
            </c:dLbl>
            <c:dLbl>
              <c:idx val="5"/>
              <c:tx>
                <c:rich>
                  <a:bodyPr/>
                  <a:lstStyle/>
                  <a:p>
                    <a:r>
                      <a:rPr sz="1100" b="0">
                        <a:solidFill>
                          <a:srgbClr val="5B6472"/>
                        </a:solidFill>
                        <a:latin typeface="Calibri"/>
                      </a:rPr>
                      <a:t>Silero</a:t>
                    </a:r>
                  </a:p>
                </c:rich>
              </c:tx>
              <c:dLblPos val="r"/>
              <c:showLegendKey val="0"/>
              <c:showVal val="1"/>
              <c:showCatName val="0"/>
              <c:showSerName val="0"/>
              <c:showPercent val="0"/>
              <c:showBubbleSize val="0"/>
            </c:dLbl>
            <c:dLbl>
              <c:idx val="6"/>
              <c:tx>
                <c:rich>
                  <a:bodyPr/>
                  <a:lstStyle/>
                  <a:p>
                    <a:r>
                      <a:rPr sz="1100" b="0">
                        <a:solidFill>
                          <a:srgbClr val="5B6472"/>
                        </a:solidFill>
                        <a:latin typeface="Calibri"/>
                      </a:rPr>
                      <a:t>pyannote</a:t>
                    </a:r>
                  </a:p>
                </c:rich>
              </c:tx>
              <c:dLblPos val="r"/>
              <c:showLegendKey val="0"/>
              <c:showVal val="1"/>
              <c:showCatName val="0"/>
              <c:showSerName val="0"/>
              <c:showPercent val="0"/>
              <c:showBubbleSize val="0"/>
            </c:dLbl>
            <c:dLbl>
              <c:idx val="7"/>
              <c:tx>
                <c:rich>
                  <a:bodyPr/>
                  <a:lstStyle/>
                  <a:p>
                    <a:r>
                      <a:rPr sz="1100" b="0">
                        <a:solidFill>
                          <a:srgbClr val="5B6472"/>
                        </a:solidFill>
                        <a:latin typeface="Calibri"/>
                      </a:rPr>
                      <a:t>WavLM / Whisper</a:t>
                    </a:r>
                  </a:p>
                </c:rich>
              </c:tx>
              <c:dLblPos val="l"/>
              <c:showLegendKey val="0"/>
              <c:showVal val="1"/>
              <c:showCatName val="0"/>
              <c:showSerName val="0"/>
              <c:showPercent val="0"/>
              <c:showBubbleSize val="0"/>
            </c:dLbl>
            <c:dLbl>
              <c:idx val="8"/>
              <c:tx>
                <c:rich>
                  <a:bodyPr/>
                  <a:lstStyle/>
                  <a:p>
                    <a:r>
                      <a:rPr sz="1100" b="0">
                        <a:solidFill>
                          <a:srgbClr val="5B6472"/>
                        </a:solidFill>
                        <a:latin typeface="Calibri"/>
                      </a:rPr>
                      <a:t>BEATs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Sheet1!$A$2:$A$10</c:f>
              <c:numCache>
                <c:formatCode>General</c:formatCode>
                <c:ptCount val="9"/>
                <c:pt idx="0">
                  <c:v>10</c:v>
                </c:pt>
                <c:pt idx="1">
                  <c:v>11</c:v>
                </c:pt>
                <c:pt idx="2">
                  <c:v>9</c:v>
                </c:pt>
                <c:pt idx="3">
                  <c:v>11.5</c:v>
                </c:pt>
                <c:pt idx="4">
                  <c:v>10</c:v>
                </c:pt>
                <c:pt idx="5">
                  <c:v>32</c:v>
                </c:pt>
                <c:pt idx="6">
                  <c:v>17</c:v>
                </c:pt>
                <c:pt idx="7">
                  <c:v>20</c:v>
                </c:pt>
                <c:pt idx="8">
                  <c:v>40</c:v>
                </c:pt>
              </c:numCache>
            </c:numRef>
          </c:xVal>
          <c:yVal>
            <c:numRef>
              <c:f>Sheet1!$B$2:$B$10</c:f>
              <c:numCache>
                <c:formatCode>General</c:formatCode>
                <c:ptCount val="9"/>
                <c:pt idx="0">
                  <c:v>20</c:v>
                </c:pt>
                <c:pt idx="1">
                  <c:v>300</c:v>
                </c:pt>
                <c:pt idx="2">
                  <c:v>8000</c:v>
                </c:pt>
                <c:pt idx="3">
                  <c:v>11600</c:v>
                </c:pt>
                <c:pt idx="4">
                  <c:v>88900</c:v>
                </c:pt>
                <c:pt idx="5">
                  <c:v>260000</c:v>
                </c:pt>
                <c:pt idx="6">
                  <c:v>1490000</c:v>
                </c:pt>
                <c:pt idx="7">
                  <c:v>95000000.0</c:v>
                </c:pt>
                <c:pt idx="8">
                  <c:v>90000000.0</c:v>
                </c:pt>
              </c:numCache>
            </c:numRef>
          </c:yVal>
          <c:smooth val="0"/>
        </c:ser>
        <c:ser>
          <c:idx val="1"/>
          <c:order val="1"/>
          <c:tx>
            <c:strRef>
              <c:f>Sheet1!$B$12</c:f>
              <c:strCache>
                <c:ptCount val="1"/>
                <c:pt idx="0">
                  <c:v>YAMNet</c:v>
                </c:pt>
              </c:strCache>
            </c:strRef>
          </c:tx>
          <c:spPr>
            <a:ln w="47625">
              <a:noFill/>
            </a:ln>
          </c:spPr>
          <c:marker>
            <c:symbol val="circle"/>
            <c:size val="14"/>
            <c:spPr>
              <a:solidFill>
                <a:srgbClr val="D9622B"/>
              </a:solidFill>
              <a:ln w="19050">
                <a:solidFill>
                  <a:srgbClr val="FFFFFF"/>
                </a:solidFill>
              </a:ln>
            </c:spPr>
          </c:marker>
          <c:dLbls>
            <c:dLbl>
              <c:idx val="0"/>
              <c:tx>
                <c:rich>
                  <a:bodyPr/>
                  <a:lstStyle/>
                  <a:p>
                    <a:r>
                      <a:rPr sz="1200" b="1">
                        <a:solidFill>
                          <a:srgbClr val="D9622B"/>
                        </a:solidFill>
                        <a:latin typeface="Calibri"/>
                      </a:rPr>
                      <a:t>YAMNet (default hop)</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Sheet1!$A$13:$A$13</c:f>
              <c:numCache>
                <c:formatCode>General</c:formatCode>
                <c:ptCount val="1"/>
                <c:pt idx="0">
                  <c:v>480</c:v>
                </c:pt>
              </c:numCache>
            </c:numRef>
          </c:xVal>
          <c:yVal>
            <c:numRef>
              <c:f>Sheet1!$B$13:$B$13</c:f>
              <c:numCache>
                <c:formatCode>General</c:formatCode>
                <c:ptCount val="1"/>
                <c:pt idx="0">
                  <c:v>3200000.0</c:v>
                </c:pt>
              </c:numCache>
            </c:numRef>
          </c:yVal>
          <c:smooth val="0"/>
        </c:ser>
        <c:axId val="-2128940872"/>
        <c:axId val="-2129643912"/>
      </c:scatterChart>
      <c:valAx>
        <c:axId val="-2128940872"/>
        <c:scaling>
          <c:logBase val="10"/>
          <c:orientation val="minMax"/>
          <c:max val="1000.0"/>
          <c:min val="1.0"/>
        </c:scaling>
        <c:delete val="0"/>
        <c:axPos val="b"/>
        <c:majorGridlines>
          <c:spPr>
            <a:ln w="9525">
              <a:solidFill>
                <a:srgbClr val="E8EBEF"/>
              </a:solidFill>
            </a:ln>
          </c:spPr>
        </c:majorGridlines>
        <c:title>
          <c:tx>
            <c:rich>
              <a:bodyPr/>
              <a:lstStyle/>
              <a:p>
                <a:r>
                  <a:rPr sz="1100" b="0">
                    <a:solidFill>
                      <a:srgbClr val="5B6472"/>
                    </a:solidFill>
                    <a:latin typeface="Calibri"/>
                  </a:rPr>
                  <a:t>Decision step (ms, log scale)</a:t>
                </a:r>
              </a:p>
            </c:rich>
          </c:tx>
          <c:layout/>
          <c:overlay val="0"/>
        </c:title>
        <c:numFmt formatCode="0" sourceLinked="0"/>
        <c:majorTickMark val="out"/>
        <c:minorTickMark val="none"/>
        <c:tickLblPos val="nextTo"/>
        <c:spPr>
          <a:ln>
            <a:solidFill>
              <a:srgbClr val="DDE2E8"/>
            </a:solidFill>
          </a:ln>
        </c:spPr>
        <c:txPr>
          <a:bodyPr/>
          <a:lstStyle/>
          <a:p>
            <a:pPr>
              <a:defRPr sz="1100">
                <a:solidFill>
                  <a:srgbClr val="5B6472"/>
                </a:solidFill>
                <a:latin typeface="Calibri"/>
              </a:defRPr>
            </a:pPr>
          </a:p>
        </c:txPr>
        <c:crossAx val="-2129643912"/>
        <c:crosses val="autoZero"/>
        <c:crossBetween val="midCat"/>
      </c:valAx>
      <c:valAx>
        <c:axId val="-2129643912"/>
        <c:scaling>
          <c:logBase val="10"/>
          <c:orientation val="minMax"/>
          <c:max val="500000000.0"/>
          <c:min val="10.0"/>
        </c:scaling>
        <c:delete val="0"/>
        <c:axPos val="l"/>
        <c:majorGridlines>
          <c:spPr>
            <a:ln w="9525">
              <a:solidFill>
                <a:srgbClr val="E8EBEF"/>
              </a:solidFill>
            </a:ln>
          </c:spPr>
        </c:majorGridlines>
        <c:title>
          <c:tx>
            <c:rich>
              <a:bodyPr/>
              <a:lstStyle/>
              <a:p>
                <a:r>
                  <a:rPr sz="1100" b="0">
                    <a:solidFill>
                      <a:srgbClr val="5B6472"/>
                    </a:solidFill>
                    <a:latin typeface="Calibri"/>
                  </a:rPr>
                  <a:t>Parameters (log scale)</a:t>
                </a:r>
              </a:p>
            </c:rich>
          </c:tx>
          <c:layout/>
          <c:overlay val="0"/>
        </c:title>
        <c:numFmt formatCode="[&gt;=1000000]0,,&quot;M&quot;;[&gt;=1000]0,&quot;k&quot;;0" sourceLinked="0"/>
        <c:majorTickMark val="out"/>
        <c:minorTickMark val="none"/>
        <c:tickLblPos val="nextTo"/>
        <c:spPr>
          <a:ln>
            <a:solidFill>
              <a:srgbClr val="DDE2E8"/>
            </a:solidFill>
          </a:ln>
        </c:spPr>
        <c:txPr>
          <a:bodyPr/>
          <a:lstStyle/>
          <a:p>
            <a:pPr>
              <a:defRPr sz="1100">
                <a:solidFill>
                  <a:srgbClr val="5B6472"/>
                </a:solidFill>
                <a:latin typeface="Calibri"/>
              </a:defRPr>
            </a:pPr>
          </a:p>
        </c:txPr>
        <c:crossAx val="-2128940872"/>
        <c:crosses val="autoZero"/>
        <c:crossBetween val="midCat"/>
      </c:valAx>
    </c:plotArea>
    <c:plotVisOnly val="1"/>
    <c:dispBlanksAs val="gap"/>
    <c:showDLblsOverMax val="0"/>
  </c:chart>
  <c:txPr>
    <a:bodyPr/>
    <a:lstStyle/>
    <a:p>
      <a:pPr>
        <a:defRPr sz="18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Overall</c:v>
                </c:pt>
              </c:strCache>
            </c:strRef>
          </c:tx>
          <c:spPr>
            <a:ln w="31750">
              <a:solidFill>
                <a:srgbClr val="2A78D6"/>
              </a:solidFill>
            </a:ln>
          </c:spPr>
          <c:marker>
            <c:symbol val="none"/>
          </c:marker>
          <c:xVal>
            <c:numRef>
              <c:f>Sheet1!$A$2:$A$52</c:f>
              <c:numCache>
                <c:formatCode>General</c:formatCode>
                <c:ptCount val="51"/>
                <c:pt idx="0">
                  <c:v>67.73530620632964</c:v>
                </c:pt>
                <c:pt idx="1">
                  <c:v>66.00904233456639</c:v>
                </c:pt>
                <c:pt idx="2">
                  <c:v>63.871763255240445</c:v>
                </c:pt>
                <c:pt idx="3">
                  <c:v>62.59761611179614</c:v>
                </c:pt>
                <c:pt idx="4">
                  <c:v>61.159062885326755</c:v>
                </c:pt>
                <c:pt idx="5">
                  <c:v>59.92601726263872</c:v>
                </c:pt>
                <c:pt idx="6">
                  <c:v>57.91204274558158</c:v>
                </c:pt>
                <c:pt idx="7">
                  <c:v>55.692560624743116</c:v>
                </c:pt>
                <c:pt idx="8">
                  <c:v>54.29510891903</c:v>
                </c:pt>
                <c:pt idx="9">
                  <c:v>52.40443896424167</c:v>
                </c:pt>
                <c:pt idx="10">
                  <c:v>50.67817509247842</c:v>
                </c:pt>
                <c:pt idx="11">
                  <c:v>49.239621866009045</c:v>
                </c:pt>
                <c:pt idx="12">
                  <c:v>47.348951911220716</c:v>
                </c:pt>
                <c:pt idx="13">
                  <c:v>45.58158651870119</c:v>
                </c:pt>
                <c:pt idx="14">
                  <c:v>43.97862720920674</c:v>
                </c:pt>
                <c:pt idx="15">
                  <c:v>42.457870941224826</c:v>
                </c:pt>
                <c:pt idx="16">
                  <c:v>40.97821619399918</c:v>
                </c:pt>
                <c:pt idx="17">
                  <c:v>39.457459926017265</c:v>
                </c:pt>
                <c:pt idx="18">
                  <c:v>37.6078914919852</c:v>
                </c:pt>
                <c:pt idx="19">
                  <c:v>36.128236744759555</c:v>
                </c:pt>
                <c:pt idx="20">
                  <c:v>34.07316070694616</c:v>
                </c:pt>
                <c:pt idx="21">
                  <c:v>32.3468968351829</c:v>
                </c:pt>
                <c:pt idx="22">
                  <c:v>31.524866420057542</c:v>
                </c:pt>
                <c:pt idx="23">
                  <c:v>28.812166050143855</c:v>
                </c:pt>
                <c:pt idx="24">
                  <c:v>27.25030826140567</c:v>
                </c:pt>
                <c:pt idx="25">
                  <c:v>25.318536785861077</c:v>
                </c:pt>
                <c:pt idx="26">
                  <c:v>24.085491163173035</c:v>
                </c:pt>
                <c:pt idx="27">
                  <c:v>22.277024249897245</c:v>
                </c:pt>
                <c:pt idx="28">
                  <c:v>19.52322235922729</c:v>
                </c:pt>
                <c:pt idx="29">
                  <c:v>17.057131113851213</c:v>
                </c:pt>
                <c:pt idx="30">
                  <c:v>15.741882449650637</c:v>
                </c:pt>
                <c:pt idx="31">
                  <c:v>14.508836826962598</c:v>
                </c:pt>
                <c:pt idx="32">
                  <c:v>12.41265926839293</c:v>
                </c:pt>
                <c:pt idx="33">
                  <c:v>11.38512124948623</c:v>
                </c:pt>
                <c:pt idx="34">
                  <c:v>9.98766954377312</c:v>
                </c:pt>
                <c:pt idx="35">
                  <c:v>8.590217838060008</c:v>
                </c:pt>
                <c:pt idx="36">
                  <c:v>7.603781339909577</c:v>
                </c:pt>
                <c:pt idx="37">
                  <c:v>6.863953966296752</c:v>
                </c:pt>
                <c:pt idx="38">
                  <c:v>5.713111385121249</c:v>
                </c:pt>
                <c:pt idx="39">
                  <c:v>4.48006576243321</c:v>
                </c:pt>
                <c:pt idx="40">
                  <c:v>3.6991368680641186</c:v>
                </c:pt>
                <c:pt idx="41">
                  <c:v>2.5893958076448826</c:v>
                </c:pt>
                <c:pt idx="42">
                  <c:v>2.3016851623510073</c:v>
                </c:pt>
                <c:pt idx="43">
                  <c:v>1.685162351006987</c:v>
                </c:pt>
                <c:pt idx="44">
                  <c:v>1.5207562679819153</c:v>
                </c:pt>
                <c:pt idx="45">
                  <c:v>1.3152486642005754</c:v>
                </c:pt>
                <c:pt idx="46">
                  <c:v>1.0275380189066996</c:v>
                </c:pt>
                <c:pt idx="47">
                  <c:v>0.7809288943690916</c:v>
                </c:pt>
                <c:pt idx="48">
                  <c:v>0.4932182490752158</c:v>
                </c:pt>
                <c:pt idx="49">
                  <c:v>0.45211672831894784</c:v>
                </c:pt>
                <c:pt idx="50">
                  <c:v>0.36991368680641185</c:v>
                </c:pt>
              </c:numCache>
            </c:numRef>
          </c:xVal>
          <c:yVal>
            <c:numRef>
              <c:f>Sheet1!$B$2:$B$52</c:f>
              <c:numCache>
                <c:formatCode>General</c:formatCode>
                <c:ptCount val="51"/>
                <c:pt idx="0">
                  <c:v>0.1</c:v>
                </c:pt>
                <c:pt idx="1">
                  <c:v>0.1</c:v>
                </c:pt>
                <c:pt idx="2">
                  <c:v>0.1</c:v>
                </c:pt>
                <c:pt idx="3">
                  <c:v>0.1</c:v>
                </c:pt>
                <c:pt idx="4">
                  <c:v>0.1</c:v>
                </c:pt>
                <c:pt idx="5">
                  <c:v>0.1</c:v>
                </c:pt>
                <c:pt idx="6">
                  <c:v>0.1</c:v>
                </c:pt>
                <c:pt idx="7">
                  <c:v>0.1</c:v>
                </c:pt>
                <c:pt idx="8">
                  <c:v>0.1</c:v>
                </c:pt>
                <c:pt idx="9">
                  <c:v>0.1</c:v>
                </c:pt>
                <c:pt idx="10">
                  <c:v>0.1</c:v>
                </c:pt>
                <c:pt idx="11">
                  <c:v>0.1</c:v>
                </c:pt>
                <c:pt idx="12">
                  <c:v>0.15787811809283234</c:v>
                </c:pt>
                <c:pt idx="13">
                  <c:v>0.1894537417113988</c:v>
                </c:pt>
                <c:pt idx="14">
                  <c:v>0.34733185980423115</c:v>
                </c:pt>
                <c:pt idx="15">
                  <c:v>0.34733185980423115</c:v>
                </c:pt>
                <c:pt idx="16">
                  <c:v>0.5052099778970635</c:v>
                </c:pt>
                <c:pt idx="17">
                  <c:v>0.7262393432270287</c:v>
                </c:pt>
                <c:pt idx="18">
                  <c:v>0.7578149668455952</c:v>
                </c:pt>
                <c:pt idx="19">
                  <c:v>0.8525418377012947</c:v>
                </c:pt>
                <c:pt idx="20">
                  <c:v>0.9156930849384275</c:v>
                </c:pt>
                <c:pt idx="21">
                  <c:v>0.9788443321755604</c:v>
                </c:pt>
                <c:pt idx="22">
                  <c:v>1.2946005683612252</c:v>
                </c:pt>
                <c:pt idx="23">
                  <c:v>1.7366592990211556</c:v>
                </c:pt>
                <c:pt idx="24">
                  <c:v>2.3050205241553523</c:v>
                </c:pt>
                <c:pt idx="25">
                  <c:v>2.841806125670982</c:v>
                </c:pt>
                <c:pt idx="26">
                  <c:v>3.315440479949479</c:v>
                </c:pt>
                <c:pt idx="27">
                  <c:v>3.7890748342279763</c:v>
                </c:pt>
                <c:pt idx="28">
                  <c:v>4.231133564887907</c:v>
                </c:pt>
                <c:pt idx="29">
                  <c:v>4.83107041364067</c:v>
                </c:pt>
                <c:pt idx="30">
                  <c:v>5.494158509630565</c:v>
                </c:pt>
                <c:pt idx="31">
                  <c:v>6.694032207136091</c:v>
                </c:pt>
                <c:pt idx="32">
                  <c:v>7.32554467950742</c:v>
                </c:pt>
                <c:pt idx="33">
                  <c:v>8.272813388064414</c:v>
                </c:pt>
                <c:pt idx="34">
                  <c:v>9.472687085569941</c:v>
                </c:pt>
                <c:pt idx="35">
                  <c:v>10.704136406694033</c:v>
                </c:pt>
                <c:pt idx="36">
                  <c:v>11.777707609725292</c:v>
                </c:pt>
                <c:pt idx="37">
                  <c:v>13.640669403220715</c:v>
                </c:pt>
                <c:pt idx="38">
                  <c:v>15.061572466056205</c:v>
                </c:pt>
                <c:pt idx="39">
                  <c:v>16.45089990527313</c:v>
                </c:pt>
                <c:pt idx="40">
                  <c:v>17.871802968108618</c:v>
                </c:pt>
                <c:pt idx="41">
                  <c:v>19.608462267129774</c:v>
                </c:pt>
                <c:pt idx="42">
                  <c:v>21.787180296810863</c:v>
                </c:pt>
                <c:pt idx="43">
                  <c:v>23.997473950110514</c:v>
                </c:pt>
                <c:pt idx="44">
                  <c:v>26.176191979791604</c:v>
                </c:pt>
                <c:pt idx="45">
                  <c:v>28.639090622039788</c:v>
                </c:pt>
                <c:pt idx="46">
                  <c:v>30.849384275339435</c:v>
                </c:pt>
                <c:pt idx="47">
                  <c:v>33.72276602462899</c:v>
                </c:pt>
                <c:pt idx="48">
                  <c:v>36.627723397537096</c:v>
                </c:pt>
                <c:pt idx="49">
                  <c:v>39.46952952320809</c:v>
                </c:pt>
                <c:pt idx="50">
                  <c:v>41.93242816545627</c:v>
                </c:pt>
              </c:numCache>
            </c:numRef>
          </c:yVal>
          <c:smooth val="0"/>
        </c:ser>
        <c:ser>
          <c:idx val="1"/>
          <c:order val="1"/>
          <c:tx>
            <c:strRef>
              <c:f>Sheet1!$B$54</c:f>
              <c:strCache>
                <c:ptCount val="1"/>
                <c:pt idx="0">
                  <c:v>Excluding boundary errors</c:v>
                </c:pt>
              </c:strCache>
            </c:strRef>
          </c:tx>
          <c:spPr>
            <a:ln w="31750">
              <a:solidFill>
                <a:srgbClr val="0E7C7B"/>
              </a:solidFill>
              <a:prstDash val="dash"/>
            </a:ln>
          </c:spPr>
          <c:marker>
            <c:symbol val="none"/>
          </c:marker>
          <c:xVal>
            <c:numRef>
              <c:f>Sheet1!$A$55:$A$105</c:f>
              <c:numCache>
                <c:formatCode>General</c:formatCode>
                <c:ptCount val="51"/>
                <c:pt idx="0">
                  <c:v>47.7599671187834</c:v>
                </c:pt>
                <c:pt idx="1">
                  <c:v>46.526921496095355</c:v>
                </c:pt>
                <c:pt idx="2">
                  <c:v>44.8006576243321</c:v>
                </c:pt>
                <c:pt idx="3">
                  <c:v>43.855322646937935</c:v>
                </c:pt>
                <c:pt idx="4">
                  <c:v>42.745581586518696</c:v>
                </c:pt>
                <c:pt idx="5">
                  <c:v>41.75914508836827</c:v>
                </c:pt>
                <c:pt idx="6">
                  <c:v>40.197287299630084</c:v>
                </c:pt>
                <c:pt idx="7">
                  <c:v>38.59432799013563</c:v>
                </c:pt>
                <c:pt idx="8">
                  <c:v>37.731196054254006</c:v>
                </c:pt>
                <c:pt idx="9">
                  <c:v>36.16933826551582</c:v>
                </c:pt>
                <c:pt idx="10">
                  <c:v>35.182901767365394</c:v>
                </c:pt>
                <c:pt idx="11">
                  <c:v>34.1553637484587</c:v>
                </c:pt>
                <c:pt idx="12">
                  <c:v>33.004521167283194</c:v>
                </c:pt>
                <c:pt idx="13">
                  <c:v>31.648170982326345</c:v>
                </c:pt>
                <c:pt idx="14">
                  <c:v>30.579531442663377</c:v>
                </c:pt>
                <c:pt idx="15">
                  <c:v>29.510891903000413</c:v>
                </c:pt>
                <c:pt idx="16">
                  <c:v>28.277846280312374</c:v>
                </c:pt>
                <c:pt idx="17">
                  <c:v>27.209206740649407</c:v>
                </c:pt>
                <c:pt idx="18">
                  <c:v>25.893958076448833</c:v>
                </c:pt>
                <c:pt idx="19">
                  <c:v>24.86642005754213</c:v>
                </c:pt>
                <c:pt idx="20">
                  <c:v>23.304562268803945</c:v>
                </c:pt>
                <c:pt idx="21">
                  <c:v>22.112618166872174</c:v>
                </c:pt>
                <c:pt idx="22">
                  <c:v>21.372790793259348</c:v>
                </c:pt>
                <c:pt idx="23">
                  <c:v>19.482120838471022</c:v>
                </c:pt>
                <c:pt idx="24">
                  <c:v>18.372379778051787</c:v>
                </c:pt>
                <c:pt idx="25">
                  <c:v>17.09823263460748</c:v>
                </c:pt>
                <c:pt idx="26">
                  <c:v>16.48170982326346</c:v>
                </c:pt>
                <c:pt idx="27">
                  <c:v>15.125359638306618</c:v>
                </c:pt>
                <c:pt idx="28">
                  <c:v>12.946979038224416</c:v>
                </c:pt>
                <c:pt idx="29">
                  <c:v>11.056309083436087</c:v>
                </c:pt>
                <c:pt idx="30">
                  <c:v>9.946568023016852</c:v>
                </c:pt>
                <c:pt idx="31">
                  <c:v>8.96013152486642</c:v>
                </c:pt>
                <c:pt idx="32">
                  <c:v>7.603781339909577</c:v>
                </c:pt>
                <c:pt idx="33">
                  <c:v>6.987258528565557</c:v>
                </c:pt>
                <c:pt idx="34">
                  <c:v>6.12412659268393</c:v>
                </c:pt>
                <c:pt idx="35">
                  <c:v>5.260994656802302</c:v>
                </c:pt>
                <c:pt idx="36">
                  <c:v>4.521167283189477</c:v>
                </c:pt>
                <c:pt idx="37">
                  <c:v>4.069050554870531</c:v>
                </c:pt>
                <c:pt idx="38">
                  <c:v>3.3292231812577064</c:v>
                </c:pt>
                <c:pt idx="39">
                  <c:v>2.424989724619811</c:v>
                </c:pt>
                <c:pt idx="40">
                  <c:v>2.013974517057131</c:v>
                </c:pt>
                <c:pt idx="41">
                  <c:v>1.3152486642005754</c:v>
                </c:pt>
                <c:pt idx="42">
                  <c:v>1.0686395396629675</c:v>
                </c:pt>
                <c:pt idx="43">
                  <c:v>0.6576243321002877</c:v>
                </c:pt>
                <c:pt idx="44">
                  <c:v>0.6576243321002877</c:v>
                </c:pt>
                <c:pt idx="45">
                  <c:v>0.5754212905877518</c:v>
                </c:pt>
                <c:pt idx="46">
                  <c:v>0.4932182490752158</c:v>
                </c:pt>
                <c:pt idx="47">
                  <c:v>0.36991368680641185</c:v>
                </c:pt>
                <c:pt idx="48">
                  <c:v>0.2</c:v>
                </c:pt>
                <c:pt idx="49">
                  <c:v>0.2</c:v>
                </c:pt>
                <c:pt idx="50">
                  <c:v>0.2</c:v>
                </c:pt>
              </c:numCache>
            </c:numRef>
          </c:xVal>
          <c:yVal>
            <c:numRef>
              <c:f>Sheet1!$B$55:$B$105</c:f>
              <c:numCache>
                <c:formatCode>General</c:formatCode>
                <c:ptCount val="51"/>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0.12630249447426586</c:v>
                </c:pt>
                <c:pt idx="18">
                  <c:v>0.12630249447426586</c:v>
                </c:pt>
                <c:pt idx="19">
                  <c:v>0.12630249447426586</c:v>
                </c:pt>
                <c:pt idx="20">
                  <c:v>0.15787811809283234</c:v>
                </c:pt>
                <c:pt idx="21">
                  <c:v>0.15787811809283234</c:v>
                </c:pt>
                <c:pt idx="22">
                  <c:v>0.34733185980423115</c:v>
                </c:pt>
                <c:pt idx="23">
                  <c:v>0.5367856015156299</c:v>
                </c:pt>
                <c:pt idx="24">
                  <c:v>0.5999368487527629</c:v>
                </c:pt>
                <c:pt idx="25">
                  <c:v>0.884117461319861</c:v>
                </c:pt>
                <c:pt idx="26">
                  <c:v>1.1051468266498263</c:v>
                </c:pt>
                <c:pt idx="27">
                  <c:v>1.2946005683612252</c:v>
                </c:pt>
                <c:pt idx="28">
                  <c:v>1.4524786864540573</c:v>
                </c:pt>
                <c:pt idx="29">
                  <c:v>1.831386169876855</c:v>
                </c:pt>
                <c:pt idx="30">
                  <c:v>2.0524155352068205</c:v>
                </c:pt>
                <c:pt idx="31">
                  <c:v>2.5576255131038836</c:v>
                </c:pt>
                <c:pt idx="32">
                  <c:v>2.841806125670982</c:v>
                </c:pt>
                <c:pt idx="33">
                  <c:v>3.2838648563309127</c:v>
                </c:pt>
                <c:pt idx="34">
                  <c:v>3.9153773287022418</c:v>
                </c:pt>
                <c:pt idx="35">
                  <c:v>4.515314177455005</c:v>
                </c:pt>
                <c:pt idx="36">
                  <c:v>5.241553520682034</c:v>
                </c:pt>
                <c:pt idx="37">
                  <c:v>6.5677297126618255</c:v>
                </c:pt>
                <c:pt idx="38">
                  <c:v>7.32554467950742</c:v>
                </c:pt>
                <c:pt idx="39">
                  <c:v>8.083359646353015</c:v>
                </c:pt>
                <c:pt idx="40">
                  <c:v>9.03062835491001</c:v>
                </c:pt>
                <c:pt idx="41">
                  <c:v>10.167350805178401</c:v>
                </c:pt>
                <c:pt idx="42">
                  <c:v>11.935585727818124</c:v>
                </c:pt>
                <c:pt idx="43">
                  <c:v>13.514366908746448</c:v>
                </c:pt>
                <c:pt idx="44">
                  <c:v>15.345753078623304</c:v>
                </c:pt>
                <c:pt idx="45">
                  <c:v>17.303441742974424</c:v>
                </c:pt>
                <c:pt idx="46">
                  <c:v>18.945374171139882</c:v>
                </c:pt>
                <c:pt idx="47">
                  <c:v>21.218819071676663</c:v>
                </c:pt>
                <c:pt idx="48">
                  <c:v>23.49226397221345</c:v>
                </c:pt>
                <c:pt idx="49">
                  <c:v>25.892011367224505</c:v>
                </c:pt>
                <c:pt idx="50">
                  <c:v>27.723397537101356</c:v>
                </c:pt>
              </c:numCache>
            </c:numRef>
          </c:yVal>
          <c:smooth val="0"/>
        </c:ser>
        <c:ser>
          <c:idx val="2"/>
          <c:order val="2"/>
          <c:tx>
            <c:strRef>
              <c:f>Sheet1!$B$107</c:f>
              <c:strCache>
                <c:ptCount val="1"/>
                <c:pt idx="0">
                  <c:v>Target zone</c:v>
                </c:pt>
              </c:strCache>
            </c:strRef>
          </c:tx>
          <c:spPr>
            <a:ln w="22225">
              <a:solidFill>
                <a:srgbClr val="1E8E3E"/>
              </a:solidFill>
              <a:prstDash val="sysDash"/>
            </a:ln>
          </c:spPr>
          <c:marker>
            <c:symbol val="none"/>
          </c:marker>
          <c:dLbls>
            <c:dLbl>
              <c:idx val="3"/>
              <c:tx>
                <c:rich>
                  <a:bodyPr/>
                  <a:lstStyle/>
                  <a:p>
                    <a:r>
                      <a:rPr sz="1100" b="1">
                        <a:solidFill>
                          <a:srgbClr val="1E8E3E"/>
                        </a:solidFill>
                        <a:latin typeface="Calibri"/>
                      </a:rPr>
                      <a:t>Target zone</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Sheet1!$A$108:$A$112</c:f>
              <c:numCache>
                <c:formatCode>General</c:formatCode>
                <c:ptCount val="5"/>
                <c:pt idx="0">
                  <c:v>0.2</c:v>
                </c:pt>
                <c:pt idx="1">
                  <c:v>8</c:v>
                </c:pt>
                <c:pt idx="2">
                  <c:v>8</c:v>
                </c:pt>
                <c:pt idx="3">
                  <c:v>0.2</c:v>
                </c:pt>
                <c:pt idx="4">
                  <c:v>0.2</c:v>
                </c:pt>
              </c:numCache>
            </c:numRef>
          </c:xVal>
          <c:yVal>
            <c:numRef>
              <c:f>Sheet1!$B$108:$B$112</c:f>
              <c:numCache>
                <c:formatCode>General</c:formatCode>
                <c:ptCount val="5"/>
                <c:pt idx="0">
                  <c:v>0.1</c:v>
                </c:pt>
                <c:pt idx="1">
                  <c:v>0.1</c:v>
                </c:pt>
                <c:pt idx="2">
                  <c:v>3</c:v>
                </c:pt>
                <c:pt idx="3">
                  <c:v>3</c:v>
                </c:pt>
                <c:pt idx="4">
                  <c:v>0.1</c:v>
                </c:pt>
              </c:numCache>
            </c:numRef>
          </c:yVal>
          <c:smooth val="0"/>
        </c:ser>
        <c:ser>
          <c:idx val="3"/>
          <c:order val="3"/>
          <c:tx>
            <c:strRef>
              <c:f>Sheet1!$B$114</c:f>
              <c:strCache>
                <c:ptCount val="1"/>
                <c:pt idx="0">
                  <c:v>Thresholds</c:v>
                </c:pt>
              </c:strCache>
            </c:strRef>
          </c:tx>
          <c:spPr>
            <a:ln>
              <a:noFill/>
            </a:ln>
          </c:spPr>
          <c:marker>
            <c:symbol val="circle"/>
            <c:size val="11"/>
            <c:spPr>
              <a:solidFill>
                <a:srgbClr val="2A78D6"/>
              </a:solidFill>
              <a:ln w="19050">
                <a:solidFill>
                  <a:srgbClr val="FFFFFF"/>
                </a:solidFill>
              </a:ln>
            </c:spPr>
          </c:marker>
          <c:dLbls>
            <c:dLbl>
              <c:idx val="0"/>
              <c:tx>
                <c:rich>
                  <a:bodyPr/>
                  <a:lstStyle/>
                  <a:p>
                    <a:r>
                      <a:rPr sz="1100" b="1">
                        <a:solidFill>
                          <a:srgbClr val="2A78D6"/>
                        </a:solidFill>
                        <a:latin typeface="Calibri"/>
                      </a:rPr>
                      <a:t>t = 0.45</a:t>
                    </a:r>
                  </a:p>
                </c:rich>
              </c:tx>
              <c:dLblPos val="r"/>
              <c:showLegendKey val="0"/>
              <c:showVal val="1"/>
              <c:showCatName val="0"/>
              <c:showSerName val="0"/>
              <c:showPercent val="0"/>
              <c:showBubbleSize val="0"/>
            </c:dLbl>
            <c:dLbl>
              <c:idx val="1"/>
              <c:tx>
                <c:rich>
                  <a:bodyPr/>
                  <a:lstStyle/>
                  <a:p>
                    <a:r>
                      <a:rPr sz="1100" b="1">
                        <a:solidFill>
                          <a:srgbClr val="2A78D6"/>
                        </a:solidFill>
                        <a:latin typeface="Calibri"/>
                      </a:rPr>
                      <a:t>t = 0.55</a:t>
                    </a:r>
                  </a:p>
                </c:rich>
              </c:tx>
              <c:dLblPos val="r"/>
              <c:showLegendKey val="0"/>
              <c:showVal val="1"/>
              <c:showCatName val="0"/>
              <c:showSerName val="0"/>
              <c:showPercent val="0"/>
              <c:showBubbleSize val="0"/>
            </c:dLbl>
            <c:dLbl>
              <c:idx val="2"/>
              <c:tx>
                <c:rich>
                  <a:bodyPr/>
                  <a:lstStyle/>
                  <a:p>
                    <a:r>
                      <a:rPr sz="1100" b="1">
                        <a:solidFill>
                          <a:srgbClr val="2A78D6"/>
                        </a:solidFill>
                        <a:latin typeface="Calibri"/>
                      </a:rPr>
                      <a:t>t = 0.65</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Sheet1!$A$115:$A$117</c:f>
              <c:numCache>
                <c:formatCode>General</c:formatCode>
                <c:ptCount val="3"/>
                <c:pt idx="0">
                  <c:v>34.07316070694616</c:v>
                </c:pt>
                <c:pt idx="1">
                  <c:v>15.741882449650637</c:v>
                </c:pt>
                <c:pt idx="2">
                  <c:v>3.6991368680641186</c:v>
                </c:pt>
              </c:numCache>
            </c:numRef>
          </c:xVal>
          <c:yVal>
            <c:numRef>
              <c:f>Sheet1!$B$115:$B$117</c:f>
              <c:numCache>
                <c:formatCode>General</c:formatCode>
                <c:ptCount val="3"/>
                <c:pt idx="0">
                  <c:v>0.9156930849384275</c:v>
                </c:pt>
                <c:pt idx="1">
                  <c:v>5.494158509630565</c:v>
                </c:pt>
                <c:pt idx="2">
                  <c:v>17.871802968108618</c:v>
                </c:pt>
              </c:numCache>
            </c:numRef>
          </c:yVal>
          <c:smooth val="0"/>
        </c:ser>
        <c:ser>
          <c:idx val="4"/>
          <c:order val="4"/>
          <c:tx>
            <c:strRef>
              <c:f>Sheet1!$B$119</c:f>
              <c:strCache>
                <c:ptCount val="1"/>
                <c:pt idx="0">
                  <c:v>Threshold excl. boundary</c:v>
                </c:pt>
              </c:strCache>
            </c:strRef>
          </c:tx>
          <c:spPr>
            <a:ln>
              <a:noFill/>
            </a:ln>
          </c:spPr>
          <c:marker>
            <c:symbol val="circle"/>
            <c:size val="11"/>
            <c:spPr>
              <a:solidFill>
                <a:srgbClr val="0E7C7B"/>
              </a:solidFill>
              <a:ln w="19050">
                <a:solidFill>
                  <a:srgbClr val="FFFFFF"/>
                </a:solidFill>
              </a:ln>
            </c:spPr>
          </c:marker>
          <c:dLbls>
            <c:dLbl>
              <c:idx val="0"/>
              <c:tx>
                <c:rich>
                  <a:bodyPr/>
                  <a:lstStyle/>
                  <a:p>
                    <a:r>
                      <a:rPr sz="1100" b="1">
                        <a:solidFill>
                          <a:srgbClr val="0A5C5B"/>
                        </a:solidFill>
                        <a:latin typeface="Calibri"/>
                      </a:rPr>
                      <a:t>t = 0.57</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Sheet1!$A$120:$A$120</c:f>
              <c:numCache>
                <c:formatCode>General</c:formatCode>
                <c:ptCount val="1"/>
                <c:pt idx="0">
                  <c:v>7.603781339909577</c:v>
                </c:pt>
              </c:numCache>
            </c:numRef>
          </c:xVal>
          <c:yVal>
            <c:numRef>
              <c:f>Sheet1!$B$120:$B$120</c:f>
              <c:numCache>
                <c:formatCode>General</c:formatCode>
                <c:ptCount val="1"/>
                <c:pt idx="0">
                  <c:v>2.841806125670982</c:v>
                </c:pt>
              </c:numCache>
            </c:numRef>
          </c:yVal>
          <c:smooth val="0"/>
        </c:ser>
        <c:axId val="-2128940872"/>
        <c:axId val="-2129643912"/>
      </c:scatterChart>
      <c:valAx>
        <c:axId val="-2128940872"/>
        <c:scaling>
          <c:logBase val="10"/>
          <c:orientation val="minMax"/>
          <c:max val="100.0"/>
          <c:min val="0.2"/>
        </c:scaling>
        <c:delete val="0"/>
        <c:axPos val="b"/>
        <c:majorGridlines>
          <c:spPr>
            <a:ln w="9525">
              <a:solidFill>
                <a:srgbClr val="E8EBEF"/>
              </a:solidFill>
            </a:ln>
          </c:spPr>
        </c:majorGridlines>
        <c:title>
          <c:tx>
            <c:rich>
              <a:bodyPr/>
              <a:lstStyle/>
              <a:p>
                <a:r>
                  <a:rPr sz="1100" b="0">
                    <a:solidFill>
                      <a:srgbClr val="5B6472"/>
                    </a:solidFill>
                    <a:latin typeface="Calibri"/>
                  </a:rPr>
                  <a:t>FA rate (%, log scale)</a:t>
                </a:r>
              </a:p>
            </c:rich>
          </c:tx>
          <c:layout/>
          <c:overlay val="0"/>
        </c:title>
        <c:numFmt formatCode="0.#" sourceLinked="0"/>
        <c:majorTickMark val="out"/>
        <c:minorTickMark val="none"/>
        <c:tickLblPos val="nextTo"/>
        <c:spPr>
          <a:ln>
            <a:solidFill>
              <a:srgbClr val="DDE2E8"/>
            </a:solidFill>
          </a:ln>
        </c:spPr>
        <c:txPr>
          <a:bodyPr/>
          <a:lstStyle/>
          <a:p>
            <a:pPr>
              <a:defRPr sz="1100">
                <a:solidFill>
                  <a:srgbClr val="5B6472"/>
                </a:solidFill>
                <a:latin typeface="Calibri"/>
              </a:defRPr>
            </a:pPr>
          </a:p>
        </c:txPr>
        <c:crossAx val="-2129643912"/>
        <c:crosses val="autoZero"/>
        <c:crossBetween val="midCat"/>
      </c:valAx>
      <c:valAx>
        <c:axId val="-2129643912"/>
        <c:scaling>
          <c:logBase val="10"/>
          <c:orientation val="minMax"/>
          <c:max val="50.0"/>
          <c:min val="0.1"/>
        </c:scaling>
        <c:delete val="0"/>
        <c:axPos val="l"/>
        <c:majorGridlines>
          <c:spPr>
            <a:ln w="9525">
              <a:solidFill>
                <a:srgbClr val="E8EBEF"/>
              </a:solidFill>
            </a:ln>
          </c:spPr>
        </c:majorGridlines>
        <c:title>
          <c:tx>
            <c:rich>
              <a:bodyPr/>
              <a:lstStyle/>
              <a:p>
                <a:r>
                  <a:rPr sz="1100" b="0">
                    <a:solidFill>
                      <a:srgbClr val="5B6472"/>
                    </a:solidFill>
                    <a:latin typeface="Calibri"/>
                  </a:rPr>
                  <a:t>Miss rate (%, log scale)</a:t>
                </a:r>
              </a:p>
            </c:rich>
          </c:tx>
          <c:layout/>
          <c:overlay val="0"/>
        </c:title>
        <c:numFmt formatCode="0.#" sourceLinked="0"/>
        <c:majorTickMark val="out"/>
        <c:minorTickMark val="none"/>
        <c:tickLblPos val="nextTo"/>
        <c:spPr>
          <a:ln>
            <a:solidFill>
              <a:srgbClr val="DDE2E8"/>
            </a:solidFill>
          </a:ln>
        </c:spPr>
        <c:txPr>
          <a:bodyPr/>
          <a:lstStyle/>
          <a:p>
            <a:pPr>
              <a:defRPr sz="1100">
                <a:solidFill>
                  <a:srgbClr val="5B6472"/>
                </a:solidFill>
                <a:latin typeface="Calibri"/>
              </a:defRPr>
            </a:pPr>
          </a:p>
        </c:txPr>
        <c:crossAx val="-2128940872"/>
        <c:crosses val="autoZero"/>
        <c:crossBetween val="midCat"/>
      </c:valAx>
    </c:plotArea>
    <c:plotVisOnly val="1"/>
    <c:dispBlanksAs val="gap"/>
    <c:showDLblsOverMax val="0"/>
  </c:chart>
  <c:txPr>
    <a:bodyPr/>
    <a:lstStyle/>
    <a:p>
      <a:pPr>
        <a:defRPr sz="18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6"/>
          <c:y val="0.03"/>
          <c:w val="0.52"/>
          <c:h val="0.94"/>
        </c:manualLayout>
      </c:layout>
      <c:barChart>
        <c:barDir val="bar"/>
        <c:grouping val="clustered"/>
        <c:ser>
          <c:idx val="0"/>
          <c:order val="0"/>
          <c:tx>
            <c:strRef>
              <c:f>Sheet1!$B$1</c:f>
              <c:strCache>
                <c:ptCount val="1"/>
                <c:pt idx="0">
                  <c:v>Error rate</c:v>
                </c:pt>
              </c:strCache>
            </c:strRef>
          </c:tx>
          <c:dPt>
            <c:idx val="0"/>
            <c:spPr>
              <a:solidFill>
                <a:srgbClr val="A0A8B4"/>
              </a:solidFill>
            </c:spPr>
          </c:dPt>
          <c:dPt>
            <c:idx val="1"/>
            <c:spPr>
              <a:solidFill>
                <a:srgbClr val="A0A8B4"/>
              </a:solidFill>
            </c:spPr>
          </c:dPt>
          <c:dPt>
            <c:idx val="2"/>
            <c:spPr>
              <a:solidFill>
                <a:srgbClr val="A0A8B4"/>
              </a:solidFill>
            </c:spPr>
          </c:dPt>
          <c:dPt>
            <c:idx val="3"/>
            <c:spPr>
              <a:solidFill>
                <a:srgbClr val="A0A8B4"/>
              </a:solidFill>
            </c:spPr>
          </c:dPt>
          <c:dPt>
            <c:idx val="4"/>
            <c:spPr>
              <a:solidFill>
                <a:srgbClr val="D03B3B"/>
              </a:solidFill>
            </c:spPr>
          </c:dPt>
          <c:dPt>
            <c:idx val="5"/>
            <c:spPr>
              <a:solidFill>
                <a:srgbClr val="A0A8B4"/>
              </a:solidFill>
            </c:spPr>
          </c:dPt>
          <c:dPt>
            <c:idx val="6"/>
            <c:spPr>
              <a:solidFill>
                <a:srgbClr val="C98A00"/>
              </a:solidFill>
            </c:spPr>
          </c:dPt>
          <c:dPt>
            <c:idx val="7"/>
            <c:spPr>
              <a:solidFill>
                <a:srgbClr val="C98A00"/>
              </a:solidFill>
            </c:spPr>
          </c:dPt>
          <c:dPt>
            <c:idx val="8"/>
            <c:spPr>
              <a:solidFill>
                <a:srgbClr val="C98A00"/>
              </a:solidFill>
            </c:spPr>
          </c:dPt>
          <c:cat>
            <c:strRef>
              <c:f>Sheet1!$A$2:$A$10</c:f>
              <c:strCache>
                <c:ptCount val="9"/>
                <c:pt idx="0">
                  <c:v>Miss · Clean speech</c:v>
                </c:pt>
                <c:pt idx="1">
                  <c:v>Miss · Conversation</c:v>
                </c:pt>
                <c:pt idx="2">
                  <c:v>Miss · Singing with music</c:v>
                </c:pt>
                <c:pt idx="3">
                  <c:v>Miss · Speech in a crowd</c:v>
                </c:pt>
                <c:pt idx="4">
                  <c:v>Miss · Speech over music</c:v>
                </c:pt>
                <c:pt idx="5">
                  <c:v>FA · Music intro</c:v>
                </c:pt>
                <c:pt idx="6">
                  <c:v>FA · Voice-like instrument</c:v>
                </c:pt>
                <c:pt idx="7">
                  <c:v>FA · Laughs, coughs, crying</c:v>
                </c:pt>
                <c:pt idx="8">
                  <c:v>FA · Crowd murmur</c:v>
                </c:pt>
              </c:strCache>
            </c:strRef>
          </c:cat>
          <c:val>
            <c:numRef>
              <c:f>Sheet1!$B$2:$B$10</c:f>
              <c:numCache>
                <c:formatCode>General</c:formatCode>
                <c:ptCount val="9"/>
                <c:pt idx="0">
                  <c:v>0</c:v>
                </c:pt>
                <c:pt idx="1">
                  <c:v>0</c:v>
                </c:pt>
                <c:pt idx="2">
                  <c:v>0.0022172949002217295</c:v>
                </c:pt>
                <c:pt idx="3">
                  <c:v>0.03553299492385787</c:v>
                </c:pt>
                <c:pt idx="4">
                  <c:v>0.18427518427518427</c:v>
                </c:pt>
                <c:pt idx="5">
                  <c:v>0.005649717514124294</c:v>
                </c:pt>
                <c:pt idx="6">
                  <c:v>0.16783216783216784</c:v>
                </c:pt>
                <c:pt idx="7">
                  <c:v>0.3402061855670103</c:v>
                </c:pt>
                <c:pt idx="8">
                  <c:v>0.34347826086956523</c:v>
                </c:pt>
              </c:numCache>
            </c:numRef>
          </c:val>
        </c:ser>
        <c:dLbls>
          <c:numFmt formatCode="0.0%" sourceLinked="0"/>
          <c:txPr>
            <a:bodyPr/>
            <a:lstStyle/>
            <a:p>
              <a:pPr>
                <a:defRPr sz="1200" b="1">
                  <a:solidFill>
                    <a:srgbClr val="16202E"/>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DE2E8"/>
            </a:solidFill>
          </a:ln>
        </c:spPr>
        <c:txPr>
          <a:bodyPr/>
          <a:lstStyle/>
          <a:p>
            <a:pPr>
              <a:defRPr sz="1200">
                <a:solidFill>
                  <a:srgbClr val="16202E"/>
                </a:solidFill>
                <a:latin typeface="Calibri"/>
              </a:defRPr>
            </a:pPr>
          </a:p>
        </c:txPr>
        <c:crossAx val="-2113994440"/>
        <c:crosses val="autoZero"/>
        <c:auto val="1"/>
        <c:lblAlgn val="ctr"/>
        <c:lblOffset val="100"/>
        <c:noMultiLvlLbl val="0"/>
      </c:catAx>
      <c:valAx>
        <c:axId val="-2113994440"/>
        <c:scaling>
          <c:max val="0.45"/>
          <c:min val="0.0"/>
        </c:scaling>
        <c:delete val="0"/>
        <c:axPos val="b"/>
        <c:majorTickMark val="out"/>
        <c:minorTickMark val="none"/>
        <c:tickLblPos val="none"/>
        <c:spPr>
          <a:ln>
            <a:noFill/>
          </a:ln>
        </c:spPr>
        <c:crossAx val="-2068027336"/>
        <c:crosses val="autoZero"/>
      </c:valAx>
    </c:plotArea>
    <c:dispBlanksAs val="gap"/>
  </c:chart>
  <c:txPr>
    <a:bodyPr/>
    <a:lstStyle/>
    <a:p>
      <a:pPr>
        <a:defRPr sz="18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problem and context, evaluation and success criteria, building the data, experiments, and the optimization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pipeline processes whole files offline; real inputs are around 10 s. The existing AUC was measured on designed data, so it says nothing yet about real data. The question about how the output is used must be answered before fixing the Miss/FA thresholds.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labeling decision follows from one rule: a prominent, followable human voice. Humming has no words but is still one followable voice. Crowd murmur contains human voices, but none can be followed. Boundaries: start at the first audible sound, end at the last; breaths before a phrase are excluded.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left are the small dedicated VAD models. YAMNet sits far to the right: each embedding sees 0.96 s of audio. The 0.08 s hop in our pipeline makes the time grid denser, but each decision still spans almost a second.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singing counts as speech, the talking-versus-singing problem disappears. The hard boundary moves to two sides: real voices masked by music or crowds (easy to miss) and voice-like sounds that are not speech by our definition (easy to false-alarm). Each group needs its own slice in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 1 is for choosing models. Tier 2 is the number users actually experience. Tier 3 catches boundary errors caused by the 0.96 s window. Tier 4 stops the average from hiding a type of audio that is failing.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step: sample about 200 real files at random and tag them on both axes to estimate the real proportions. Then add samples to important cells that are still thin, real data before mixed data, until each slice has a tight enough CI.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Ceiling: if consensus and label2 agree only 95% of the time, a 99% target is meaningless because the model is graded against noisy labels. The worst slice is measured with Miss on positive slices (speech over music, singing, speech in a crowd) and FA on negative slices (crowd murmur, instruments, laughs/coughs).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MUSDB18 ships separate vocal and accompaniment stems: the vocal stem gives near-automatic frame-level speech labels, and the accompaniment stem is a very hard "same song" negative. The vocal/accompaniment ratio threshold for labeling as speech should be calibrated with a listening test by 2–3 people.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order is not the run order: E0 and E1 first, then E2 and E4, finally E3, E5, E6. Each experiment writes down its hypothesis before running, to avoid explaining results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Counting all errors, no threshold enters the green box. Dropping wrong frames within ±200 ms of a boundary, threshold 0.57 enters the target zone overall. Slide 13 shows that at this same threshold, four slices still fail.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file, colored two ways. The crowd-murmur parts (light orange in the GT row) predicted as speech are real misclassifications and remain after separating boundaries. Only the gray part comes from the long window and the 0.5 s labels.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scorecard needs a worst-slice criterion: overall numbers at 0.57 pass, yet crowd murmur and laughs/coughs are flagged about a third of the time, and speech over music is missed almost a fifth of the time. Singing is no longer a problem once it counts as speech.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is merged only if it passes the gate. This prevents optimizing the overall number while breaking one type of audio, and keeps on-device performance from drifting over many iterations.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1 matters most: if old labels do not follow the new definition (singing, crowd, laughs/coughs), every number after that is skewed.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 name="TextBox 2"/>
          <p:cNvSpPr txBox="1"/>
          <p:nvPr/>
        </p:nvSpPr>
        <p:spPr>
          <a:xfrm>
            <a:off x="731520" y="1005840"/>
            <a:ext cx="10515600" cy="365760"/>
          </a:xfrm>
          <a:prstGeom prst="rect">
            <a:avLst/>
          </a:prstGeom>
          <a:noFill/>
        </p:spPr>
        <p:txBody>
          <a:bodyPr wrap="square" lIns="0" rIns="0" tIns="0" bIns="0" anchor="t">
            <a:spAutoFit/>
          </a:bodyPr>
          <a:lstStyle/>
          <a:p>
            <a:pPr algn="l">
              <a:spcAft>
                <a:spcPts val="0"/>
              </a:spcAft>
            </a:pPr>
            <a:r>
              <a:rPr sz="1400" b="1" i="0">
                <a:solidFill>
                  <a:srgbClr val="8FD3D1"/>
                </a:solidFill>
                <a:latin typeface="Calibri"/>
              </a:rPr>
              <a:t>VAD project · YAMNet transfer learning</a:t>
            </a:r>
          </a:p>
        </p:txBody>
      </p:sp>
      <p:sp>
        <p:nvSpPr>
          <p:cNvPr id="4" name="TextBox 3"/>
          <p:cNvSpPr txBox="1"/>
          <p:nvPr/>
        </p:nvSpPr>
        <p:spPr>
          <a:xfrm>
            <a:off x="731520" y="1417320"/>
            <a:ext cx="10515600" cy="1463040"/>
          </a:xfrm>
          <a:prstGeom prst="rect">
            <a:avLst/>
          </a:prstGeom>
          <a:noFill/>
        </p:spPr>
        <p:txBody>
          <a:bodyPr wrap="square" lIns="0" rIns="0" tIns="0" bIns="0" anchor="t">
            <a:spAutoFit/>
          </a:bodyPr>
          <a:lstStyle/>
          <a:p>
            <a:pPr algn="l">
              <a:spcAft>
                <a:spcPts val="0"/>
              </a:spcAft>
            </a:pPr>
            <a:r>
              <a:rPr sz="4600" b="1" i="0">
                <a:solidFill>
                  <a:srgbClr val="FFFFFF"/>
                </a:solidFill>
                <a:latin typeface="Cambria"/>
              </a:rPr>
              <a:t>Voice Activity Detection (VAD)</a:t>
            </a:r>
          </a:p>
        </p:txBody>
      </p:sp>
      <p:sp>
        <p:nvSpPr>
          <p:cNvPr id="5" name="TextBox 4"/>
          <p:cNvSpPr txBox="1"/>
          <p:nvPr/>
        </p:nvSpPr>
        <p:spPr>
          <a:xfrm>
            <a:off x="731520" y="2286000"/>
            <a:ext cx="10058400" cy="914400"/>
          </a:xfrm>
          <a:prstGeom prst="rect">
            <a:avLst/>
          </a:prstGeom>
          <a:noFill/>
        </p:spPr>
        <p:txBody>
          <a:bodyPr wrap="square" lIns="0" rIns="0" tIns="0" bIns="0" anchor="t">
            <a:spAutoFit/>
          </a:bodyPr>
          <a:lstStyle/>
          <a:p>
            <a:pPr algn="l">
              <a:spcAft>
                <a:spcPts val="0"/>
              </a:spcAft>
            </a:pPr>
            <a:r>
              <a:rPr sz="2000" b="0" i="0">
                <a:solidFill>
                  <a:srgbClr val="C9D3E0"/>
                </a:solidFill>
                <a:latin typeface="Calibri"/>
              </a:rPr>
              <a:t>Problem, evaluation, data, experiments and optimization plan for on-device VAD</a:t>
            </a:r>
          </a:p>
        </p:txBody>
      </p:sp>
      <p:sp>
        <p:nvSpPr>
          <p:cNvPr id="6" name="Rounded Rectangle 5"/>
          <p:cNvSpPr/>
          <p:nvPr/>
        </p:nvSpPr>
        <p:spPr>
          <a:xfrm>
            <a:off x="731520" y="4817750"/>
            <a:ext cx="109728" cy="148579"/>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Rounded Rectangle 6"/>
          <p:cNvSpPr/>
          <p:nvPr/>
        </p:nvSpPr>
        <p:spPr>
          <a:xfrm>
            <a:off x="896112" y="4828685"/>
            <a:ext cx="109728" cy="126708"/>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8" name="Rounded Rectangle 7"/>
          <p:cNvSpPr/>
          <p:nvPr/>
        </p:nvSpPr>
        <p:spPr>
          <a:xfrm>
            <a:off x="1060704" y="4804581"/>
            <a:ext cx="109728" cy="174916"/>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Rounded Rectangle 8"/>
          <p:cNvSpPr/>
          <p:nvPr/>
        </p:nvSpPr>
        <p:spPr>
          <a:xfrm>
            <a:off x="1225295" y="4824422"/>
            <a:ext cx="109728" cy="135235"/>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Rounded Rectangle 9"/>
          <p:cNvSpPr/>
          <p:nvPr/>
        </p:nvSpPr>
        <p:spPr>
          <a:xfrm>
            <a:off x="1389887" y="4831702"/>
            <a:ext cx="109728" cy="120675"/>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 name="Rounded Rectangle 10"/>
          <p:cNvSpPr/>
          <p:nvPr/>
        </p:nvSpPr>
        <p:spPr>
          <a:xfrm>
            <a:off x="1554479" y="4804126"/>
            <a:ext cx="109728" cy="175826"/>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 name="Rounded Rectangle 11"/>
          <p:cNvSpPr/>
          <p:nvPr/>
        </p:nvSpPr>
        <p:spPr>
          <a:xfrm>
            <a:off x="1719071" y="4761631"/>
            <a:ext cx="109728" cy="260816"/>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Rounded Rectangle 12"/>
          <p:cNvSpPr/>
          <p:nvPr/>
        </p:nvSpPr>
        <p:spPr>
          <a:xfrm>
            <a:off x="1883663" y="4771301"/>
            <a:ext cx="109728" cy="241476"/>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Rounded Rectangle 13"/>
          <p:cNvSpPr/>
          <p:nvPr/>
        </p:nvSpPr>
        <p:spPr>
          <a:xfrm>
            <a:off x="2048255" y="4360166"/>
            <a:ext cx="109728" cy="1063747"/>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 name="Rounded Rectangle 14"/>
          <p:cNvSpPr/>
          <p:nvPr/>
        </p:nvSpPr>
        <p:spPr>
          <a:xfrm>
            <a:off x="2212848" y="4193956"/>
            <a:ext cx="109728" cy="1396166"/>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Rounded Rectangle 15"/>
          <p:cNvSpPr/>
          <p:nvPr/>
        </p:nvSpPr>
        <p:spPr>
          <a:xfrm>
            <a:off x="2377440" y="4276620"/>
            <a:ext cx="109728" cy="1230838"/>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7" name="Rounded Rectangle 16"/>
          <p:cNvSpPr/>
          <p:nvPr/>
        </p:nvSpPr>
        <p:spPr>
          <a:xfrm>
            <a:off x="2542032" y="4549170"/>
            <a:ext cx="109728" cy="685739"/>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Rounded Rectangle 17"/>
          <p:cNvSpPr/>
          <p:nvPr/>
        </p:nvSpPr>
        <p:spPr>
          <a:xfrm>
            <a:off x="2706624" y="4061151"/>
            <a:ext cx="109728" cy="1661777"/>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9" name="Rounded Rectangle 18"/>
          <p:cNvSpPr/>
          <p:nvPr/>
        </p:nvSpPr>
        <p:spPr>
          <a:xfrm>
            <a:off x="2871216" y="4296883"/>
            <a:ext cx="109728" cy="1190312"/>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Rounded Rectangle 19"/>
          <p:cNvSpPr/>
          <p:nvPr/>
        </p:nvSpPr>
        <p:spPr>
          <a:xfrm>
            <a:off x="3035808" y="4371563"/>
            <a:ext cx="109728" cy="1040953"/>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Rounded Rectangle 20"/>
          <p:cNvSpPr/>
          <p:nvPr/>
        </p:nvSpPr>
        <p:spPr>
          <a:xfrm>
            <a:off x="3200400" y="4240169"/>
            <a:ext cx="109728" cy="1303741"/>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Rounded Rectangle 21"/>
          <p:cNvSpPr/>
          <p:nvPr/>
        </p:nvSpPr>
        <p:spPr>
          <a:xfrm>
            <a:off x="3364992" y="4256687"/>
            <a:ext cx="109728" cy="1270705"/>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3" name="Rounded Rectangle 22"/>
          <p:cNvSpPr/>
          <p:nvPr/>
        </p:nvSpPr>
        <p:spPr>
          <a:xfrm>
            <a:off x="3529584" y="4290662"/>
            <a:ext cx="109728" cy="1202754"/>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Rounded Rectangle 23"/>
          <p:cNvSpPr/>
          <p:nvPr/>
        </p:nvSpPr>
        <p:spPr>
          <a:xfrm>
            <a:off x="3694176" y="4669351"/>
            <a:ext cx="109728" cy="445376"/>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5" name="Rounded Rectangle 24"/>
          <p:cNvSpPr/>
          <p:nvPr/>
        </p:nvSpPr>
        <p:spPr>
          <a:xfrm>
            <a:off x="3858768" y="4331198"/>
            <a:ext cx="109728" cy="1121682"/>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Rounded Rectangle 25"/>
          <p:cNvSpPr/>
          <p:nvPr/>
        </p:nvSpPr>
        <p:spPr>
          <a:xfrm>
            <a:off x="4023360" y="4197562"/>
            <a:ext cx="109728" cy="1388955"/>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7" name="Rounded Rectangle 26"/>
          <p:cNvSpPr/>
          <p:nvPr/>
        </p:nvSpPr>
        <p:spPr>
          <a:xfrm>
            <a:off x="4187952" y="4544091"/>
            <a:ext cx="109728" cy="695897"/>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Rounded Rectangle 27"/>
          <p:cNvSpPr/>
          <p:nvPr/>
        </p:nvSpPr>
        <p:spPr>
          <a:xfrm>
            <a:off x="4352544" y="4762379"/>
            <a:ext cx="109728" cy="259320"/>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9" name="Rounded Rectangle 28"/>
          <p:cNvSpPr/>
          <p:nvPr/>
        </p:nvSpPr>
        <p:spPr>
          <a:xfrm>
            <a:off x="4517136" y="4790072"/>
            <a:ext cx="109728" cy="203934"/>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0" name="Rounded Rectangle 29"/>
          <p:cNvSpPr/>
          <p:nvPr/>
        </p:nvSpPr>
        <p:spPr>
          <a:xfrm>
            <a:off x="4681727" y="4764564"/>
            <a:ext cx="109728" cy="254950"/>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1" name="Rounded Rectangle 30"/>
          <p:cNvSpPr/>
          <p:nvPr/>
        </p:nvSpPr>
        <p:spPr>
          <a:xfrm>
            <a:off x="4846319" y="4767385"/>
            <a:ext cx="109728" cy="249309"/>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2" name="Rounded Rectangle 31"/>
          <p:cNvSpPr/>
          <p:nvPr/>
        </p:nvSpPr>
        <p:spPr>
          <a:xfrm>
            <a:off x="5010911" y="4795338"/>
            <a:ext cx="109728" cy="193402"/>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3" name="Rounded Rectangle 32"/>
          <p:cNvSpPr/>
          <p:nvPr/>
        </p:nvSpPr>
        <p:spPr>
          <a:xfrm>
            <a:off x="5175503" y="4462129"/>
            <a:ext cx="109728" cy="859820"/>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4" name="Rounded Rectangle 33"/>
          <p:cNvSpPr/>
          <p:nvPr/>
        </p:nvSpPr>
        <p:spPr>
          <a:xfrm>
            <a:off x="5340095" y="4236948"/>
            <a:ext cx="109728" cy="1310182"/>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5" name="Rounded Rectangle 34"/>
          <p:cNvSpPr/>
          <p:nvPr/>
        </p:nvSpPr>
        <p:spPr>
          <a:xfrm>
            <a:off x="5504687" y="4126794"/>
            <a:ext cx="109728" cy="1530490"/>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6" name="Rounded Rectangle 35"/>
          <p:cNvSpPr/>
          <p:nvPr/>
        </p:nvSpPr>
        <p:spPr>
          <a:xfrm>
            <a:off x="5669279" y="4533647"/>
            <a:ext cx="109728" cy="716785"/>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7" name="Rounded Rectangle 36"/>
          <p:cNvSpPr/>
          <p:nvPr/>
        </p:nvSpPr>
        <p:spPr>
          <a:xfrm>
            <a:off x="5833871" y="4248524"/>
            <a:ext cx="109728" cy="1287031"/>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8" name="Rounded Rectangle 37"/>
          <p:cNvSpPr/>
          <p:nvPr/>
        </p:nvSpPr>
        <p:spPr>
          <a:xfrm>
            <a:off x="5998463" y="4162046"/>
            <a:ext cx="109728" cy="1459986"/>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9" name="Rounded Rectangle 38"/>
          <p:cNvSpPr/>
          <p:nvPr/>
        </p:nvSpPr>
        <p:spPr>
          <a:xfrm>
            <a:off x="6163055" y="4333254"/>
            <a:ext cx="109728" cy="1117571"/>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0" name="Rounded Rectangle 39"/>
          <p:cNvSpPr/>
          <p:nvPr/>
        </p:nvSpPr>
        <p:spPr>
          <a:xfrm>
            <a:off x="6327647" y="4591178"/>
            <a:ext cx="109728" cy="601723"/>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1" name="Rounded Rectangle 40"/>
          <p:cNvSpPr/>
          <p:nvPr/>
        </p:nvSpPr>
        <p:spPr>
          <a:xfrm>
            <a:off x="6492239" y="4147605"/>
            <a:ext cx="109728" cy="1488868"/>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2" name="Rounded Rectangle 41"/>
          <p:cNvSpPr/>
          <p:nvPr/>
        </p:nvSpPr>
        <p:spPr>
          <a:xfrm>
            <a:off x="6656831" y="4238535"/>
            <a:ext cx="109728" cy="1307009"/>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3" name="Rounded Rectangle 42"/>
          <p:cNvSpPr/>
          <p:nvPr/>
        </p:nvSpPr>
        <p:spPr>
          <a:xfrm>
            <a:off x="6821423" y="4480559"/>
            <a:ext cx="109728" cy="822960"/>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4" name="Rounded Rectangle 43"/>
          <p:cNvSpPr/>
          <p:nvPr/>
        </p:nvSpPr>
        <p:spPr>
          <a:xfrm>
            <a:off x="6986015" y="4385687"/>
            <a:ext cx="109728" cy="1012705"/>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5" name="Rounded Rectangle 44"/>
          <p:cNvSpPr/>
          <p:nvPr/>
        </p:nvSpPr>
        <p:spPr>
          <a:xfrm>
            <a:off x="7150607" y="4258563"/>
            <a:ext cx="109728" cy="1266952"/>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6" name="Rounded Rectangle 45"/>
          <p:cNvSpPr/>
          <p:nvPr/>
        </p:nvSpPr>
        <p:spPr>
          <a:xfrm>
            <a:off x="7315199" y="4310223"/>
            <a:ext cx="109728" cy="1163633"/>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7" name="Rounded Rectangle 46"/>
          <p:cNvSpPr/>
          <p:nvPr/>
        </p:nvSpPr>
        <p:spPr>
          <a:xfrm>
            <a:off x="7479791" y="4454907"/>
            <a:ext cx="109728" cy="874265"/>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8" name="Rounded Rectangle 47"/>
          <p:cNvSpPr/>
          <p:nvPr/>
        </p:nvSpPr>
        <p:spPr>
          <a:xfrm>
            <a:off x="7644383" y="4452431"/>
            <a:ext cx="109728" cy="879217"/>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9" name="Rounded Rectangle 48"/>
          <p:cNvSpPr/>
          <p:nvPr/>
        </p:nvSpPr>
        <p:spPr>
          <a:xfrm>
            <a:off x="7808975" y="4306905"/>
            <a:ext cx="109728" cy="1170269"/>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0" name="Rounded Rectangle 49"/>
          <p:cNvSpPr/>
          <p:nvPr/>
        </p:nvSpPr>
        <p:spPr>
          <a:xfrm>
            <a:off x="7973567" y="4259912"/>
            <a:ext cx="109728" cy="1264255"/>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1" name="Rounded Rectangle 50"/>
          <p:cNvSpPr/>
          <p:nvPr/>
        </p:nvSpPr>
        <p:spPr>
          <a:xfrm>
            <a:off x="8138159" y="4389463"/>
            <a:ext cx="109728" cy="1005153"/>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2" name="Rounded Rectangle 51"/>
          <p:cNvSpPr/>
          <p:nvPr/>
        </p:nvSpPr>
        <p:spPr>
          <a:xfrm>
            <a:off x="8302751" y="4775705"/>
            <a:ext cx="109728" cy="232668"/>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3" name="Rounded Rectangle 52"/>
          <p:cNvSpPr/>
          <p:nvPr/>
        </p:nvSpPr>
        <p:spPr>
          <a:xfrm>
            <a:off x="8467343" y="4810786"/>
            <a:ext cx="109728" cy="162507"/>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4" name="Rounded Rectangle 53"/>
          <p:cNvSpPr/>
          <p:nvPr/>
        </p:nvSpPr>
        <p:spPr>
          <a:xfrm>
            <a:off x="8631935" y="4791211"/>
            <a:ext cx="109728" cy="201657"/>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5" name="Rounded Rectangle 54"/>
          <p:cNvSpPr/>
          <p:nvPr/>
        </p:nvSpPr>
        <p:spPr>
          <a:xfrm>
            <a:off x="8796527" y="4762754"/>
            <a:ext cx="109728" cy="258571"/>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6" name="Rounded Rectangle 55"/>
          <p:cNvSpPr/>
          <p:nvPr/>
        </p:nvSpPr>
        <p:spPr>
          <a:xfrm>
            <a:off x="8961119" y="4663096"/>
            <a:ext cx="109728" cy="457886"/>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7" name="Rounded Rectangle 56"/>
          <p:cNvSpPr/>
          <p:nvPr/>
        </p:nvSpPr>
        <p:spPr>
          <a:xfrm>
            <a:off x="9125711" y="4110031"/>
            <a:ext cx="109728" cy="1564016"/>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8" name="Rounded Rectangle 57"/>
          <p:cNvSpPr/>
          <p:nvPr/>
        </p:nvSpPr>
        <p:spPr>
          <a:xfrm>
            <a:off x="9290303" y="4371592"/>
            <a:ext cx="109728" cy="1040895"/>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9" name="Rounded Rectangle 58"/>
          <p:cNvSpPr/>
          <p:nvPr/>
        </p:nvSpPr>
        <p:spPr>
          <a:xfrm>
            <a:off x="9454895" y="4655017"/>
            <a:ext cx="109728" cy="474044"/>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0" name="Rounded Rectangle 59"/>
          <p:cNvSpPr/>
          <p:nvPr/>
        </p:nvSpPr>
        <p:spPr>
          <a:xfrm>
            <a:off x="9619487" y="4350699"/>
            <a:ext cx="109728" cy="1082680"/>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1" name="Rounded Rectangle 60"/>
          <p:cNvSpPr/>
          <p:nvPr/>
        </p:nvSpPr>
        <p:spPr>
          <a:xfrm>
            <a:off x="9784079" y="4088911"/>
            <a:ext cx="109728" cy="1606257"/>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2" name="Rounded Rectangle 61"/>
          <p:cNvSpPr/>
          <p:nvPr/>
        </p:nvSpPr>
        <p:spPr>
          <a:xfrm>
            <a:off x="9948671" y="4662408"/>
            <a:ext cx="109728" cy="459262"/>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3" name="Rounded Rectangle 62"/>
          <p:cNvSpPr/>
          <p:nvPr/>
        </p:nvSpPr>
        <p:spPr>
          <a:xfrm>
            <a:off x="10113263" y="4341047"/>
            <a:ext cx="109728" cy="1101984"/>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4" name="Rounded Rectangle 63"/>
          <p:cNvSpPr/>
          <p:nvPr/>
        </p:nvSpPr>
        <p:spPr>
          <a:xfrm>
            <a:off x="10277855" y="4035117"/>
            <a:ext cx="109728" cy="1713845"/>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5" name="Rounded Rectangle 64"/>
          <p:cNvSpPr/>
          <p:nvPr/>
        </p:nvSpPr>
        <p:spPr>
          <a:xfrm>
            <a:off x="10442447" y="4417194"/>
            <a:ext cx="109728" cy="949691"/>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6" name="Rounded Rectangle 65"/>
          <p:cNvSpPr/>
          <p:nvPr/>
        </p:nvSpPr>
        <p:spPr>
          <a:xfrm>
            <a:off x="10607039" y="4401648"/>
            <a:ext cx="109728" cy="980783"/>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7" name="Rounded Rectangle 66"/>
          <p:cNvSpPr/>
          <p:nvPr/>
        </p:nvSpPr>
        <p:spPr>
          <a:xfrm>
            <a:off x="10771631" y="4204490"/>
            <a:ext cx="109728" cy="1375098"/>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8" name="Rounded Rectangle 67"/>
          <p:cNvSpPr/>
          <p:nvPr/>
        </p:nvSpPr>
        <p:spPr>
          <a:xfrm>
            <a:off x="10936223" y="4821423"/>
            <a:ext cx="109728" cy="141233"/>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9" name="Rounded Rectangle 68"/>
          <p:cNvSpPr/>
          <p:nvPr/>
        </p:nvSpPr>
        <p:spPr>
          <a:xfrm>
            <a:off x="11100815" y="4800624"/>
            <a:ext cx="109728" cy="182830"/>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0" name="Rounded Rectangle 69"/>
          <p:cNvSpPr/>
          <p:nvPr/>
        </p:nvSpPr>
        <p:spPr>
          <a:xfrm>
            <a:off x="11265407" y="4825947"/>
            <a:ext cx="109728" cy="132184"/>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1" name="Rounded Rectangle 70"/>
          <p:cNvSpPr/>
          <p:nvPr/>
        </p:nvSpPr>
        <p:spPr>
          <a:xfrm>
            <a:off x="11429999" y="4805768"/>
            <a:ext cx="109728" cy="172542"/>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2" name="Rounded Rectangle 71"/>
          <p:cNvSpPr/>
          <p:nvPr/>
        </p:nvSpPr>
        <p:spPr>
          <a:xfrm>
            <a:off x="11594591" y="4758022"/>
            <a:ext cx="109728" cy="268034"/>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3" name="Rounded Rectangle 72"/>
          <p:cNvSpPr/>
          <p:nvPr/>
        </p:nvSpPr>
        <p:spPr>
          <a:xfrm>
            <a:off x="11759183" y="4809910"/>
            <a:ext cx="109728" cy="164258"/>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4" name="Rectangle 73"/>
          <p:cNvSpPr/>
          <p:nvPr/>
        </p:nvSpPr>
        <p:spPr>
          <a:xfrm>
            <a:off x="731520" y="6144768"/>
            <a:ext cx="146304" cy="146304"/>
          </a:xfrm>
          <a:prstGeom prst="rect">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5" name="TextBox 74"/>
          <p:cNvSpPr txBox="1"/>
          <p:nvPr/>
        </p:nvSpPr>
        <p:spPr>
          <a:xfrm>
            <a:off x="950976" y="6080760"/>
            <a:ext cx="1828800" cy="274320"/>
          </a:xfrm>
          <a:prstGeom prst="rect">
            <a:avLst/>
          </a:prstGeom>
          <a:noFill/>
        </p:spPr>
        <p:txBody>
          <a:bodyPr wrap="square" lIns="0" rIns="0" tIns="0" bIns="0" anchor="t">
            <a:spAutoFit/>
          </a:bodyPr>
          <a:lstStyle/>
          <a:p>
            <a:pPr algn="l">
              <a:spcAft>
                <a:spcPts val="0"/>
              </a:spcAft>
            </a:pPr>
            <a:r>
              <a:rPr sz="1200" b="0" i="0">
                <a:solidFill>
                  <a:srgbClr val="C9D3E0"/>
                </a:solidFill>
                <a:latin typeface="Calibri"/>
              </a:rPr>
              <a:t>Talking</a:t>
            </a:r>
          </a:p>
        </p:txBody>
      </p:sp>
      <p:sp>
        <p:nvSpPr>
          <p:cNvPr id="76" name="Rectangle 75"/>
          <p:cNvSpPr/>
          <p:nvPr/>
        </p:nvSpPr>
        <p:spPr>
          <a:xfrm>
            <a:off x="2834639" y="6144768"/>
            <a:ext cx="146304" cy="146304"/>
          </a:xfrm>
          <a:prstGeom prst="rect">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7" name="TextBox 76"/>
          <p:cNvSpPr txBox="1"/>
          <p:nvPr/>
        </p:nvSpPr>
        <p:spPr>
          <a:xfrm>
            <a:off x="3054096" y="6080760"/>
            <a:ext cx="1828800" cy="274320"/>
          </a:xfrm>
          <a:prstGeom prst="rect">
            <a:avLst/>
          </a:prstGeom>
          <a:noFill/>
        </p:spPr>
        <p:txBody>
          <a:bodyPr wrap="square" lIns="0" rIns="0" tIns="0" bIns="0" anchor="t">
            <a:spAutoFit/>
          </a:bodyPr>
          <a:lstStyle/>
          <a:p>
            <a:pPr algn="l">
              <a:spcAft>
                <a:spcPts val="0"/>
              </a:spcAft>
            </a:pPr>
            <a:r>
              <a:rPr sz="1200" b="0" i="0">
                <a:solidFill>
                  <a:srgbClr val="C9D3E0"/>
                </a:solidFill>
                <a:latin typeface="Calibri"/>
              </a:rPr>
              <a:t>Singing (also speech)</a:t>
            </a:r>
          </a:p>
        </p:txBody>
      </p:sp>
      <p:sp>
        <p:nvSpPr>
          <p:cNvPr id="78" name="Rectangle 77"/>
          <p:cNvSpPr/>
          <p:nvPr/>
        </p:nvSpPr>
        <p:spPr>
          <a:xfrm>
            <a:off x="4937759" y="6144768"/>
            <a:ext cx="146304" cy="146304"/>
          </a:xfrm>
          <a:prstGeom prst="rect">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9" name="TextBox 78"/>
          <p:cNvSpPr txBox="1"/>
          <p:nvPr/>
        </p:nvSpPr>
        <p:spPr>
          <a:xfrm>
            <a:off x="5157216" y="6080760"/>
            <a:ext cx="1828800" cy="274320"/>
          </a:xfrm>
          <a:prstGeom prst="rect">
            <a:avLst/>
          </a:prstGeom>
          <a:noFill/>
        </p:spPr>
        <p:txBody>
          <a:bodyPr wrap="square" lIns="0" rIns="0" tIns="0" bIns="0" anchor="t">
            <a:spAutoFit/>
          </a:bodyPr>
          <a:lstStyle/>
          <a:p>
            <a:pPr algn="l">
              <a:spcAft>
                <a:spcPts val="0"/>
              </a:spcAft>
            </a:pPr>
            <a:r>
              <a:rPr sz="1200" b="0" i="0">
                <a:solidFill>
                  <a:srgbClr val="C9D3E0"/>
                </a:solidFill>
                <a:latin typeface="Calibri"/>
              </a:rPr>
              <a:t>Non-speech</a:t>
            </a:r>
          </a:p>
        </p:txBody>
      </p:sp>
      <p:sp>
        <p:nvSpPr>
          <p:cNvPr id="80" name="TextBox 79"/>
          <p:cNvSpPr txBox="1"/>
          <p:nvPr/>
        </p:nvSpPr>
        <p:spPr>
          <a:xfrm>
            <a:off x="8686800" y="6080760"/>
            <a:ext cx="2770632" cy="274320"/>
          </a:xfrm>
          <a:prstGeom prst="rect">
            <a:avLst/>
          </a:prstGeom>
          <a:noFill/>
        </p:spPr>
        <p:txBody>
          <a:bodyPr wrap="square" lIns="0" rIns="0" tIns="0" bIns="0" anchor="t">
            <a:spAutoFit/>
          </a:bodyPr>
          <a:lstStyle/>
          <a:p>
            <a:pPr algn="r">
              <a:spcAft>
                <a:spcPts val="0"/>
              </a:spcAft>
            </a:pPr>
            <a:r>
              <a:rPr sz="1200" b="0" i="0">
                <a:solidFill>
                  <a:srgbClr val="8A93A0"/>
                </a:solidFill>
                <a:latin typeface="Calibri"/>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77266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Problem</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Find every segment with a human voice, on the device</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2 / 15</a:t>
            </a:r>
          </a:p>
        </p:txBody>
      </p:sp>
      <p:sp>
        <p:nvSpPr>
          <p:cNvPr id="5" name="Rounded Rectangle 4"/>
          <p:cNvSpPr/>
          <p:nvPr/>
        </p:nvSpPr>
        <p:spPr>
          <a:xfrm>
            <a:off x="548640" y="2011680"/>
            <a:ext cx="1417320" cy="8686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685800" y="2075688"/>
            <a:ext cx="1143000" cy="320040"/>
          </a:xfrm>
          <a:prstGeom prst="rect">
            <a:avLst/>
          </a:prstGeom>
          <a:noFill/>
        </p:spPr>
        <p:txBody>
          <a:bodyPr wrap="square" lIns="0" rIns="0" tIns="0" bIns="0" anchor="t">
            <a:spAutoFit/>
          </a:bodyPr>
          <a:lstStyle/>
          <a:p>
            <a:pPr algn="ctr">
              <a:spcAft>
                <a:spcPts val="0"/>
              </a:spcAft>
            </a:pPr>
            <a:r>
              <a:rPr sz="1400" b="1" i="0">
                <a:solidFill>
                  <a:srgbClr val="16202E"/>
                </a:solidFill>
                <a:latin typeface="Calibri"/>
              </a:rPr>
              <a:t>Input</a:t>
            </a:r>
          </a:p>
        </p:txBody>
      </p:sp>
      <p:sp>
        <p:nvSpPr>
          <p:cNvPr id="7" name="TextBox 6"/>
          <p:cNvSpPr txBox="1"/>
          <p:nvPr/>
        </p:nvSpPr>
        <p:spPr>
          <a:xfrm>
            <a:off x="685800" y="2386584"/>
            <a:ext cx="1143000" cy="45720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mp3 / mp4 file</a:t>
            </a:r>
          </a:p>
        </p:txBody>
      </p:sp>
      <p:sp>
        <p:nvSpPr>
          <p:cNvPr id="8" name="Rounded Rectangle 7"/>
          <p:cNvSpPr/>
          <p:nvPr/>
        </p:nvSpPr>
        <p:spPr>
          <a:xfrm>
            <a:off x="2286000" y="2011680"/>
            <a:ext cx="1417320" cy="8686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TextBox 8"/>
          <p:cNvSpPr txBox="1"/>
          <p:nvPr/>
        </p:nvSpPr>
        <p:spPr>
          <a:xfrm>
            <a:off x="2423160" y="2075688"/>
            <a:ext cx="1143000" cy="320040"/>
          </a:xfrm>
          <a:prstGeom prst="rect">
            <a:avLst/>
          </a:prstGeom>
          <a:noFill/>
        </p:spPr>
        <p:txBody>
          <a:bodyPr wrap="square" lIns="0" rIns="0" tIns="0" bIns="0" anchor="t">
            <a:spAutoFit/>
          </a:bodyPr>
          <a:lstStyle/>
          <a:p>
            <a:pPr algn="ctr">
              <a:spcAft>
                <a:spcPts val="0"/>
              </a:spcAft>
            </a:pPr>
            <a:r>
              <a:rPr sz="1400" b="1" i="0">
                <a:solidFill>
                  <a:srgbClr val="16202E"/>
                </a:solidFill>
                <a:latin typeface="Calibri"/>
              </a:rPr>
              <a:t>App</a:t>
            </a:r>
          </a:p>
        </p:txBody>
      </p:sp>
      <p:sp>
        <p:nvSpPr>
          <p:cNvPr id="10" name="TextBox 9"/>
          <p:cNvSpPr txBox="1"/>
          <p:nvPr/>
        </p:nvSpPr>
        <p:spPr>
          <a:xfrm>
            <a:off x="2423160" y="2386584"/>
            <a:ext cx="1143000" cy="45720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Decode audio</a:t>
            </a:r>
          </a:p>
        </p:txBody>
      </p:sp>
      <p:sp>
        <p:nvSpPr>
          <p:cNvPr id="11" name="Rounded Rectangle 10"/>
          <p:cNvSpPr/>
          <p:nvPr/>
        </p:nvSpPr>
        <p:spPr>
          <a:xfrm>
            <a:off x="4023360" y="1783080"/>
            <a:ext cx="5532120" cy="1325880"/>
          </a:xfrm>
          <a:prstGeom prst="roundRect">
            <a:avLst>
              <a:gd name="adj" fmla="val 8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 name="TextBox 11"/>
          <p:cNvSpPr txBox="1"/>
          <p:nvPr/>
        </p:nvSpPr>
        <p:spPr>
          <a:xfrm>
            <a:off x="4160520" y="1819656"/>
            <a:ext cx="1828800" cy="228600"/>
          </a:xfrm>
          <a:prstGeom prst="rect">
            <a:avLst/>
          </a:prstGeom>
          <a:noFill/>
        </p:spPr>
        <p:txBody>
          <a:bodyPr wrap="square" lIns="0" rIns="0" tIns="0" bIns="0" anchor="t">
            <a:spAutoFit/>
          </a:bodyPr>
          <a:lstStyle/>
          <a:p>
            <a:pPr algn="l">
              <a:spcAft>
                <a:spcPts val="0"/>
              </a:spcAft>
            </a:pPr>
            <a:r>
              <a:rPr sz="1100" b="1" i="0">
                <a:solidFill>
                  <a:srgbClr val="0A5C5B"/>
                </a:solidFill>
                <a:latin typeface="Calibri"/>
              </a:rPr>
              <a:t>lib.so (on device)</a:t>
            </a:r>
          </a:p>
        </p:txBody>
      </p:sp>
      <p:sp>
        <p:nvSpPr>
          <p:cNvPr id="13" name="Rounded Rectangle 12"/>
          <p:cNvSpPr/>
          <p:nvPr/>
        </p:nvSpPr>
        <p:spPr>
          <a:xfrm>
            <a:off x="4206240" y="2075688"/>
            <a:ext cx="1600200" cy="896112"/>
          </a:xfrm>
          <a:prstGeom prst="roundRect">
            <a:avLst>
              <a:gd name="adj" fmla="val 6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TextBox 13"/>
          <p:cNvSpPr txBox="1"/>
          <p:nvPr/>
        </p:nvSpPr>
        <p:spPr>
          <a:xfrm>
            <a:off x="4297679" y="2130552"/>
            <a:ext cx="1417320" cy="274320"/>
          </a:xfrm>
          <a:prstGeom prst="rect">
            <a:avLst/>
          </a:prstGeom>
          <a:noFill/>
        </p:spPr>
        <p:txBody>
          <a:bodyPr wrap="square" lIns="0" rIns="0" tIns="0" bIns="0" anchor="t">
            <a:spAutoFit/>
          </a:bodyPr>
          <a:lstStyle/>
          <a:p>
            <a:pPr algn="ctr">
              <a:spcAft>
                <a:spcPts val="0"/>
              </a:spcAft>
            </a:pPr>
            <a:r>
              <a:rPr sz="1300" b="1" i="0">
                <a:solidFill>
                  <a:srgbClr val="0A5C5B"/>
                </a:solidFill>
                <a:latin typeface="Calibri"/>
              </a:rPr>
              <a:t>Preprocess</a:t>
            </a:r>
          </a:p>
        </p:txBody>
      </p:sp>
      <p:sp>
        <p:nvSpPr>
          <p:cNvPr id="15" name="TextBox 14"/>
          <p:cNvSpPr txBox="1"/>
          <p:nvPr/>
        </p:nvSpPr>
        <p:spPr>
          <a:xfrm>
            <a:off x="4297679" y="2423160"/>
            <a:ext cx="1417320" cy="50292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Resample, downmix</a:t>
            </a:r>
          </a:p>
        </p:txBody>
      </p:sp>
      <p:sp>
        <p:nvSpPr>
          <p:cNvPr id="16" name="Rounded Rectangle 15"/>
          <p:cNvSpPr/>
          <p:nvPr/>
        </p:nvSpPr>
        <p:spPr>
          <a:xfrm>
            <a:off x="5989320" y="2075688"/>
            <a:ext cx="1600200" cy="896112"/>
          </a:xfrm>
          <a:prstGeom prst="roundRect">
            <a:avLst>
              <a:gd name="adj" fmla="val 6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7" name="TextBox 16"/>
          <p:cNvSpPr txBox="1"/>
          <p:nvPr/>
        </p:nvSpPr>
        <p:spPr>
          <a:xfrm>
            <a:off x="6080759" y="2130552"/>
            <a:ext cx="1417320" cy="274320"/>
          </a:xfrm>
          <a:prstGeom prst="rect">
            <a:avLst/>
          </a:prstGeom>
          <a:noFill/>
        </p:spPr>
        <p:txBody>
          <a:bodyPr wrap="square" lIns="0" rIns="0" tIns="0" bIns="0" anchor="t">
            <a:spAutoFit/>
          </a:bodyPr>
          <a:lstStyle/>
          <a:p>
            <a:pPr algn="ctr">
              <a:spcAft>
                <a:spcPts val="0"/>
              </a:spcAft>
            </a:pPr>
            <a:r>
              <a:rPr sz="1300" b="1" i="0">
                <a:solidFill>
                  <a:srgbClr val="0A5C5B"/>
                </a:solidFill>
                <a:latin typeface="Calibri"/>
              </a:rPr>
              <a:t>YAMNet</a:t>
            </a:r>
          </a:p>
        </p:txBody>
      </p:sp>
      <p:sp>
        <p:nvSpPr>
          <p:cNvPr id="18" name="TextBox 17"/>
          <p:cNvSpPr txBox="1"/>
          <p:nvPr/>
        </p:nvSpPr>
        <p:spPr>
          <a:xfrm>
            <a:off x="6080759" y="2423160"/>
            <a:ext cx="1417320" cy="50292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0.96 s window, 0.08 s hop</a:t>
            </a:r>
          </a:p>
        </p:txBody>
      </p:sp>
      <p:sp>
        <p:nvSpPr>
          <p:cNvPr id="19" name="Rounded Rectangle 18"/>
          <p:cNvSpPr/>
          <p:nvPr/>
        </p:nvSpPr>
        <p:spPr>
          <a:xfrm>
            <a:off x="7772400" y="2075688"/>
            <a:ext cx="1600200" cy="896112"/>
          </a:xfrm>
          <a:prstGeom prst="roundRect">
            <a:avLst>
              <a:gd name="adj" fmla="val 6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TextBox 19"/>
          <p:cNvSpPr txBox="1"/>
          <p:nvPr/>
        </p:nvSpPr>
        <p:spPr>
          <a:xfrm>
            <a:off x="7863840" y="2130552"/>
            <a:ext cx="1417320" cy="274320"/>
          </a:xfrm>
          <a:prstGeom prst="rect">
            <a:avLst/>
          </a:prstGeom>
          <a:noFill/>
        </p:spPr>
        <p:txBody>
          <a:bodyPr wrap="square" lIns="0" rIns="0" tIns="0" bIns="0" anchor="t">
            <a:spAutoFit/>
          </a:bodyPr>
          <a:lstStyle/>
          <a:p>
            <a:pPr algn="ctr">
              <a:spcAft>
                <a:spcPts val="0"/>
              </a:spcAft>
            </a:pPr>
            <a:r>
              <a:rPr sz="1300" b="1" i="0">
                <a:solidFill>
                  <a:srgbClr val="0A5C5B"/>
                </a:solidFill>
                <a:latin typeface="Calibri"/>
              </a:rPr>
              <a:t>Post-process</a:t>
            </a:r>
          </a:p>
        </p:txBody>
      </p:sp>
      <p:sp>
        <p:nvSpPr>
          <p:cNvPr id="21" name="TextBox 20"/>
          <p:cNvSpPr txBox="1"/>
          <p:nvPr/>
        </p:nvSpPr>
        <p:spPr>
          <a:xfrm>
            <a:off x="7863840" y="2423160"/>
            <a:ext cx="1417320" cy="50292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Pad, drop short, merge</a:t>
            </a:r>
          </a:p>
        </p:txBody>
      </p:sp>
      <p:sp>
        <p:nvSpPr>
          <p:cNvPr id="22" name="Rounded Rectangle 21"/>
          <p:cNvSpPr/>
          <p:nvPr/>
        </p:nvSpPr>
        <p:spPr>
          <a:xfrm>
            <a:off x="9875520" y="2011680"/>
            <a:ext cx="1764792" cy="868680"/>
          </a:xfrm>
          <a:prstGeom prst="roundRect">
            <a:avLst>
              <a:gd name="adj" fmla="val 6000"/>
            </a:avLst>
          </a:prstGeom>
          <a:solidFill>
            <a:srgbClr val="E3EE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3" name="TextBox 22"/>
          <p:cNvSpPr txBox="1"/>
          <p:nvPr/>
        </p:nvSpPr>
        <p:spPr>
          <a:xfrm>
            <a:off x="10012680" y="2075688"/>
            <a:ext cx="1490472" cy="320040"/>
          </a:xfrm>
          <a:prstGeom prst="rect">
            <a:avLst/>
          </a:prstGeom>
          <a:noFill/>
        </p:spPr>
        <p:txBody>
          <a:bodyPr wrap="square" lIns="0" rIns="0" tIns="0" bIns="0" anchor="t">
            <a:spAutoFit/>
          </a:bodyPr>
          <a:lstStyle/>
          <a:p>
            <a:pPr algn="ctr">
              <a:spcAft>
                <a:spcPts val="0"/>
              </a:spcAft>
            </a:pPr>
            <a:r>
              <a:rPr sz="1400" b="1" i="0">
                <a:solidFill>
                  <a:srgbClr val="0C447C"/>
                </a:solidFill>
                <a:latin typeface="Calibri"/>
              </a:rPr>
              <a:t>Output</a:t>
            </a:r>
          </a:p>
        </p:txBody>
      </p:sp>
      <p:sp>
        <p:nvSpPr>
          <p:cNvPr id="24" name="TextBox 23"/>
          <p:cNvSpPr txBox="1"/>
          <p:nvPr/>
        </p:nvSpPr>
        <p:spPr>
          <a:xfrm>
            <a:off x="10012680" y="2386584"/>
            <a:ext cx="1490472" cy="45720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Speech segments (start, end)</a:t>
            </a:r>
          </a:p>
        </p:txBody>
      </p:sp>
      <p:sp>
        <p:nvSpPr>
          <p:cNvPr id="25" name="Chevron 24"/>
          <p:cNvSpPr/>
          <p:nvPr/>
        </p:nvSpPr>
        <p:spPr>
          <a:xfrm>
            <a:off x="1993392" y="2308860"/>
            <a:ext cx="182880" cy="274320"/>
          </a:xfrm>
          <a:prstGeom prst="chevron">
            <a:avLst/>
          </a:prstGeom>
          <a:solidFill>
            <a:srgbClr val="B8C2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Chevron 25"/>
          <p:cNvSpPr/>
          <p:nvPr/>
        </p:nvSpPr>
        <p:spPr>
          <a:xfrm>
            <a:off x="3730752" y="2308860"/>
            <a:ext cx="182880" cy="274320"/>
          </a:xfrm>
          <a:prstGeom prst="chevron">
            <a:avLst/>
          </a:prstGeom>
          <a:solidFill>
            <a:srgbClr val="B8C2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7" name="Chevron 26"/>
          <p:cNvSpPr/>
          <p:nvPr/>
        </p:nvSpPr>
        <p:spPr>
          <a:xfrm>
            <a:off x="9582912" y="2308860"/>
            <a:ext cx="182880" cy="274320"/>
          </a:xfrm>
          <a:prstGeom prst="chevron">
            <a:avLst/>
          </a:prstGeom>
          <a:solidFill>
            <a:srgbClr val="B8C2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Rounded Rectangle 27"/>
          <p:cNvSpPr/>
          <p:nvPr/>
        </p:nvSpPr>
        <p:spPr>
          <a:xfrm>
            <a:off x="548640" y="3291840"/>
            <a:ext cx="3593592" cy="196596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9" name="TextBox 28"/>
          <p:cNvSpPr txBox="1"/>
          <p:nvPr/>
        </p:nvSpPr>
        <p:spPr>
          <a:xfrm>
            <a:off x="777240" y="3401568"/>
            <a:ext cx="3136392"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Current state</a:t>
            </a:r>
          </a:p>
        </p:txBody>
      </p:sp>
      <p:sp>
        <p:nvSpPr>
          <p:cNvPr id="30" name="TextBox 29"/>
          <p:cNvSpPr txBox="1"/>
          <p:nvPr/>
        </p:nvSpPr>
        <p:spPr>
          <a:xfrm>
            <a:off x="777240" y="3794760"/>
            <a:ext cx="3182112" cy="1417320"/>
          </a:xfrm>
          <a:prstGeom prst="rect">
            <a:avLst/>
          </a:prstGeom>
          <a:noFill/>
        </p:spPr>
        <p:txBody>
          <a:bodyPr wrap="square" lIns="0" rIns="0" tIns="0" bIns="0" anchor="t">
            <a:spAutoFit/>
          </a:bodyPr>
          <a:lstStyle/>
          <a:p>
            <a:pPr algn="l" marL="201168" indent="-201168">
              <a:spcAft>
                <a:spcPts val="400"/>
              </a:spcAft>
              <a:buFont typeface="Arial"/>
              <a:buChar char="•"/>
            </a:pPr>
            <a:r>
              <a:rPr sz="1300" b="0" i="0">
                <a:solidFill>
                  <a:srgbClr val="5B6472"/>
                </a:solidFill>
                <a:latin typeface="Calibri"/>
              </a:rPr>
              <a:t>AUC 0.9995 on designed data; no numbers on real data yet</a:t>
            </a:r>
          </a:p>
          <a:p>
            <a:pPr algn="l" marL="201168" indent="-201168">
              <a:spcAft>
                <a:spcPts val="400"/>
              </a:spcAft>
              <a:buFont typeface="Arial"/>
              <a:buChar char="•"/>
            </a:pPr>
            <a:r>
              <a:rPr sz="1300" b="0" i="0">
                <a:solidFill>
                  <a:srgbClr val="5B6472"/>
                </a:solidFill>
                <a:latin typeface="Calibri"/>
              </a:rPr>
              <a:t>Threshold 0.6026 picked on the evaluation set itself</a:t>
            </a:r>
          </a:p>
          <a:p>
            <a:pPr algn="l" marL="201168" indent="-201168">
              <a:spcAft>
                <a:spcPts val="400"/>
              </a:spcAft>
              <a:buFont typeface="Arial"/>
              <a:buChar char="•"/>
            </a:pPr>
            <a:r>
              <a:rPr sz="1300" b="0" i="0">
                <a:solidFill>
                  <a:srgbClr val="5B6472"/>
                </a:solidFill>
                <a:latin typeface="Calibri"/>
              </a:rPr>
              <a:t>0.5 s GT grid; boundary errors mixed with real errors</a:t>
            </a:r>
          </a:p>
        </p:txBody>
      </p:sp>
      <p:sp>
        <p:nvSpPr>
          <p:cNvPr id="31" name="Rounded Rectangle 30"/>
          <p:cNvSpPr/>
          <p:nvPr/>
        </p:nvSpPr>
        <p:spPr>
          <a:xfrm>
            <a:off x="4297680" y="3291840"/>
            <a:ext cx="3593592" cy="196596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2" name="TextBox 31"/>
          <p:cNvSpPr txBox="1"/>
          <p:nvPr/>
        </p:nvSpPr>
        <p:spPr>
          <a:xfrm>
            <a:off x="4526280" y="3401568"/>
            <a:ext cx="3136392"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Goal</a:t>
            </a:r>
          </a:p>
        </p:txBody>
      </p:sp>
      <p:sp>
        <p:nvSpPr>
          <p:cNvPr id="33" name="TextBox 32"/>
          <p:cNvSpPr txBox="1"/>
          <p:nvPr/>
        </p:nvSpPr>
        <p:spPr>
          <a:xfrm>
            <a:off x="4526280" y="3794760"/>
            <a:ext cx="3182112" cy="1417320"/>
          </a:xfrm>
          <a:prstGeom prst="rect">
            <a:avLst/>
          </a:prstGeom>
          <a:noFill/>
        </p:spPr>
        <p:txBody>
          <a:bodyPr wrap="square" lIns="0" rIns="0" tIns="0" bIns="0" anchor="t">
            <a:spAutoFit/>
          </a:bodyPr>
          <a:lstStyle/>
          <a:p>
            <a:pPr algn="l" marL="201168" indent="-201168">
              <a:spcAft>
                <a:spcPts val="400"/>
              </a:spcAft>
              <a:buFont typeface="Arial"/>
              <a:buChar char="•"/>
            </a:pPr>
            <a:r>
              <a:rPr sz="1300" b="0" i="0">
                <a:solidFill>
                  <a:srgbClr val="5B6472"/>
                </a:solidFill>
                <a:latin typeface="Calibri"/>
              </a:rPr>
              <a:t>Better quality: right segments, right boundaries</a:t>
            </a:r>
          </a:p>
          <a:p>
            <a:pPr algn="l" marL="201168" indent="-201168">
              <a:spcAft>
                <a:spcPts val="400"/>
              </a:spcAft>
              <a:buFont typeface="Arial"/>
              <a:buChar char="•"/>
            </a:pPr>
            <a:r>
              <a:rPr sz="1300" b="0" i="0">
                <a:solidFill>
                  <a:srgbClr val="5B6472"/>
                </a:solidFill>
                <a:latin typeface="Calibri"/>
              </a:rPr>
              <a:t>No worse RTF, CPU, power or memory</a:t>
            </a:r>
          </a:p>
          <a:p>
            <a:pPr algn="l" marL="201168" indent="-201168">
              <a:spcAft>
                <a:spcPts val="400"/>
              </a:spcAft>
              <a:buFont typeface="Arial"/>
              <a:buChar char="•"/>
            </a:pPr>
            <a:r>
              <a:rPr sz="1300" b="0" i="0">
                <a:solidFill>
                  <a:srgbClr val="5B6472"/>
                </a:solidFill>
                <a:latin typeface="Calibri"/>
              </a:rPr>
              <a:t>Correct on every kind of audio the model receives</a:t>
            </a:r>
          </a:p>
        </p:txBody>
      </p:sp>
      <p:sp>
        <p:nvSpPr>
          <p:cNvPr id="34" name="Rounded Rectangle 33"/>
          <p:cNvSpPr/>
          <p:nvPr/>
        </p:nvSpPr>
        <p:spPr>
          <a:xfrm>
            <a:off x="8046720" y="3291840"/>
            <a:ext cx="3593592" cy="196596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5" name="TextBox 34"/>
          <p:cNvSpPr txBox="1"/>
          <p:nvPr/>
        </p:nvSpPr>
        <p:spPr>
          <a:xfrm>
            <a:off x="8275320" y="3401568"/>
            <a:ext cx="3136392"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Scope</a:t>
            </a:r>
          </a:p>
        </p:txBody>
      </p:sp>
      <p:sp>
        <p:nvSpPr>
          <p:cNvPr id="36" name="TextBox 35"/>
          <p:cNvSpPr txBox="1"/>
          <p:nvPr/>
        </p:nvSpPr>
        <p:spPr>
          <a:xfrm>
            <a:off x="8275320" y="3794760"/>
            <a:ext cx="3182112" cy="1417320"/>
          </a:xfrm>
          <a:prstGeom prst="rect">
            <a:avLst/>
          </a:prstGeom>
          <a:noFill/>
        </p:spPr>
        <p:txBody>
          <a:bodyPr wrap="square" lIns="0" rIns="0" tIns="0" bIns="0" anchor="t">
            <a:spAutoFit/>
          </a:bodyPr>
          <a:lstStyle/>
          <a:p>
            <a:pPr algn="l" marL="201168" indent="-201168">
              <a:spcAft>
                <a:spcPts val="400"/>
              </a:spcAft>
              <a:buFont typeface="Arial"/>
              <a:buChar char="•"/>
            </a:pPr>
            <a:r>
              <a:rPr sz="1300" b="0" i="0">
                <a:solidFill>
                  <a:srgbClr val="5B6472"/>
                </a:solidFill>
                <a:latin typeface="Calibri"/>
              </a:rPr>
              <a:t>In: labels, data, evaluation, model and post-processing</a:t>
            </a:r>
          </a:p>
          <a:p>
            <a:pPr algn="l" marL="201168" indent="-201168">
              <a:spcAft>
                <a:spcPts val="400"/>
              </a:spcAft>
              <a:buFont typeface="Arial"/>
              <a:buChar char="•"/>
            </a:pPr>
            <a:r>
              <a:rPr sz="1300" b="0" i="0">
                <a:solidFill>
                  <a:srgbClr val="5B6472"/>
                </a:solidFill>
                <a:latin typeface="Calibri"/>
              </a:rPr>
              <a:t>Out: ASR, speaker diarization, streaming, decoding in the app</a:t>
            </a:r>
          </a:p>
        </p:txBody>
      </p:sp>
      <p:sp>
        <p:nvSpPr>
          <p:cNvPr id="37" name="Rounded Rectangle 36"/>
          <p:cNvSpPr/>
          <p:nvPr/>
        </p:nvSpPr>
        <p:spPr>
          <a:xfrm>
            <a:off x="548640" y="5413248"/>
            <a:ext cx="11091672" cy="777240"/>
          </a:xfrm>
          <a:prstGeom prst="roundRect">
            <a:avLst>
              <a:gd name="adj" fmla="val 6000"/>
            </a:avLst>
          </a:prstGeom>
          <a:solidFill>
            <a:srgbClr val="FDF3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8" name="Oval 37"/>
          <p:cNvSpPr/>
          <p:nvPr/>
        </p:nvSpPr>
        <p:spPr>
          <a:xfrm>
            <a:off x="731520" y="5550408"/>
            <a:ext cx="502920" cy="502920"/>
          </a:xfrm>
          <a:prstGeom prst="ellipse">
            <a:avLst/>
          </a:prstGeom>
          <a:solidFill>
            <a:srgbClr val="B779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9" name="Picture 38" descr="warn_w.png"/>
          <p:cNvPicPr>
            <a:picLocks noChangeAspect="1"/>
          </p:cNvPicPr>
          <p:nvPr/>
        </p:nvPicPr>
        <p:blipFill>
          <a:blip r:embed="rId2"/>
          <a:stretch>
            <a:fillRect/>
          </a:stretch>
        </p:blipFill>
        <p:spPr>
          <a:xfrm>
            <a:off x="842162" y="5661050"/>
            <a:ext cx="281635" cy="281635"/>
          </a:xfrm>
          <a:prstGeom prst="rect">
            <a:avLst/>
          </a:prstGeom>
        </p:spPr>
      </p:pic>
      <p:sp>
        <p:nvSpPr>
          <p:cNvPr id="40" name="TextBox 39"/>
          <p:cNvSpPr txBox="1"/>
          <p:nvPr/>
        </p:nvSpPr>
        <p:spPr>
          <a:xfrm>
            <a:off x="1417320" y="5413248"/>
            <a:ext cx="10058400" cy="777240"/>
          </a:xfrm>
          <a:prstGeom prst="rect">
            <a:avLst/>
          </a:prstGeom>
          <a:noFill/>
        </p:spPr>
        <p:txBody>
          <a:bodyPr wrap="square" lIns="0" rIns="0" tIns="0" bIns="0" anchor="ctr">
            <a:spAutoFit/>
          </a:bodyPr>
          <a:lstStyle/>
          <a:p>
            <a:pPr algn="l">
              <a:spcAft>
                <a:spcPts val="0"/>
              </a:spcAft>
            </a:pPr>
            <a:r>
              <a:rPr sz="1400" b="1" i="0">
                <a:solidFill>
                  <a:srgbClr val="7A5200"/>
                </a:solidFill>
                <a:latin typeface="Calibri"/>
              </a:rPr>
              <a:t>Open question: </a:t>
            </a:r>
            <a:r>
              <a:rPr sz="1400" b="0" i="0">
                <a:solidFill>
                  <a:srgbClr val="7A5200"/>
                </a:solidFill>
                <a:latin typeface="Calibri"/>
              </a:rPr>
              <a:t>what does the app do with the speech segments? The answer decides whether misses or false alarms cost more, and sets the thresholds in the success criteria.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97840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Definition</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Speech means a clear, followable human voice, singing included</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3 / 15</a:t>
            </a:r>
          </a:p>
        </p:txBody>
      </p:sp>
      <p:sp>
        <p:nvSpPr>
          <p:cNvPr id="5" name="Rounded Rectangle 4"/>
          <p:cNvSpPr/>
          <p:nvPr/>
        </p:nvSpPr>
        <p:spPr>
          <a:xfrm>
            <a:off x="548640" y="1691640"/>
            <a:ext cx="11091672" cy="640080"/>
          </a:xfrm>
          <a:prstGeom prst="roundRect">
            <a:avLst>
              <a:gd name="adj" fmla="val 6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777240" y="1691640"/>
            <a:ext cx="10698480" cy="640080"/>
          </a:xfrm>
          <a:prstGeom prst="rect">
            <a:avLst/>
          </a:prstGeom>
          <a:noFill/>
        </p:spPr>
        <p:txBody>
          <a:bodyPr wrap="square" lIns="0" rIns="0" tIns="0" bIns="0" anchor="ctr">
            <a:spAutoFit/>
          </a:bodyPr>
          <a:lstStyle/>
          <a:p>
            <a:pPr algn="l">
              <a:spcAft>
                <a:spcPts val="0"/>
              </a:spcAft>
            </a:pPr>
            <a:r>
              <a:rPr sz="1500" b="1" i="0">
                <a:solidFill>
                  <a:srgbClr val="0A5C5B"/>
                </a:solidFill>
                <a:latin typeface="Calibri"/>
              </a:rPr>
              <a:t>Core rule: </a:t>
            </a:r>
            <a:r>
              <a:rPr sz="1500" b="0" i="0">
                <a:solidFill>
                  <a:srgbClr val="0A5C5B"/>
                </a:solidFill>
                <a:latin typeface="Calibri"/>
              </a:rPr>
              <a:t>at least one prominent, followable human voice producing words or melody. Everything else is non-speech.</a:t>
            </a:r>
          </a:p>
        </p:txBody>
      </p:sp>
      <p:sp>
        <p:nvSpPr>
          <p:cNvPr id="7" name="Rounded Rectangle 6"/>
          <p:cNvSpPr/>
          <p:nvPr/>
        </p:nvSpPr>
        <p:spPr>
          <a:xfrm>
            <a:off x="548640" y="2487168"/>
            <a:ext cx="5454396" cy="2606040"/>
          </a:xfrm>
          <a:prstGeom prst="roundRect">
            <a:avLst>
              <a:gd name="adj" fmla="val 6000"/>
            </a:avLst>
          </a:prstGeom>
          <a:solidFill>
            <a:srgbClr val="FFFFFF"/>
          </a:solidFill>
          <a:ln w="12700">
            <a:solidFill>
              <a:srgbClr val="DDE2E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8" name="Oval 7"/>
          <p:cNvSpPr/>
          <p:nvPr/>
        </p:nvSpPr>
        <p:spPr>
          <a:xfrm>
            <a:off x="777240" y="2651760"/>
            <a:ext cx="502920" cy="502920"/>
          </a:xfrm>
          <a:prstGeom prst="ellipse">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9" name="Picture 8" descr="speech_w.png"/>
          <p:cNvPicPr>
            <a:picLocks noChangeAspect="1"/>
          </p:cNvPicPr>
          <p:nvPr/>
        </p:nvPicPr>
        <p:blipFill>
          <a:blip r:embed="rId2"/>
          <a:stretch>
            <a:fillRect/>
          </a:stretch>
        </p:blipFill>
        <p:spPr>
          <a:xfrm>
            <a:off x="887882" y="2762402"/>
            <a:ext cx="281635" cy="281635"/>
          </a:xfrm>
          <a:prstGeom prst="rect">
            <a:avLst/>
          </a:prstGeom>
        </p:spPr>
      </p:pic>
      <p:sp>
        <p:nvSpPr>
          <p:cNvPr id="10" name="TextBox 9"/>
          <p:cNvSpPr txBox="1"/>
          <p:nvPr/>
        </p:nvSpPr>
        <p:spPr>
          <a:xfrm>
            <a:off x="1417319" y="2697480"/>
            <a:ext cx="4114800" cy="411480"/>
          </a:xfrm>
          <a:prstGeom prst="rect">
            <a:avLst/>
          </a:prstGeom>
          <a:noFill/>
        </p:spPr>
        <p:txBody>
          <a:bodyPr wrap="square" lIns="0" rIns="0" tIns="0" bIns="0" anchor="t">
            <a:spAutoFit/>
          </a:bodyPr>
          <a:lstStyle/>
          <a:p>
            <a:pPr algn="l">
              <a:spcAft>
                <a:spcPts val="0"/>
              </a:spcAft>
            </a:pPr>
            <a:r>
              <a:rPr sz="1900" b="1" i="0">
                <a:solidFill>
                  <a:srgbClr val="2A78D6"/>
                </a:solidFill>
                <a:latin typeface="Cambria"/>
              </a:rPr>
              <a:t>Speech</a:t>
            </a:r>
          </a:p>
        </p:txBody>
      </p:sp>
      <p:sp>
        <p:nvSpPr>
          <p:cNvPr id="11" name="TextBox 10"/>
          <p:cNvSpPr txBox="1"/>
          <p:nvPr/>
        </p:nvSpPr>
        <p:spPr>
          <a:xfrm>
            <a:off x="822959" y="3291840"/>
            <a:ext cx="4983480" cy="1783080"/>
          </a:xfrm>
          <a:prstGeom prst="rect">
            <a:avLst/>
          </a:prstGeom>
          <a:noFill/>
        </p:spPr>
        <p:txBody>
          <a:bodyPr wrap="square" lIns="0" rIns="0" tIns="0" bIns="0" anchor="t">
            <a:spAutoFit/>
          </a:bodyPr>
          <a:lstStyle/>
          <a:p>
            <a:pPr algn="l" marL="201168" indent="-201168">
              <a:spcAft>
                <a:spcPts val="500"/>
              </a:spcAft>
              <a:buFont typeface="Arial"/>
              <a:buChar char="•"/>
            </a:pPr>
            <a:r>
              <a:rPr sz="1400" b="0" i="0">
                <a:solidFill>
                  <a:srgbClr val="16202E"/>
                </a:solidFill>
                <a:latin typeface="Calibri"/>
              </a:rPr>
              <a:t>Talking, including over music, noise or a crowd</a:t>
            </a:r>
          </a:p>
          <a:p>
            <a:pPr algn="l" marL="201168" indent="-201168">
              <a:spcAft>
                <a:spcPts val="500"/>
              </a:spcAft>
              <a:buFont typeface="Arial"/>
              <a:buChar char="•"/>
            </a:pPr>
            <a:r>
              <a:rPr sz="1400" b="0" i="0">
                <a:solidFill>
                  <a:srgbClr val="16202E"/>
                </a:solidFill>
                <a:latin typeface="Calibri"/>
              </a:rPr>
              <a:t>Conversation, overlapping speech</a:t>
            </a:r>
          </a:p>
          <a:p>
            <a:pPr algn="l" marL="201168" indent="-201168">
              <a:spcAft>
                <a:spcPts val="500"/>
              </a:spcAft>
              <a:buFont typeface="Arial"/>
              <a:buChar char="•"/>
            </a:pPr>
            <a:r>
              <a:rPr sz="1400" b="0" i="0">
                <a:solidFill>
                  <a:srgbClr val="16202E"/>
                </a:solidFill>
                <a:latin typeface="Calibri"/>
              </a:rPr>
              <a:t>Solo singing, singing with accompaniment, harmony, choir</a:t>
            </a:r>
          </a:p>
          <a:p>
            <a:pPr algn="l" marL="201168" indent="-201168">
              <a:spcAft>
                <a:spcPts val="500"/>
              </a:spcAft>
              <a:buFont typeface="Arial"/>
              <a:buChar char="•"/>
            </a:pPr>
            <a:r>
              <a:rPr sz="1400" b="0" i="0">
                <a:solidFill>
                  <a:srgbClr val="16202E"/>
                </a:solidFill>
                <a:latin typeface="Calibri"/>
              </a:rPr>
              <a:t>Humming, rap, poetry reading and recitation</a:t>
            </a:r>
          </a:p>
          <a:p>
            <a:pPr algn="l" marL="201168" indent="-201168">
              <a:spcAft>
                <a:spcPts val="500"/>
              </a:spcAft>
              <a:buFont typeface="Arial"/>
              <a:buChar char="•"/>
            </a:pPr>
            <a:r>
              <a:rPr sz="1400" b="0" i="0">
                <a:solidFill>
                  <a:srgbClr val="16202E"/>
                </a:solidFill>
                <a:latin typeface="Calibri"/>
              </a:rPr>
              <a:t>Shouting or calling out with words; chanting in unison</a:t>
            </a:r>
          </a:p>
        </p:txBody>
      </p:sp>
      <p:sp>
        <p:nvSpPr>
          <p:cNvPr id="12" name="Rounded Rectangle 11"/>
          <p:cNvSpPr/>
          <p:nvPr/>
        </p:nvSpPr>
        <p:spPr>
          <a:xfrm>
            <a:off x="6185916" y="2487168"/>
            <a:ext cx="5454396" cy="2606040"/>
          </a:xfrm>
          <a:prstGeom prst="roundRect">
            <a:avLst>
              <a:gd name="adj" fmla="val 6000"/>
            </a:avLst>
          </a:prstGeom>
          <a:solidFill>
            <a:srgbClr val="FFFFFF"/>
          </a:solidFill>
          <a:ln w="12700">
            <a:solidFill>
              <a:srgbClr val="DDE2E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Oval 12"/>
          <p:cNvSpPr/>
          <p:nvPr/>
        </p:nvSpPr>
        <p:spPr>
          <a:xfrm>
            <a:off x="6414516" y="2651760"/>
            <a:ext cx="502920" cy="502920"/>
          </a:xfrm>
          <a:prstGeom prst="ellipse">
            <a:avLst/>
          </a:prstGeom>
          <a:solidFill>
            <a:srgbClr val="6B72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4" name="Picture 13" descr="music_w.png"/>
          <p:cNvPicPr>
            <a:picLocks noChangeAspect="1"/>
          </p:cNvPicPr>
          <p:nvPr/>
        </p:nvPicPr>
        <p:blipFill>
          <a:blip r:embed="rId3"/>
          <a:stretch>
            <a:fillRect/>
          </a:stretch>
        </p:blipFill>
        <p:spPr>
          <a:xfrm>
            <a:off x="6525158" y="2762402"/>
            <a:ext cx="281635" cy="281635"/>
          </a:xfrm>
          <a:prstGeom prst="rect">
            <a:avLst/>
          </a:prstGeom>
        </p:spPr>
      </p:pic>
      <p:sp>
        <p:nvSpPr>
          <p:cNvPr id="15" name="TextBox 14"/>
          <p:cNvSpPr txBox="1"/>
          <p:nvPr/>
        </p:nvSpPr>
        <p:spPr>
          <a:xfrm>
            <a:off x="7054596" y="2697480"/>
            <a:ext cx="4114800" cy="411480"/>
          </a:xfrm>
          <a:prstGeom prst="rect">
            <a:avLst/>
          </a:prstGeom>
          <a:noFill/>
        </p:spPr>
        <p:txBody>
          <a:bodyPr wrap="square" lIns="0" rIns="0" tIns="0" bIns="0" anchor="t">
            <a:spAutoFit/>
          </a:bodyPr>
          <a:lstStyle/>
          <a:p>
            <a:pPr algn="l">
              <a:spcAft>
                <a:spcPts val="0"/>
              </a:spcAft>
            </a:pPr>
            <a:r>
              <a:rPr sz="1900" b="1" i="0">
                <a:solidFill>
                  <a:srgbClr val="6B7280"/>
                </a:solidFill>
                <a:latin typeface="Cambria"/>
              </a:rPr>
              <a:t>Non-speech</a:t>
            </a:r>
          </a:p>
        </p:txBody>
      </p:sp>
      <p:sp>
        <p:nvSpPr>
          <p:cNvPr id="16" name="TextBox 15"/>
          <p:cNvSpPr txBox="1"/>
          <p:nvPr/>
        </p:nvSpPr>
        <p:spPr>
          <a:xfrm>
            <a:off x="6460236" y="3291840"/>
            <a:ext cx="4983480" cy="1783080"/>
          </a:xfrm>
          <a:prstGeom prst="rect">
            <a:avLst/>
          </a:prstGeom>
          <a:noFill/>
        </p:spPr>
        <p:txBody>
          <a:bodyPr wrap="square" lIns="0" rIns="0" tIns="0" bIns="0" anchor="t">
            <a:spAutoFit/>
          </a:bodyPr>
          <a:lstStyle/>
          <a:p>
            <a:pPr algn="l" marL="201168" indent="-201168">
              <a:spcAft>
                <a:spcPts val="500"/>
              </a:spcAft>
              <a:buFont typeface="Arial"/>
              <a:buChar char="•"/>
            </a:pPr>
            <a:r>
              <a:rPr sz="1400" b="0" i="0">
                <a:solidFill>
                  <a:srgbClr val="16202E"/>
                </a:solidFill>
                <a:latin typeface="Calibri"/>
              </a:rPr>
              <a:t>Silence, ambient noise</a:t>
            </a:r>
          </a:p>
          <a:p>
            <a:pPr algn="l" marL="201168" indent="-201168">
              <a:spcAft>
                <a:spcPts val="500"/>
              </a:spcAft>
              <a:buFont typeface="Arial"/>
              <a:buChar char="•"/>
            </a:pPr>
            <a:r>
              <a:rPr sz="1400" b="0" i="0">
                <a:solidFill>
                  <a:srgbClr val="16202E"/>
                </a:solidFill>
                <a:latin typeface="Calibri"/>
              </a:rPr>
              <a:t>Instrumental music, intros, interludes</a:t>
            </a:r>
          </a:p>
          <a:p>
            <a:pPr algn="l" marL="201168" indent="-201168">
              <a:spcAft>
                <a:spcPts val="500"/>
              </a:spcAft>
              <a:buFont typeface="Arial"/>
              <a:buChar char="•"/>
            </a:pPr>
            <a:r>
              <a:rPr sz="1400" b="0" i="0">
                <a:solidFill>
                  <a:srgbClr val="16202E"/>
                </a:solidFill>
                <a:latin typeface="Calibri"/>
              </a:rPr>
              <a:t>"Voice-like" instruments; buried vocals</a:t>
            </a:r>
          </a:p>
          <a:p>
            <a:pPr algn="l" marL="201168" indent="-201168">
              <a:spcAft>
                <a:spcPts val="500"/>
              </a:spcAft>
              <a:buFont typeface="Arial"/>
              <a:buChar char="•"/>
            </a:pPr>
            <a:r>
              <a:rPr sz="1400" b="0" i="0">
                <a:solidFill>
                  <a:srgbClr val="16202E"/>
                </a:solidFill>
                <a:latin typeface="Calibri"/>
              </a:rPr>
              <a:t>Crowd murmur with no intelligible words</a:t>
            </a:r>
          </a:p>
          <a:p>
            <a:pPr algn="l" marL="201168" indent="-201168">
              <a:spcAft>
                <a:spcPts val="500"/>
              </a:spcAft>
              <a:buFont typeface="Arial"/>
              <a:buChar char="•"/>
            </a:pPr>
            <a:r>
              <a:rPr sz="1400" b="0" i="0">
                <a:solidFill>
                  <a:srgbClr val="16202E"/>
                </a:solidFill>
                <a:latin typeface="Calibri"/>
              </a:rPr>
              <a:t>Laughing, coughing, sneezing, throat clearing, wordless crying</a:t>
            </a:r>
          </a:p>
        </p:txBody>
      </p:sp>
      <p:sp>
        <p:nvSpPr>
          <p:cNvPr id="17" name="Rounded Rectangle 16"/>
          <p:cNvSpPr/>
          <p:nvPr/>
        </p:nvSpPr>
        <p:spPr>
          <a:xfrm>
            <a:off x="548640" y="5257800"/>
            <a:ext cx="3593592" cy="91440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TextBox 17"/>
          <p:cNvSpPr txBox="1"/>
          <p:nvPr/>
        </p:nvSpPr>
        <p:spPr>
          <a:xfrm>
            <a:off x="731520" y="5303520"/>
            <a:ext cx="3246120" cy="822960"/>
          </a:xfrm>
          <a:prstGeom prst="rect">
            <a:avLst/>
          </a:prstGeom>
          <a:noFill/>
        </p:spPr>
        <p:txBody>
          <a:bodyPr wrap="square" lIns="0" rIns="0" tIns="0" bIns="0" anchor="ctr">
            <a:spAutoFit/>
          </a:bodyPr>
          <a:lstStyle/>
          <a:p>
            <a:pPr algn="l">
              <a:spcAft>
                <a:spcPts val="0"/>
              </a:spcAft>
            </a:pPr>
            <a:r>
              <a:rPr sz="1300" b="1" i="0">
                <a:solidFill>
                  <a:srgbClr val="16202E"/>
                </a:solidFill>
                <a:latin typeface="Calibri"/>
              </a:rPr>
              <a:t>Listening test: </a:t>
            </a:r>
            <a:r>
              <a:rPr sz="1300" b="0" i="0">
                <a:solidFill>
                  <a:srgbClr val="5B6472"/>
                </a:solidFill>
                <a:latin typeface="Calibri"/>
              </a:rPr>
              <a:t>One listen at normal volume, no rewinding.</a:t>
            </a:r>
          </a:p>
        </p:txBody>
      </p:sp>
      <p:sp>
        <p:nvSpPr>
          <p:cNvPr id="19" name="Rounded Rectangle 18"/>
          <p:cNvSpPr/>
          <p:nvPr/>
        </p:nvSpPr>
        <p:spPr>
          <a:xfrm>
            <a:off x="4297680" y="5257800"/>
            <a:ext cx="3593592" cy="91440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TextBox 19"/>
          <p:cNvSpPr txBox="1"/>
          <p:nvPr/>
        </p:nvSpPr>
        <p:spPr>
          <a:xfrm>
            <a:off x="4480560" y="5303520"/>
            <a:ext cx="3246120" cy="822960"/>
          </a:xfrm>
          <a:prstGeom prst="rect">
            <a:avLst/>
          </a:prstGeom>
          <a:noFill/>
        </p:spPr>
        <p:txBody>
          <a:bodyPr wrap="square" lIns="0" rIns="0" tIns="0" bIns="0" anchor="ctr">
            <a:spAutoFit/>
          </a:bodyPr>
          <a:lstStyle/>
          <a:p>
            <a:pPr algn="l">
              <a:spcAft>
                <a:spcPts val="0"/>
              </a:spcAft>
            </a:pPr>
            <a:r>
              <a:rPr sz="1300" b="1" i="0">
                <a:solidFill>
                  <a:srgbClr val="16202E"/>
                </a:solidFill>
                <a:latin typeface="Calibri"/>
              </a:rPr>
              <a:t>Undecidable: </a:t>
            </a:r>
            <a:r>
              <a:rPr sz="1300" b="0" i="0">
                <a:solidFill>
                  <a:srgbClr val="5B6472"/>
                </a:solidFill>
                <a:latin typeface="Calibri"/>
              </a:rPr>
              <a:t>Tag as "do not score" and exclude from scoring.</a:t>
            </a:r>
          </a:p>
        </p:txBody>
      </p:sp>
      <p:sp>
        <p:nvSpPr>
          <p:cNvPr id="21" name="Rounded Rectangle 20"/>
          <p:cNvSpPr/>
          <p:nvPr/>
        </p:nvSpPr>
        <p:spPr>
          <a:xfrm>
            <a:off x="8046720" y="5257800"/>
            <a:ext cx="3593592" cy="91440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TextBox 21"/>
          <p:cNvSpPr txBox="1"/>
          <p:nvPr/>
        </p:nvSpPr>
        <p:spPr>
          <a:xfrm>
            <a:off x="8229600" y="5303520"/>
            <a:ext cx="3246120" cy="822960"/>
          </a:xfrm>
          <a:prstGeom prst="rect">
            <a:avLst/>
          </a:prstGeom>
          <a:noFill/>
        </p:spPr>
        <p:txBody>
          <a:bodyPr wrap="square" lIns="0" rIns="0" tIns="0" bIns="0" anchor="ctr">
            <a:spAutoFit/>
          </a:bodyPr>
          <a:lstStyle/>
          <a:p>
            <a:pPr algn="l">
              <a:spcAft>
                <a:spcPts val="0"/>
              </a:spcAft>
            </a:pPr>
            <a:r>
              <a:rPr sz="1300" b="1" i="0">
                <a:solidFill>
                  <a:srgbClr val="16202E"/>
                </a:solidFill>
                <a:latin typeface="Calibri"/>
              </a:rPr>
              <a:t>Short gaps: </a:t>
            </a:r>
            <a:r>
              <a:rPr sz="1300" b="0" i="0">
                <a:solidFill>
                  <a:srgbClr val="5B6472"/>
                </a:solidFill>
                <a:latin typeface="Calibri"/>
              </a:rPr>
              <a:t>Silence, laughs or coughs under 500 ms between speech are merged into speech.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909827"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Landscape</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YAMNet classifies well, but each decision spans nearly 1 s</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4 / 15</a:t>
            </a:r>
          </a:p>
        </p:txBody>
      </p:sp>
      <p:graphicFrame>
        <p:nvGraphicFramePr>
          <p:cNvPr id="5" name="Chart 4"/>
          <p:cNvGraphicFramePr>
            <a:graphicFrameLocks noGrp="1"/>
          </p:cNvGraphicFramePr>
          <p:nvPr/>
        </p:nvGraphicFramePr>
        <p:xfrm>
          <a:off x="548640" y="1645920"/>
          <a:ext cx="7680960" cy="4617720"/>
        </p:xfrm>
        <a:graphic>
          <a:graphicData uri="http://schemas.openxmlformats.org/drawingml/2006/chart">
            <c:chart xmlns:c="http://schemas.openxmlformats.org/drawingml/2006/chart" r:id="rId2"/>
          </a:graphicData>
        </a:graphic>
      </p:graphicFrame>
      <p:sp>
        <p:nvSpPr>
          <p:cNvPr id="6" name="TextBox 5"/>
          <p:cNvSpPr txBox="1"/>
          <p:nvPr/>
        </p:nvSpPr>
        <p:spPr>
          <a:xfrm>
            <a:off x="8641080" y="1828800"/>
            <a:ext cx="3017520" cy="731520"/>
          </a:xfrm>
          <a:prstGeom prst="rect">
            <a:avLst/>
          </a:prstGeom>
          <a:noFill/>
        </p:spPr>
        <p:txBody>
          <a:bodyPr wrap="square" lIns="0" rIns="0" tIns="0" bIns="0" anchor="t">
            <a:spAutoFit/>
          </a:bodyPr>
          <a:lstStyle/>
          <a:p>
            <a:pPr algn="l">
              <a:spcAft>
                <a:spcPts val="0"/>
              </a:spcAft>
            </a:pPr>
            <a:r>
              <a:rPr sz="4400" b="1" i="0">
                <a:solidFill>
                  <a:srgbClr val="D9622B"/>
                </a:solidFill>
                <a:latin typeface="Cambria"/>
              </a:rPr>
              <a:t>0.96 s</a:t>
            </a:r>
          </a:p>
        </p:txBody>
      </p:sp>
      <p:sp>
        <p:nvSpPr>
          <p:cNvPr id="7" name="TextBox 6"/>
          <p:cNvSpPr txBox="1"/>
          <p:nvPr/>
        </p:nvSpPr>
        <p:spPr>
          <a:xfrm>
            <a:off x="8641080" y="2527300"/>
            <a:ext cx="3017520" cy="64008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audio window behind every YAMNet output, even with a 0.08 s hop</a:t>
            </a:r>
          </a:p>
        </p:txBody>
      </p:sp>
      <p:sp>
        <p:nvSpPr>
          <p:cNvPr id="8" name="TextBox 7"/>
          <p:cNvSpPr txBox="1"/>
          <p:nvPr/>
        </p:nvSpPr>
        <p:spPr>
          <a:xfrm>
            <a:off x="8641080" y="3429000"/>
            <a:ext cx="3017520" cy="731520"/>
          </a:xfrm>
          <a:prstGeom prst="rect">
            <a:avLst/>
          </a:prstGeom>
          <a:noFill/>
        </p:spPr>
        <p:txBody>
          <a:bodyPr wrap="square" lIns="0" rIns="0" tIns="0" bIns="0" anchor="t">
            <a:spAutoFit/>
          </a:bodyPr>
          <a:lstStyle/>
          <a:p>
            <a:pPr algn="l">
              <a:spcAft>
                <a:spcPts val="0"/>
              </a:spcAft>
            </a:pPr>
            <a:r>
              <a:rPr sz="4000" b="1" i="0">
                <a:solidFill>
                  <a:srgbClr val="16202E"/>
                </a:solidFill>
                <a:latin typeface="Cambria"/>
              </a:rPr>
              <a:t>10–32 ms</a:t>
            </a:r>
          </a:p>
        </p:txBody>
      </p:sp>
      <p:sp>
        <p:nvSpPr>
          <p:cNvPr id="9" name="TextBox 8"/>
          <p:cNvSpPr txBox="1"/>
          <p:nvPr/>
        </p:nvSpPr>
        <p:spPr>
          <a:xfrm>
            <a:off x="8641080" y="4064000"/>
            <a:ext cx="3017520" cy="64008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decision step of dedicated VAD models</a:t>
            </a:r>
          </a:p>
        </p:txBody>
      </p:sp>
      <p:sp>
        <p:nvSpPr>
          <p:cNvPr id="10" name="Rounded Rectangle 9"/>
          <p:cNvSpPr/>
          <p:nvPr/>
        </p:nvSpPr>
        <p:spPr>
          <a:xfrm>
            <a:off x="8641080" y="4892040"/>
            <a:ext cx="2999232" cy="13258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 name="TextBox 10"/>
          <p:cNvSpPr txBox="1"/>
          <p:nvPr/>
        </p:nvSpPr>
        <p:spPr>
          <a:xfrm>
            <a:off x="8823960" y="4983480"/>
            <a:ext cx="2651760" cy="1143000"/>
          </a:xfrm>
          <a:prstGeom prst="rect">
            <a:avLst/>
          </a:prstGeom>
          <a:noFill/>
        </p:spPr>
        <p:txBody>
          <a:bodyPr wrap="square" lIns="0" rIns="0" tIns="0" bIns="0" anchor="ctr">
            <a:spAutoFit/>
          </a:bodyPr>
          <a:lstStyle/>
          <a:p>
            <a:pPr algn="l">
              <a:spcAft>
                <a:spcPts val="0"/>
              </a:spcAft>
            </a:pPr>
            <a:r>
              <a:rPr sz="1300" b="1" i="0">
                <a:solidFill>
                  <a:srgbClr val="16202E"/>
                </a:solidFill>
                <a:latin typeface="Calibri"/>
              </a:rPr>
              <a:t>Consequence: </a:t>
            </a:r>
            <a:r>
              <a:rPr sz="1300" b="0" i="0">
                <a:solidFill>
                  <a:srgbClr val="16202E"/>
                </a:solidFill>
                <a:latin typeface="Calibri"/>
              </a:rPr>
              <a:t>voices are recognized very well, but speech regions get "stretched" at the edges. Fix: add a 10 ms frame-level branch.</a:t>
            </a:r>
          </a:p>
        </p:txBody>
      </p:sp>
      <p:sp>
        <p:nvSpPr>
          <p:cNvPr id="12" name="TextBox 11"/>
          <p:cNvSpPr txBox="1"/>
          <p:nvPr/>
        </p:nvSpPr>
        <p:spPr>
          <a:xfrm>
            <a:off x="548640" y="6419088"/>
            <a:ext cx="10241280" cy="274320"/>
          </a:xfrm>
          <a:prstGeom prst="rect">
            <a:avLst/>
          </a:prstGeom>
          <a:noFill/>
        </p:spPr>
        <p:txBody>
          <a:bodyPr wrap="square" lIns="0" rIns="0" tIns="0" bIns="0" anchor="t">
            <a:spAutoFit/>
          </a:bodyPr>
          <a:lstStyle/>
          <a:p>
            <a:pPr algn="l">
              <a:spcAft>
                <a:spcPts val="0"/>
              </a:spcAft>
            </a:pPr>
            <a:r>
              <a:rPr sz="1000" b="0" i="0">
                <a:solidFill>
                  <a:srgbClr val="8A93A0"/>
                </a:solidFill>
                <a:latin typeface="Calibri"/>
              </a:rPr>
              <a:t>Parameter counts and decision steps are approximate, from published sources (MarbleNet, SincQDR, TinyVAD, Silero, pyannote, YAMNet).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18414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Open problems</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Hard boundaries: masked voices and "voice-like" sounds</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5 / 15</a:t>
            </a:r>
          </a:p>
        </p:txBody>
      </p:sp>
      <p:sp>
        <p:nvSpPr>
          <p:cNvPr id="5" name="Rounded Rectangle 4"/>
          <p:cNvSpPr/>
          <p:nvPr/>
        </p:nvSpPr>
        <p:spPr>
          <a:xfrm>
            <a:off x="548640" y="1691640"/>
            <a:ext cx="5454396" cy="3611880"/>
          </a:xfrm>
          <a:prstGeom prst="roundRect">
            <a:avLst>
              <a:gd name="adj" fmla="val 6000"/>
            </a:avLst>
          </a:prstGeom>
          <a:solidFill>
            <a:srgbClr val="FCEB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822959" y="1801368"/>
            <a:ext cx="3749039" cy="411480"/>
          </a:xfrm>
          <a:prstGeom prst="rect">
            <a:avLst/>
          </a:prstGeom>
          <a:noFill/>
        </p:spPr>
        <p:txBody>
          <a:bodyPr wrap="square" lIns="0" rIns="0" tIns="0" bIns="0" anchor="t">
            <a:spAutoFit/>
          </a:bodyPr>
          <a:lstStyle/>
          <a:p>
            <a:pPr algn="l">
              <a:spcAft>
                <a:spcPts val="0"/>
              </a:spcAft>
            </a:pPr>
            <a:r>
              <a:rPr sz="1800" b="1" i="0">
                <a:solidFill>
                  <a:srgbClr val="7A1F1F"/>
                </a:solidFill>
                <a:latin typeface="Cambria"/>
              </a:rPr>
              <a:t>Easy to miss (hard positives)</a:t>
            </a:r>
          </a:p>
        </p:txBody>
      </p:sp>
      <p:sp>
        <p:nvSpPr>
          <p:cNvPr id="7" name="Rounded Rectangle 6"/>
          <p:cNvSpPr/>
          <p:nvPr/>
        </p:nvSpPr>
        <p:spPr>
          <a:xfrm>
            <a:off x="5136849" y="1856231"/>
            <a:ext cx="591866" cy="292608"/>
          </a:xfrm>
          <a:prstGeom prst="roundRect">
            <a:avLst>
              <a:gd name="adj" fmla="val 5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200" b="1">
                <a:solidFill>
                  <a:srgbClr val="7A1F1F"/>
                </a:solidFill>
                <a:latin typeface="Calibri"/>
              </a:rPr>
              <a:t>Miss</a:t>
            </a:r>
          </a:p>
        </p:txBody>
      </p:sp>
      <p:sp>
        <p:nvSpPr>
          <p:cNvPr id="8" name="Oval 7"/>
          <p:cNvSpPr/>
          <p:nvPr/>
        </p:nvSpPr>
        <p:spPr>
          <a:xfrm>
            <a:off x="822959" y="2377440"/>
            <a:ext cx="566928" cy="566928"/>
          </a:xfrm>
          <a:prstGeom prst="ellipse">
            <a:avLst/>
          </a:prstGeom>
          <a:solidFill>
            <a:srgbClr val="D03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9" name="Picture 8" descr="music_w.png"/>
          <p:cNvPicPr>
            <a:picLocks noChangeAspect="1"/>
          </p:cNvPicPr>
          <p:nvPr/>
        </p:nvPicPr>
        <p:blipFill>
          <a:blip r:embed="rId2"/>
          <a:stretch>
            <a:fillRect/>
          </a:stretch>
        </p:blipFill>
        <p:spPr>
          <a:xfrm>
            <a:off x="947684" y="2502164"/>
            <a:ext cx="317479" cy="317479"/>
          </a:xfrm>
          <a:prstGeom prst="rect">
            <a:avLst/>
          </a:prstGeom>
        </p:spPr>
      </p:pic>
      <p:sp>
        <p:nvSpPr>
          <p:cNvPr id="10" name="TextBox 9"/>
          <p:cNvSpPr txBox="1"/>
          <p:nvPr/>
        </p:nvSpPr>
        <p:spPr>
          <a:xfrm>
            <a:off x="1572768" y="2350008"/>
            <a:ext cx="4206240" cy="347472"/>
          </a:xfrm>
          <a:prstGeom prst="rect">
            <a:avLst/>
          </a:prstGeom>
          <a:noFill/>
        </p:spPr>
        <p:txBody>
          <a:bodyPr wrap="square" lIns="0" rIns="0" tIns="0" bIns="0" anchor="t">
            <a:spAutoFit/>
          </a:bodyPr>
          <a:lstStyle/>
          <a:p>
            <a:pPr algn="l">
              <a:spcAft>
                <a:spcPts val="0"/>
              </a:spcAft>
            </a:pPr>
            <a:r>
              <a:rPr sz="1600" b="1" i="0">
                <a:solidFill>
                  <a:srgbClr val="16202E"/>
                </a:solidFill>
                <a:latin typeface="Calibri"/>
              </a:rPr>
              <a:t>Speech over music</a:t>
            </a:r>
          </a:p>
        </p:txBody>
      </p:sp>
      <p:sp>
        <p:nvSpPr>
          <p:cNvPr id="11" name="TextBox 10"/>
          <p:cNvSpPr txBox="1"/>
          <p:nvPr/>
        </p:nvSpPr>
        <p:spPr>
          <a:xfrm>
            <a:off x="1572768" y="2679192"/>
            <a:ext cx="4206240" cy="347472"/>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Music masks the words</a:t>
            </a:r>
          </a:p>
        </p:txBody>
      </p:sp>
      <p:sp>
        <p:nvSpPr>
          <p:cNvPr id="12" name="Oval 11"/>
          <p:cNvSpPr/>
          <p:nvPr/>
        </p:nvSpPr>
        <p:spPr>
          <a:xfrm>
            <a:off x="822959" y="3319272"/>
            <a:ext cx="566928" cy="566928"/>
          </a:xfrm>
          <a:prstGeom prst="ellipse">
            <a:avLst/>
          </a:prstGeom>
          <a:solidFill>
            <a:srgbClr val="D03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3" name="Picture 12" descr="sing_w.png"/>
          <p:cNvPicPr>
            <a:picLocks noChangeAspect="1"/>
          </p:cNvPicPr>
          <p:nvPr/>
        </p:nvPicPr>
        <p:blipFill>
          <a:blip r:embed="rId3"/>
          <a:stretch>
            <a:fillRect/>
          </a:stretch>
        </p:blipFill>
        <p:spPr>
          <a:xfrm>
            <a:off x="947684" y="3443996"/>
            <a:ext cx="317479" cy="317479"/>
          </a:xfrm>
          <a:prstGeom prst="rect">
            <a:avLst/>
          </a:prstGeom>
        </p:spPr>
      </p:pic>
      <p:sp>
        <p:nvSpPr>
          <p:cNvPr id="14" name="TextBox 13"/>
          <p:cNvSpPr txBox="1"/>
          <p:nvPr/>
        </p:nvSpPr>
        <p:spPr>
          <a:xfrm>
            <a:off x="1572768" y="3291840"/>
            <a:ext cx="4206240" cy="347472"/>
          </a:xfrm>
          <a:prstGeom prst="rect">
            <a:avLst/>
          </a:prstGeom>
          <a:noFill/>
        </p:spPr>
        <p:txBody>
          <a:bodyPr wrap="square" lIns="0" rIns="0" tIns="0" bIns="0" anchor="t">
            <a:spAutoFit/>
          </a:bodyPr>
          <a:lstStyle/>
          <a:p>
            <a:pPr algn="l">
              <a:spcAft>
                <a:spcPts val="0"/>
              </a:spcAft>
            </a:pPr>
            <a:r>
              <a:rPr sz="1600" b="1" i="0">
                <a:solidFill>
                  <a:srgbClr val="16202E"/>
                </a:solidFill>
                <a:latin typeface="Calibri"/>
              </a:rPr>
              <a:t>Singing under accompaniment</a:t>
            </a:r>
          </a:p>
        </p:txBody>
      </p:sp>
      <p:sp>
        <p:nvSpPr>
          <p:cNvPr id="15" name="TextBox 14"/>
          <p:cNvSpPr txBox="1"/>
          <p:nvPr/>
        </p:nvSpPr>
        <p:spPr>
          <a:xfrm>
            <a:off x="1572768" y="3621024"/>
            <a:ext cx="4206240" cy="347472"/>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Vocals and instruments blend together</a:t>
            </a:r>
          </a:p>
        </p:txBody>
      </p:sp>
      <p:sp>
        <p:nvSpPr>
          <p:cNvPr id="16" name="Oval 15"/>
          <p:cNvSpPr/>
          <p:nvPr/>
        </p:nvSpPr>
        <p:spPr>
          <a:xfrm>
            <a:off x="822959" y="4261104"/>
            <a:ext cx="566928" cy="566928"/>
          </a:xfrm>
          <a:prstGeom prst="ellipse">
            <a:avLst/>
          </a:prstGeom>
          <a:solidFill>
            <a:srgbClr val="D03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7" name="Picture 16" descr="speech_w.png"/>
          <p:cNvPicPr>
            <a:picLocks noChangeAspect="1"/>
          </p:cNvPicPr>
          <p:nvPr/>
        </p:nvPicPr>
        <p:blipFill>
          <a:blip r:embed="rId4"/>
          <a:stretch>
            <a:fillRect/>
          </a:stretch>
        </p:blipFill>
        <p:spPr>
          <a:xfrm>
            <a:off x="947684" y="4385828"/>
            <a:ext cx="317479" cy="317479"/>
          </a:xfrm>
          <a:prstGeom prst="rect">
            <a:avLst/>
          </a:prstGeom>
        </p:spPr>
      </p:pic>
      <p:sp>
        <p:nvSpPr>
          <p:cNvPr id="18" name="TextBox 17"/>
          <p:cNvSpPr txBox="1"/>
          <p:nvPr/>
        </p:nvSpPr>
        <p:spPr>
          <a:xfrm>
            <a:off x="1572768" y="4233672"/>
            <a:ext cx="4206240" cy="347472"/>
          </a:xfrm>
          <a:prstGeom prst="rect">
            <a:avLst/>
          </a:prstGeom>
          <a:noFill/>
        </p:spPr>
        <p:txBody>
          <a:bodyPr wrap="square" lIns="0" rIns="0" tIns="0" bIns="0" anchor="t">
            <a:spAutoFit/>
          </a:bodyPr>
          <a:lstStyle/>
          <a:p>
            <a:pPr algn="l">
              <a:spcAft>
                <a:spcPts val="0"/>
              </a:spcAft>
            </a:pPr>
            <a:r>
              <a:rPr sz="1600" b="1" i="0">
                <a:solidFill>
                  <a:srgbClr val="16202E"/>
                </a:solidFill>
                <a:latin typeface="Calibri"/>
              </a:rPr>
              <a:t>One speaker inside a crowd</a:t>
            </a:r>
          </a:p>
        </p:txBody>
      </p:sp>
      <p:sp>
        <p:nvSpPr>
          <p:cNvPr id="19" name="TextBox 18"/>
          <p:cNvSpPr txBox="1"/>
          <p:nvPr/>
        </p:nvSpPr>
        <p:spPr>
          <a:xfrm>
            <a:off x="1572768" y="4562856"/>
            <a:ext cx="4206240" cy="347472"/>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A clear voice over crowd murmur</a:t>
            </a:r>
          </a:p>
        </p:txBody>
      </p:sp>
      <p:sp>
        <p:nvSpPr>
          <p:cNvPr id="20" name="Rounded Rectangle 19"/>
          <p:cNvSpPr/>
          <p:nvPr/>
        </p:nvSpPr>
        <p:spPr>
          <a:xfrm>
            <a:off x="6185916" y="1691640"/>
            <a:ext cx="5454396" cy="3611880"/>
          </a:xfrm>
          <a:prstGeom prst="roundRect">
            <a:avLst>
              <a:gd name="adj" fmla="val 6000"/>
            </a:avLst>
          </a:prstGeom>
          <a:solidFill>
            <a:srgbClr val="FDF3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TextBox 20"/>
          <p:cNvSpPr txBox="1"/>
          <p:nvPr/>
        </p:nvSpPr>
        <p:spPr>
          <a:xfrm>
            <a:off x="6460236" y="1801368"/>
            <a:ext cx="3749039" cy="411480"/>
          </a:xfrm>
          <a:prstGeom prst="rect">
            <a:avLst/>
          </a:prstGeom>
          <a:noFill/>
        </p:spPr>
        <p:txBody>
          <a:bodyPr wrap="square" lIns="0" rIns="0" tIns="0" bIns="0" anchor="t">
            <a:spAutoFit/>
          </a:bodyPr>
          <a:lstStyle/>
          <a:p>
            <a:pPr algn="l">
              <a:spcAft>
                <a:spcPts val="0"/>
              </a:spcAft>
            </a:pPr>
            <a:r>
              <a:rPr sz="1800" b="1" i="0">
                <a:solidFill>
                  <a:srgbClr val="7A5200"/>
                </a:solidFill>
                <a:latin typeface="Cambria"/>
              </a:rPr>
              <a:t>Easy to false-alarm (hard negatives)</a:t>
            </a:r>
          </a:p>
        </p:txBody>
      </p:sp>
      <p:sp>
        <p:nvSpPr>
          <p:cNvPr id="22" name="Rounded Rectangle 21"/>
          <p:cNvSpPr/>
          <p:nvPr/>
        </p:nvSpPr>
        <p:spPr>
          <a:xfrm>
            <a:off x="10250424" y="1856231"/>
            <a:ext cx="1115568" cy="292608"/>
          </a:xfrm>
          <a:prstGeom prst="roundRect">
            <a:avLst>
              <a:gd name="adj" fmla="val 5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200" b="1">
                <a:solidFill>
                  <a:srgbClr val="7A5200"/>
                </a:solidFill>
                <a:latin typeface="Calibri"/>
              </a:rPr>
              <a:t>False alarm</a:t>
            </a:r>
          </a:p>
        </p:txBody>
      </p:sp>
      <p:sp>
        <p:nvSpPr>
          <p:cNvPr id="23" name="Oval 22"/>
          <p:cNvSpPr/>
          <p:nvPr/>
        </p:nvSpPr>
        <p:spPr>
          <a:xfrm>
            <a:off x="6460236" y="2377440"/>
            <a:ext cx="566928" cy="566928"/>
          </a:xfrm>
          <a:prstGeom prst="ellipse">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24" name="Picture 23" descr="speech_w.png"/>
          <p:cNvPicPr>
            <a:picLocks noChangeAspect="1"/>
          </p:cNvPicPr>
          <p:nvPr/>
        </p:nvPicPr>
        <p:blipFill>
          <a:blip r:embed="rId4"/>
          <a:stretch>
            <a:fillRect/>
          </a:stretch>
        </p:blipFill>
        <p:spPr>
          <a:xfrm>
            <a:off x="6584960" y="2502164"/>
            <a:ext cx="317479" cy="317479"/>
          </a:xfrm>
          <a:prstGeom prst="rect">
            <a:avLst/>
          </a:prstGeom>
        </p:spPr>
      </p:pic>
      <p:sp>
        <p:nvSpPr>
          <p:cNvPr id="25" name="TextBox 24"/>
          <p:cNvSpPr txBox="1"/>
          <p:nvPr/>
        </p:nvSpPr>
        <p:spPr>
          <a:xfrm>
            <a:off x="7210044" y="2350008"/>
            <a:ext cx="4206240" cy="347472"/>
          </a:xfrm>
          <a:prstGeom prst="rect">
            <a:avLst/>
          </a:prstGeom>
          <a:noFill/>
        </p:spPr>
        <p:txBody>
          <a:bodyPr wrap="square" lIns="0" rIns="0" tIns="0" bIns="0" anchor="t">
            <a:spAutoFit/>
          </a:bodyPr>
          <a:lstStyle/>
          <a:p>
            <a:pPr algn="l">
              <a:spcAft>
                <a:spcPts val="0"/>
              </a:spcAft>
            </a:pPr>
            <a:r>
              <a:rPr sz="1600" b="1" i="0">
                <a:solidFill>
                  <a:srgbClr val="16202E"/>
                </a:solidFill>
                <a:latin typeface="Calibri"/>
              </a:rPr>
              <a:t>Crowd murmur, no clear words</a:t>
            </a:r>
          </a:p>
        </p:txBody>
      </p:sp>
      <p:sp>
        <p:nvSpPr>
          <p:cNvPr id="26" name="TextBox 25"/>
          <p:cNvSpPr txBox="1"/>
          <p:nvPr/>
        </p:nvSpPr>
        <p:spPr>
          <a:xfrm>
            <a:off x="7210044" y="2679192"/>
            <a:ext cx="4206240" cy="347472"/>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Human voices, but none you can follow</a:t>
            </a:r>
          </a:p>
        </p:txBody>
      </p:sp>
      <p:sp>
        <p:nvSpPr>
          <p:cNvPr id="27" name="Oval 26"/>
          <p:cNvSpPr/>
          <p:nvPr/>
        </p:nvSpPr>
        <p:spPr>
          <a:xfrm>
            <a:off x="6460236" y="3319272"/>
            <a:ext cx="566928" cy="566928"/>
          </a:xfrm>
          <a:prstGeom prst="ellipse">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28" name="Picture 27" descr="piano_w.png"/>
          <p:cNvPicPr>
            <a:picLocks noChangeAspect="1"/>
          </p:cNvPicPr>
          <p:nvPr/>
        </p:nvPicPr>
        <p:blipFill>
          <a:blip r:embed="rId5"/>
          <a:stretch>
            <a:fillRect/>
          </a:stretch>
        </p:blipFill>
        <p:spPr>
          <a:xfrm>
            <a:off x="6584960" y="3443996"/>
            <a:ext cx="317479" cy="317479"/>
          </a:xfrm>
          <a:prstGeom prst="rect">
            <a:avLst/>
          </a:prstGeom>
        </p:spPr>
      </p:pic>
      <p:sp>
        <p:nvSpPr>
          <p:cNvPr id="29" name="TextBox 28"/>
          <p:cNvSpPr txBox="1"/>
          <p:nvPr/>
        </p:nvSpPr>
        <p:spPr>
          <a:xfrm>
            <a:off x="7210044" y="3291840"/>
            <a:ext cx="4206240" cy="347472"/>
          </a:xfrm>
          <a:prstGeom prst="rect">
            <a:avLst/>
          </a:prstGeom>
          <a:noFill/>
        </p:spPr>
        <p:txBody>
          <a:bodyPr wrap="square" lIns="0" rIns="0" tIns="0" bIns="0" anchor="t">
            <a:spAutoFit/>
          </a:bodyPr>
          <a:lstStyle/>
          <a:p>
            <a:pPr algn="l">
              <a:spcAft>
                <a:spcPts val="0"/>
              </a:spcAft>
            </a:pPr>
            <a:r>
              <a:rPr sz="1600" b="1" i="0">
                <a:solidFill>
                  <a:srgbClr val="16202E"/>
                </a:solidFill>
                <a:latin typeface="Calibri"/>
              </a:rPr>
              <a:t>"Voice-like" instruments</a:t>
            </a:r>
          </a:p>
        </p:txBody>
      </p:sp>
      <p:sp>
        <p:nvSpPr>
          <p:cNvPr id="30" name="TextBox 29"/>
          <p:cNvSpPr txBox="1"/>
          <p:nvPr/>
        </p:nvSpPr>
        <p:spPr>
          <a:xfrm>
            <a:off x="7210044" y="3621024"/>
            <a:ext cx="4206240" cy="347472"/>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Violin, flute, synth with continuous pitch</a:t>
            </a:r>
          </a:p>
        </p:txBody>
      </p:sp>
      <p:sp>
        <p:nvSpPr>
          <p:cNvPr id="31" name="Oval 30"/>
          <p:cNvSpPr/>
          <p:nvPr/>
        </p:nvSpPr>
        <p:spPr>
          <a:xfrm>
            <a:off x="6460236" y="4261104"/>
            <a:ext cx="566928" cy="566928"/>
          </a:xfrm>
          <a:prstGeom prst="ellipse">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2" name="Picture 31" descr="warn_w.png"/>
          <p:cNvPicPr>
            <a:picLocks noChangeAspect="1"/>
          </p:cNvPicPr>
          <p:nvPr/>
        </p:nvPicPr>
        <p:blipFill>
          <a:blip r:embed="rId6"/>
          <a:stretch>
            <a:fillRect/>
          </a:stretch>
        </p:blipFill>
        <p:spPr>
          <a:xfrm>
            <a:off x="6584960" y="4385828"/>
            <a:ext cx="317479" cy="317479"/>
          </a:xfrm>
          <a:prstGeom prst="rect">
            <a:avLst/>
          </a:prstGeom>
        </p:spPr>
      </p:pic>
      <p:sp>
        <p:nvSpPr>
          <p:cNvPr id="33" name="TextBox 32"/>
          <p:cNvSpPr txBox="1"/>
          <p:nvPr/>
        </p:nvSpPr>
        <p:spPr>
          <a:xfrm>
            <a:off x="7210044" y="4233672"/>
            <a:ext cx="4206240" cy="347472"/>
          </a:xfrm>
          <a:prstGeom prst="rect">
            <a:avLst/>
          </a:prstGeom>
          <a:noFill/>
        </p:spPr>
        <p:txBody>
          <a:bodyPr wrap="square" lIns="0" rIns="0" tIns="0" bIns="0" anchor="t">
            <a:spAutoFit/>
          </a:bodyPr>
          <a:lstStyle/>
          <a:p>
            <a:pPr algn="l">
              <a:spcAft>
                <a:spcPts val="0"/>
              </a:spcAft>
            </a:pPr>
            <a:r>
              <a:rPr sz="1600" b="1" i="0">
                <a:solidFill>
                  <a:srgbClr val="16202E"/>
                </a:solidFill>
                <a:latin typeface="Calibri"/>
              </a:rPr>
              <a:t>Laughing, coughing, crying</a:t>
            </a:r>
          </a:p>
        </p:txBody>
      </p:sp>
      <p:sp>
        <p:nvSpPr>
          <p:cNvPr id="34" name="TextBox 33"/>
          <p:cNvSpPr txBox="1"/>
          <p:nvPr/>
        </p:nvSpPr>
        <p:spPr>
          <a:xfrm>
            <a:off x="7210044" y="4562856"/>
            <a:ext cx="4206240" cy="347472"/>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Human sounds that are not words</a:t>
            </a:r>
          </a:p>
        </p:txBody>
      </p:sp>
      <p:sp>
        <p:nvSpPr>
          <p:cNvPr id="35" name="Rounded Rectangle 34"/>
          <p:cNvSpPr/>
          <p:nvPr/>
        </p:nvSpPr>
        <p:spPr>
          <a:xfrm>
            <a:off x="548640" y="5458968"/>
            <a:ext cx="11091672" cy="73152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6" name="TextBox 35"/>
          <p:cNvSpPr txBox="1"/>
          <p:nvPr/>
        </p:nvSpPr>
        <p:spPr>
          <a:xfrm>
            <a:off x="777240" y="5458968"/>
            <a:ext cx="10698480" cy="731520"/>
          </a:xfrm>
          <a:prstGeom prst="rect">
            <a:avLst/>
          </a:prstGeom>
          <a:noFill/>
        </p:spPr>
        <p:txBody>
          <a:bodyPr wrap="square" lIns="0" rIns="0" tIns="0" bIns="0" anchor="ctr">
            <a:spAutoFit/>
          </a:bodyPr>
          <a:lstStyle/>
          <a:p>
            <a:pPr algn="l">
              <a:spcAft>
                <a:spcPts val="0"/>
              </a:spcAft>
            </a:pPr>
            <a:r>
              <a:rPr sz="1400" b="1" i="0">
                <a:solidFill>
                  <a:srgbClr val="16202E"/>
                </a:solidFill>
                <a:latin typeface="Calibri"/>
              </a:rPr>
              <a:t>For YAMNet: </a:t>
            </a:r>
            <a:r>
              <a:rPr sz="1400" b="0" i="0">
                <a:solidFill>
                  <a:srgbClr val="16202E"/>
                </a:solidFill>
                <a:latin typeface="Calibri"/>
              </a:rPr>
              <a:t>AudioSet already has Speech and Singing classes, so singing is no longer a weak spot; but pretrained models tend to give crowd noise a high Speech score.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97840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Evaluation</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Evaluate at four tiers, each catching a different kind of error</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6 / 15</a:t>
            </a:r>
          </a:p>
        </p:txBody>
      </p:sp>
      <p:sp>
        <p:nvSpPr>
          <p:cNvPr id="5" name="Rounded Rectangle 4"/>
          <p:cNvSpPr/>
          <p:nvPr/>
        </p:nvSpPr>
        <p:spPr>
          <a:xfrm>
            <a:off x="548640" y="4251960"/>
            <a:ext cx="2103120" cy="1920240"/>
          </a:xfrm>
          <a:prstGeom prst="roundRect">
            <a:avLst>
              <a:gd name="adj" fmla="val 5000"/>
            </a:avLst>
          </a:prstGeom>
          <a:solidFill>
            <a:srgbClr val="E6F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749808" y="4416552"/>
            <a:ext cx="1737360" cy="365760"/>
          </a:xfrm>
          <a:prstGeom prst="rect">
            <a:avLst/>
          </a:prstGeom>
          <a:noFill/>
        </p:spPr>
        <p:txBody>
          <a:bodyPr wrap="square" lIns="0" rIns="0" tIns="0" bIns="0" anchor="t">
            <a:spAutoFit/>
          </a:bodyPr>
          <a:lstStyle/>
          <a:p>
            <a:pPr algn="l">
              <a:spcAft>
                <a:spcPts val="0"/>
              </a:spcAft>
            </a:pPr>
            <a:r>
              <a:rPr sz="1200" b="1" i="0">
                <a:solidFill>
                  <a:srgbClr val="0A5C5B"/>
                </a:solidFill>
                <a:latin typeface="Calibri"/>
              </a:rPr>
              <a:t>Tier 1</a:t>
            </a:r>
          </a:p>
        </p:txBody>
      </p:sp>
      <p:sp>
        <p:nvSpPr>
          <p:cNvPr id="7" name="TextBox 6"/>
          <p:cNvSpPr txBox="1"/>
          <p:nvPr/>
        </p:nvSpPr>
        <p:spPr>
          <a:xfrm>
            <a:off x="749808" y="4690872"/>
            <a:ext cx="1737360" cy="411480"/>
          </a:xfrm>
          <a:prstGeom prst="rect">
            <a:avLst/>
          </a:prstGeom>
          <a:noFill/>
        </p:spPr>
        <p:txBody>
          <a:bodyPr wrap="square" lIns="0" rIns="0" tIns="0" bIns="0" anchor="t">
            <a:spAutoFit/>
          </a:bodyPr>
          <a:lstStyle/>
          <a:p>
            <a:pPr algn="l">
              <a:spcAft>
                <a:spcPts val="0"/>
              </a:spcAft>
            </a:pPr>
            <a:r>
              <a:rPr sz="1800" b="1" i="0">
                <a:solidFill>
                  <a:srgbClr val="0A5C5B"/>
                </a:solidFill>
                <a:latin typeface="Cambria"/>
              </a:rPr>
              <a:t>Discrimination</a:t>
            </a:r>
          </a:p>
        </p:txBody>
      </p:sp>
      <p:sp>
        <p:nvSpPr>
          <p:cNvPr id="8" name="TextBox 7"/>
          <p:cNvSpPr txBox="1"/>
          <p:nvPr/>
        </p:nvSpPr>
        <p:spPr>
          <a:xfrm>
            <a:off x="749808" y="5120640"/>
            <a:ext cx="1737360" cy="685800"/>
          </a:xfrm>
          <a:prstGeom prst="rect">
            <a:avLst/>
          </a:prstGeom>
          <a:noFill/>
        </p:spPr>
        <p:txBody>
          <a:bodyPr wrap="square" lIns="0" rIns="0" tIns="0" bIns="0" anchor="t">
            <a:spAutoFit/>
          </a:bodyPr>
          <a:lstStyle/>
          <a:p>
            <a:pPr algn="l">
              <a:spcAft>
                <a:spcPts val="0"/>
              </a:spcAft>
            </a:pPr>
            <a:r>
              <a:rPr sz="1300" b="1" i="0">
                <a:solidFill>
                  <a:srgbClr val="0A5C5B"/>
                </a:solidFill>
                <a:latin typeface="Calibri"/>
              </a:rPr>
              <a:t>ROC-AUC, PR-AUC</a:t>
            </a:r>
          </a:p>
        </p:txBody>
      </p:sp>
      <p:sp>
        <p:nvSpPr>
          <p:cNvPr id="9" name="TextBox 8"/>
          <p:cNvSpPr txBox="1"/>
          <p:nvPr/>
        </p:nvSpPr>
        <p:spPr>
          <a:xfrm>
            <a:off x="749808" y="5669280"/>
            <a:ext cx="1737360" cy="457200"/>
          </a:xfrm>
          <a:prstGeom prst="rect">
            <a:avLst/>
          </a:prstGeom>
          <a:noFill/>
        </p:spPr>
        <p:txBody>
          <a:bodyPr wrap="square" lIns="0" rIns="0" tIns="0" bIns="0" anchor="t">
            <a:spAutoFit/>
          </a:bodyPr>
          <a:lstStyle/>
          <a:p>
            <a:pPr algn="l">
              <a:spcAft>
                <a:spcPts val="0"/>
              </a:spcAft>
            </a:pPr>
            <a:r>
              <a:rPr sz="1200" b="0" i="0">
                <a:solidFill>
                  <a:srgbClr val="5B6472"/>
                </a:solidFill>
                <a:latin typeface="Calibri"/>
              </a:rPr>
              <a:t>Compare models, no threshold needed</a:t>
            </a:r>
          </a:p>
        </p:txBody>
      </p:sp>
      <p:sp>
        <p:nvSpPr>
          <p:cNvPr id="10" name="Rounded Rectangle 9"/>
          <p:cNvSpPr/>
          <p:nvPr/>
        </p:nvSpPr>
        <p:spPr>
          <a:xfrm>
            <a:off x="2788920" y="3630168"/>
            <a:ext cx="2103120" cy="2542032"/>
          </a:xfrm>
          <a:prstGeom prst="roundRect">
            <a:avLst>
              <a:gd name="adj" fmla="val 5000"/>
            </a:avLst>
          </a:prstGeom>
          <a:solidFill>
            <a:srgbClr val="B9E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 name="TextBox 10"/>
          <p:cNvSpPr txBox="1"/>
          <p:nvPr/>
        </p:nvSpPr>
        <p:spPr>
          <a:xfrm>
            <a:off x="2990088" y="3794759"/>
            <a:ext cx="1737360" cy="365760"/>
          </a:xfrm>
          <a:prstGeom prst="rect">
            <a:avLst/>
          </a:prstGeom>
          <a:noFill/>
        </p:spPr>
        <p:txBody>
          <a:bodyPr wrap="square" lIns="0" rIns="0" tIns="0" bIns="0" anchor="t">
            <a:spAutoFit/>
          </a:bodyPr>
          <a:lstStyle/>
          <a:p>
            <a:pPr algn="l">
              <a:spcAft>
                <a:spcPts val="0"/>
              </a:spcAft>
            </a:pPr>
            <a:r>
              <a:rPr sz="1200" b="1" i="0">
                <a:solidFill>
                  <a:srgbClr val="0A5C5B"/>
                </a:solidFill>
                <a:latin typeface="Calibri"/>
              </a:rPr>
              <a:t>Tier 2</a:t>
            </a:r>
          </a:p>
        </p:txBody>
      </p:sp>
      <p:sp>
        <p:nvSpPr>
          <p:cNvPr id="12" name="TextBox 11"/>
          <p:cNvSpPr txBox="1"/>
          <p:nvPr/>
        </p:nvSpPr>
        <p:spPr>
          <a:xfrm>
            <a:off x="2990088" y="4069079"/>
            <a:ext cx="1737360" cy="411480"/>
          </a:xfrm>
          <a:prstGeom prst="rect">
            <a:avLst/>
          </a:prstGeom>
          <a:noFill/>
        </p:spPr>
        <p:txBody>
          <a:bodyPr wrap="square" lIns="0" rIns="0" tIns="0" bIns="0" anchor="t">
            <a:spAutoFit/>
          </a:bodyPr>
          <a:lstStyle/>
          <a:p>
            <a:pPr algn="l">
              <a:spcAft>
                <a:spcPts val="0"/>
              </a:spcAft>
            </a:pPr>
            <a:r>
              <a:rPr sz="1800" b="1" i="0">
                <a:solidFill>
                  <a:srgbClr val="0A5C5B"/>
                </a:solidFill>
                <a:latin typeface="Cambria"/>
              </a:rPr>
              <a:t>Operating point</a:t>
            </a:r>
          </a:p>
        </p:txBody>
      </p:sp>
      <p:sp>
        <p:nvSpPr>
          <p:cNvPr id="13" name="TextBox 12"/>
          <p:cNvSpPr txBox="1"/>
          <p:nvPr/>
        </p:nvSpPr>
        <p:spPr>
          <a:xfrm>
            <a:off x="2990088" y="4498848"/>
            <a:ext cx="1737360" cy="685800"/>
          </a:xfrm>
          <a:prstGeom prst="rect">
            <a:avLst/>
          </a:prstGeom>
          <a:noFill/>
        </p:spPr>
        <p:txBody>
          <a:bodyPr wrap="square" lIns="0" rIns="0" tIns="0" bIns="0" anchor="t">
            <a:spAutoFit/>
          </a:bodyPr>
          <a:lstStyle/>
          <a:p>
            <a:pPr algn="l">
              <a:spcAft>
                <a:spcPts val="0"/>
              </a:spcAft>
            </a:pPr>
            <a:r>
              <a:rPr sz="1300" b="1" i="0">
                <a:solidFill>
                  <a:srgbClr val="0A5C5B"/>
                </a:solidFill>
                <a:latin typeface="Calibri"/>
              </a:rPr>
              <a:t>Duration-based Miss, FA; F1</a:t>
            </a:r>
          </a:p>
        </p:txBody>
      </p:sp>
      <p:sp>
        <p:nvSpPr>
          <p:cNvPr id="14" name="TextBox 13"/>
          <p:cNvSpPr txBox="1"/>
          <p:nvPr/>
        </p:nvSpPr>
        <p:spPr>
          <a:xfrm>
            <a:off x="2990088" y="5047488"/>
            <a:ext cx="1737360" cy="457200"/>
          </a:xfrm>
          <a:prstGeom prst="rect">
            <a:avLst/>
          </a:prstGeom>
          <a:noFill/>
        </p:spPr>
        <p:txBody>
          <a:bodyPr wrap="square" lIns="0" rIns="0" tIns="0" bIns="0" anchor="t">
            <a:spAutoFit/>
          </a:bodyPr>
          <a:lstStyle/>
          <a:p>
            <a:pPr algn="l">
              <a:spcAft>
                <a:spcPts val="0"/>
              </a:spcAft>
            </a:pPr>
            <a:r>
              <a:rPr sz="1200" b="0" i="0">
                <a:solidFill>
                  <a:srgbClr val="35514F"/>
                </a:solidFill>
                <a:latin typeface="Calibri"/>
              </a:rPr>
              <a:t>At the exact threshold shipped in the lib</a:t>
            </a:r>
          </a:p>
        </p:txBody>
      </p:sp>
      <p:sp>
        <p:nvSpPr>
          <p:cNvPr id="15" name="Rounded Rectangle 14"/>
          <p:cNvSpPr/>
          <p:nvPr/>
        </p:nvSpPr>
        <p:spPr>
          <a:xfrm>
            <a:off x="5029199" y="3008376"/>
            <a:ext cx="2103120" cy="3163824"/>
          </a:xfrm>
          <a:prstGeom prst="roundRect">
            <a:avLst>
              <a:gd name="adj" fmla="val 5000"/>
            </a:avLst>
          </a:prstGeom>
          <a:solidFill>
            <a:srgbClr val="5FB3B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5230367" y="3172968"/>
            <a:ext cx="1737360" cy="365760"/>
          </a:xfrm>
          <a:prstGeom prst="rect">
            <a:avLst/>
          </a:prstGeom>
          <a:noFill/>
        </p:spPr>
        <p:txBody>
          <a:bodyPr wrap="square" lIns="0" rIns="0" tIns="0" bIns="0" anchor="t">
            <a:spAutoFit/>
          </a:bodyPr>
          <a:lstStyle/>
          <a:p>
            <a:pPr algn="l">
              <a:spcAft>
                <a:spcPts val="0"/>
              </a:spcAft>
            </a:pPr>
            <a:r>
              <a:rPr sz="1200" b="1" i="0">
                <a:solidFill>
                  <a:srgbClr val="FFFFFF"/>
                </a:solidFill>
                <a:latin typeface="Calibri"/>
              </a:rPr>
              <a:t>Tier 3</a:t>
            </a:r>
          </a:p>
        </p:txBody>
      </p:sp>
      <p:sp>
        <p:nvSpPr>
          <p:cNvPr id="17" name="TextBox 16"/>
          <p:cNvSpPr txBox="1"/>
          <p:nvPr/>
        </p:nvSpPr>
        <p:spPr>
          <a:xfrm>
            <a:off x="5230367" y="3447288"/>
            <a:ext cx="1737360" cy="411480"/>
          </a:xfrm>
          <a:prstGeom prst="rect">
            <a:avLst/>
          </a:prstGeom>
          <a:noFill/>
        </p:spPr>
        <p:txBody>
          <a:bodyPr wrap="square" lIns="0" rIns="0" tIns="0" bIns="0" anchor="t">
            <a:spAutoFit/>
          </a:bodyPr>
          <a:lstStyle/>
          <a:p>
            <a:pPr algn="l">
              <a:spcAft>
                <a:spcPts val="0"/>
              </a:spcAft>
            </a:pPr>
            <a:r>
              <a:rPr sz="1800" b="1" i="0">
                <a:solidFill>
                  <a:srgbClr val="FFFFFF"/>
                </a:solidFill>
                <a:latin typeface="Cambria"/>
              </a:rPr>
              <a:t>Boundaries</a:t>
            </a:r>
          </a:p>
        </p:txBody>
      </p:sp>
      <p:sp>
        <p:nvSpPr>
          <p:cNvPr id="18" name="TextBox 17"/>
          <p:cNvSpPr txBox="1"/>
          <p:nvPr/>
        </p:nvSpPr>
        <p:spPr>
          <a:xfrm>
            <a:off x="5230367" y="3877056"/>
            <a:ext cx="1737360" cy="685800"/>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Collar ≥ 0.25 s; onset/offset error P90</a:t>
            </a:r>
          </a:p>
        </p:txBody>
      </p:sp>
      <p:sp>
        <p:nvSpPr>
          <p:cNvPr id="19" name="TextBox 18"/>
          <p:cNvSpPr txBox="1"/>
          <p:nvPr/>
        </p:nvSpPr>
        <p:spPr>
          <a:xfrm>
            <a:off x="5230367" y="4425696"/>
            <a:ext cx="1737360" cy="457200"/>
          </a:xfrm>
          <a:prstGeom prst="rect">
            <a:avLst/>
          </a:prstGeom>
          <a:noFill/>
        </p:spPr>
        <p:txBody>
          <a:bodyPr wrap="square" lIns="0" rIns="0" tIns="0" bIns="0" anchor="t">
            <a:spAutoFit/>
          </a:bodyPr>
          <a:lstStyle/>
          <a:p>
            <a:pPr algn="l">
              <a:spcAft>
                <a:spcPts val="0"/>
              </a:spcAft>
            </a:pPr>
            <a:r>
              <a:rPr sz="1200" b="0" i="0">
                <a:solidFill>
                  <a:srgbClr val="F0FAFA"/>
                </a:solidFill>
                <a:latin typeface="Calibri"/>
              </a:rPr>
              <a:t>Catches "stretched" boundaries</a:t>
            </a:r>
          </a:p>
        </p:txBody>
      </p:sp>
      <p:sp>
        <p:nvSpPr>
          <p:cNvPr id="20" name="Rounded Rectangle 19"/>
          <p:cNvSpPr/>
          <p:nvPr/>
        </p:nvSpPr>
        <p:spPr>
          <a:xfrm>
            <a:off x="7269479" y="2386583"/>
            <a:ext cx="2103120" cy="3785616"/>
          </a:xfrm>
          <a:prstGeom prst="roundRect">
            <a:avLst>
              <a:gd name="adj" fmla="val 5000"/>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TextBox 20"/>
          <p:cNvSpPr txBox="1"/>
          <p:nvPr/>
        </p:nvSpPr>
        <p:spPr>
          <a:xfrm>
            <a:off x="7470648" y="2551175"/>
            <a:ext cx="1737360" cy="365760"/>
          </a:xfrm>
          <a:prstGeom prst="rect">
            <a:avLst/>
          </a:prstGeom>
          <a:noFill/>
        </p:spPr>
        <p:txBody>
          <a:bodyPr wrap="square" lIns="0" rIns="0" tIns="0" bIns="0" anchor="t">
            <a:spAutoFit/>
          </a:bodyPr>
          <a:lstStyle/>
          <a:p>
            <a:pPr algn="l">
              <a:spcAft>
                <a:spcPts val="0"/>
              </a:spcAft>
            </a:pPr>
            <a:r>
              <a:rPr sz="1200" b="1" i="0">
                <a:solidFill>
                  <a:srgbClr val="FFFFFF"/>
                </a:solidFill>
                <a:latin typeface="Calibri"/>
              </a:rPr>
              <a:t>Tier 4</a:t>
            </a:r>
          </a:p>
        </p:txBody>
      </p:sp>
      <p:sp>
        <p:nvSpPr>
          <p:cNvPr id="22" name="TextBox 21"/>
          <p:cNvSpPr txBox="1"/>
          <p:nvPr/>
        </p:nvSpPr>
        <p:spPr>
          <a:xfrm>
            <a:off x="7470648" y="2825495"/>
            <a:ext cx="1737360" cy="411480"/>
          </a:xfrm>
          <a:prstGeom prst="rect">
            <a:avLst/>
          </a:prstGeom>
          <a:noFill/>
        </p:spPr>
        <p:txBody>
          <a:bodyPr wrap="square" lIns="0" rIns="0" tIns="0" bIns="0" anchor="t">
            <a:spAutoFit/>
          </a:bodyPr>
          <a:lstStyle/>
          <a:p>
            <a:pPr algn="l">
              <a:spcAft>
                <a:spcPts val="0"/>
              </a:spcAft>
            </a:pPr>
            <a:r>
              <a:rPr sz="1800" b="1" i="0">
                <a:solidFill>
                  <a:srgbClr val="FFFFFF"/>
                </a:solidFill>
                <a:latin typeface="Cambria"/>
              </a:rPr>
              <a:t>Per slice</a:t>
            </a:r>
          </a:p>
        </p:txBody>
      </p:sp>
      <p:sp>
        <p:nvSpPr>
          <p:cNvPr id="23" name="TextBox 22"/>
          <p:cNvSpPr txBox="1"/>
          <p:nvPr/>
        </p:nvSpPr>
        <p:spPr>
          <a:xfrm>
            <a:off x="7470648" y="3255263"/>
            <a:ext cx="1737360" cy="685800"/>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Singing, crowd, music, laughs/coughs, low SNR</a:t>
            </a:r>
          </a:p>
        </p:txBody>
      </p:sp>
      <p:sp>
        <p:nvSpPr>
          <p:cNvPr id="24" name="TextBox 23"/>
          <p:cNvSpPr txBox="1"/>
          <p:nvPr/>
        </p:nvSpPr>
        <p:spPr>
          <a:xfrm>
            <a:off x="7470648" y="3803903"/>
            <a:ext cx="1737360" cy="457200"/>
          </a:xfrm>
          <a:prstGeom prst="rect">
            <a:avLst/>
          </a:prstGeom>
          <a:noFill/>
        </p:spPr>
        <p:txBody>
          <a:bodyPr wrap="square" lIns="0" rIns="0" tIns="0" bIns="0" anchor="t">
            <a:spAutoFit/>
          </a:bodyPr>
          <a:lstStyle/>
          <a:p>
            <a:pPr algn="l">
              <a:spcAft>
                <a:spcPts val="0"/>
              </a:spcAft>
            </a:pPr>
            <a:r>
              <a:rPr sz="1200" b="0" i="0">
                <a:solidFill>
                  <a:srgbClr val="E3F4F3"/>
                </a:solidFill>
                <a:latin typeface="Calibri"/>
              </a:rPr>
              <a:t>Always report the worst slice</a:t>
            </a:r>
          </a:p>
        </p:txBody>
      </p:sp>
      <p:sp>
        <p:nvSpPr>
          <p:cNvPr id="25" name="Rounded Rectangle 24"/>
          <p:cNvSpPr/>
          <p:nvPr/>
        </p:nvSpPr>
        <p:spPr>
          <a:xfrm>
            <a:off x="9509760" y="2788920"/>
            <a:ext cx="2130552" cy="3383280"/>
          </a:xfrm>
          <a:prstGeom prst="roundRect">
            <a:avLst>
              <a:gd name="adj" fmla="val 5000"/>
            </a:avLst>
          </a:prstGeom>
          <a:solidFill>
            <a:srgbClr val="FFFFFF"/>
          </a:solidFill>
          <a:ln w="12700">
            <a:solidFill>
              <a:srgbClr val="DDE2E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Oval 25"/>
          <p:cNvSpPr/>
          <p:nvPr/>
        </p:nvSpPr>
        <p:spPr>
          <a:xfrm>
            <a:off x="9738360" y="3017520"/>
            <a:ext cx="548640" cy="548640"/>
          </a:xfrm>
          <a:prstGeom prst="ellipse">
            <a:avLst/>
          </a:prstGeom>
          <a:solidFill>
            <a:srgbClr val="162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27" name="Picture 26" descr="speed_w.png"/>
          <p:cNvPicPr>
            <a:picLocks noChangeAspect="1"/>
          </p:cNvPicPr>
          <p:nvPr/>
        </p:nvPicPr>
        <p:blipFill>
          <a:blip r:embed="rId2"/>
          <a:stretch>
            <a:fillRect/>
          </a:stretch>
        </p:blipFill>
        <p:spPr>
          <a:xfrm>
            <a:off x="9859060" y="3138220"/>
            <a:ext cx="307238" cy="307238"/>
          </a:xfrm>
          <a:prstGeom prst="rect">
            <a:avLst/>
          </a:prstGeom>
        </p:spPr>
      </p:pic>
      <p:sp>
        <p:nvSpPr>
          <p:cNvPr id="28" name="TextBox 27"/>
          <p:cNvSpPr txBox="1"/>
          <p:nvPr/>
        </p:nvSpPr>
        <p:spPr>
          <a:xfrm>
            <a:off x="9738360" y="3703320"/>
            <a:ext cx="1783080" cy="411480"/>
          </a:xfrm>
          <a:prstGeom prst="rect">
            <a:avLst/>
          </a:prstGeom>
          <a:noFill/>
        </p:spPr>
        <p:txBody>
          <a:bodyPr wrap="square" lIns="0" rIns="0" tIns="0" bIns="0" anchor="t">
            <a:spAutoFit/>
          </a:bodyPr>
          <a:lstStyle/>
          <a:p>
            <a:pPr algn="l">
              <a:spcAft>
                <a:spcPts val="0"/>
              </a:spcAft>
            </a:pPr>
            <a:r>
              <a:rPr sz="1800" b="1" i="0">
                <a:solidFill>
                  <a:srgbClr val="16202E"/>
                </a:solidFill>
                <a:latin typeface="Cambria"/>
              </a:rPr>
              <a:t>System</a:t>
            </a:r>
          </a:p>
        </p:txBody>
      </p:sp>
      <p:sp>
        <p:nvSpPr>
          <p:cNvPr id="29" name="TextBox 28"/>
          <p:cNvSpPr txBox="1"/>
          <p:nvPr/>
        </p:nvSpPr>
        <p:spPr>
          <a:xfrm>
            <a:off x="9738360" y="4114800"/>
            <a:ext cx="1783080" cy="1920240"/>
          </a:xfrm>
          <a:prstGeom prst="rect">
            <a:avLst/>
          </a:prstGeom>
          <a:noFill/>
        </p:spPr>
        <p:txBody>
          <a:bodyPr wrap="square" lIns="0" rIns="0" tIns="0" bIns="0" anchor="t">
            <a:spAutoFit/>
          </a:bodyPr>
          <a:lstStyle/>
          <a:p>
            <a:pPr algn="l" marL="201168" indent="-201168">
              <a:spcAft>
                <a:spcPts val="400"/>
              </a:spcAft>
              <a:buFont typeface="Arial"/>
              <a:buChar char="•"/>
            </a:pPr>
            <a:r>
              <a:rPr sz="1300" b="0" i="0">
                <a:solidFill>
                  <a:srgbClr val="5B6472"/>
                </a:solidFill>
                <a:latin typeface="Calibri"/>
              </a:rPr>
              <a:t>RTF</a:t>
            </a:r>
          </a:p>
          <a:p>
            <a:pPr algn="l" marL="201168" indent="-201168">
              <a:spcAft>
                <a:spcPts val="400"/>
              </a:spcAft>
              <a:buFont typeface="Arial"/>
              <a:buChar char="•"/>
            </a:pPr>
            <a:r>
              <a:rPr sz="1300" b="0" i="0">
                <a:solidFill>
                  <a:srgbClr val="5B6472"/>
                </a:solidFill>
                <a:latin typeface="Calibri"/>
              </a:rPr>
              <a:t>CPU, power</a:t>
            </a:r>
          </a:p>
          <a:p>
            <a:pPr algn="l" marL="201168" indent="-201168">
              <a:spcAft>
                <a:spcPts val="400"/>
              </a:spcAft>
              <a:buFont typeface="Arial"/>
              <a:buChar char="•"/>
            </a:pPr>
            <a:r>
              <a:rPr sz="1300" b="0" i="0">
                <a:solidFill>
                  <a:srgbClr val="5B6472"/>
                </a:solidFill>
                <a:latin typeface="Calibri"/>
              </a:rPr>
              <a:t>Peak memory</a:t>
            </a:r>
          </a:p>
          <a:p>
            <a:pPr algn="l" marL="201168" indent="-201168">
              <a:spcAft>
                <a:spcPts val="400"/>
              </a:spcAft>
              <a:buFont typeface="Arial"/>
              <a:buChar char="•"/>
            </a:pPr>
            <a:r>
              <a:rPr sz="1300" b="0" i="0">
                <a:solidFill>
                  <a:srgbClr val="5B6472"/>
                </a:solidFill>
                <a:latin typeface="Calibri"/>
              </a:rPr>
              <a:t>lib.so size</a:t>
            </a:r>
          </a:p>
        </p:txBody>
      </p:sp>
      <p:sp>
        <p:nvSpPr>
          <p:cNvPr id="30" name="TextBox 29"/>
          <p:cNvSpPr txBox="1"/>
          <p:nvPr/>
        </p:nvSpPr>
        <p:spPr>
          <a:xfrm>
            <a:off x="548640" y="1691640"/>
            <a:ext cx="11091672" cy="411480"/>
          </a:xfrm>
          <a:prstGeom prst="rect">
            <a:avLst/>
          </a:prstGeom>
          <a:noFill/>
        </p:spPr>
        <p:txBody>
          <a:bodyPr wrap="square" lIns="0" rIns="0" tIns="0" bIns="0" anchor="t">
            <a:spAutoFit/>
          </a:bodyPr>
          <a:lstStyle/>
          <a:p>
            <a:pPr algn="l">
              <a:spcAft>
                <a:spcPts val="0"/>
              </a:spcAft>
            </a:pPr>
            <a:r>
              <a:rPr sz="1500" b="0" i="0">
                <a:solidFill>
                  <a:srgbClr val="5B6472"/>
                </a:solidFill>
                <a:latin typeface="Calibri"/>
              </a:rPr>
              <a:t>Higher tiers are closer to real experience: AUC does not change with the threshold, but users feel tiers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97840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Evaluation</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The test set must cover every kind of audio the model receives</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7 / 15</a:t>
            </a:r>
          </a:p>
        </p:txBody>
      </p:sp>
      <p:sp>
        <p:nvSpPr>
          <p:cNvPr id="5" name="Rounded Rectangle 4"/>
          <p:cNvSpPr/>
          <p:nvPr/>
        </p:nvSpPr>
        <p:spPr>
          <a:xfrm>
            <a:off x="548640" y="1737360"/>
            <a:ext cx="4206240" cy="13258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Oval 5"/>
          <p:cNvSpPr/>
          <p:nvPr/>
        </p:nvSpPr>
        <p:spPr>
          <a:xfrm>
            <a:off x="749808" y="1938528"/>
            <a:ext cx="530352" cy="53035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7" name="Picture 6" descr="insights_w.png"/>
          <p:cNvPicPr>
            <a:picLocks noChangeAspect="1"/>
          </p:cNvPicPr>
          <p:nvPr/>
        </p:nvPicPr>
        <p:blipFill>
          <a:blip r:embed="rId2"/>
          <a:stretch>
            <a:fillRect/>
          </a:stretch>
        </p:blipFill>
        <p:spPr>
          <a:xfrm>
            <a:off x="866485" y="2055205"/>
            <a:ext cx="296997" cy="296997"/>
          </a:xfrm>
          <a:prstGeom prst="rect">
            <a:avLst/>
          </a:prstGeom>
        </p:spPr>
      </p:pic>
      <p:sp>
        <p:nvSpPr>
          <p:cNvPr id="8" name="TextBox 7"/>
          <p:cNvSpPr txBox="1"/>
          <p:nvPr/>
        </p:nvSpPr>
        <p:spPr>
          <a:xfrm>
            <a:off x="1463040" y="1901952"/>
            <a:ext cx="3154679"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Representative set</a:t>
            </a:r>
          </a:p>
        </p:txBody>
      </p:sp>
      <p:sp>
        <p:nvSpPr>
          <p:cNvPr id="9" name="TextBox 8"/>
          <p:cNvSpPr txBox="1"/>
          <p:nvPr/>
        </p:nvSpPr>
        <p:spPr>
          <a:xfrm>
            <a:off x="1463040" y="2267712"/>
            <a:ext cx="3108959" cy="77724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Randomly sampled from real app files at true proportions. The overall number reflects user experience.</a:t>
            </a:r>
          </a:p>
        </p:txBody>
      </p:sp>
      <p:sp>
        <p:nvSpPr>
          <p:cNvPr id="10" name="Rounded Rectangle 9"/>
          <p:cNvSpPr/>
          <p:nvPr/>
        </p:nvSpPr>
        <p:spPr>
          <a:xfrm>
            <a:off x="548640" y="3200400"/>
            <a:ext cx="4206240" cy="13258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 name="Oval 10"/>
          <p:cNvSpPr/>
          <p:nvPr/>
        </p:nvSpPr>
        <p:spPr>
          <a:xfrm>
            <a:off x="749808" y="3401568"/>
            <a:ext cx="530352" cy="53035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2" name="Picture 11" descr="tune_w.png"/>
          <p:cNvPicPr>
            <a:picLocks noChangeAspect="1"/>
          </p:cNvPicPr>
          <p:nvPr/>
        </p:nvPicPr>
        <p:blipFill>
          <a:blip r:embed="rId3"/>
          <a:stretch>
            <a:fillRect/>
          </a:stretch>
        </p:blipFill>
        <p:spPr>
          <a:xfrm>
            <a:off x="866485" y="3518245"/>
            <a:ext cx="296997" cy="296997"/>
          </a:xfrm>
          <a:prstGeom prst="rect">
            <a:avLst/>
          </a:prstGeom>
        </p:spPr>
      </p:pic>
      <p:sp>
        <p:nvSpPr>
          <p:cNvPr id="13" name="TextBox 12"/>
          <p:cNvSpPr txBox="1"/>
          <p:nvPr/>
        </p:nvSpPr>
        <p:spPr>
          <a:xfrm>
            <a:off x="1463040" y="3364992"/>
            <a:ext cx="3154679"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Sliced set</a:t>
            </a:r>
          </a:p>
        </p:txBody>
      </p:sp>
      <p:sp>
        <p:nvSpPr>
          <p:cNvPr id="14" name="TextBox 13"/>
          <p:cNvSpPr txBox="1"/>
          <p:nvPr/>
        </p:nvSpPr>
        <p:spPr>
          <a:xfrm>
            <a:off x="1463040" y="3730752"/>
            <a:ext cx="3108959" cy="77724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Enough samples per condition, rare ones included. Shows where the model is weak.</a:t>
            </a:r>
          </a:p>
        </p:txBody>
      </p:sp>
      <p:sp>
        <p:nvSpPr>
          <p:cNvPr id="15" name="Rounded Rectangle 14"/>
          <p:cNvSpPr/>
          <p:nvPr/>
        </p:nvSpPr>
        <p:spPr>
          <a:xfrm>
            <a:off x="548640" y="4709160"/>
            <a:ext cx="4206240" cy="1463040"/>
          </a:xfrm>
          <a:prstGeom prst="roundRect">
            <a:avLst>
              <a:gd name="adj" fmla="val 6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777240" y="4800600"/>
            <a:ext cx="3749039" cy="320040"/>
          </a:xfrm>
          <a:prstGeom prst="rect">
            <a:avLst/>
          </a:prstGeom>
          <a:noFill/>
        </p:spPr>
        <p:txBody>
          <a:bodyPr wrap="square" lIns="0" rIns="0" tIns="0" bIns="0" anchor="t">
            <a:spAutoFit/>
          </a:bodyPr>
          <a:lstStyle/>
          <a:p>
            <a:pPr algn="l">
              <a:spcAft>
                <a:spcPts val="0"/>
              </a:spcAft>
            </a:pPr>
            <a:r>
              <a:rPr sz="1400" b="1" i="0">
                <a:solidFill>
                  <a:srgbClr val="0A5C5B"/>
                </a:solidFill>
                <a:latin typeface="Calibri"/>
              </a:rPr>
              <a:t>Weighted overall score</a:t>
            </a:r>
          </a:p>
        </p:txBody>
      </p:sp>
      <p:sp>
        <p:nvSpPr>
          <p:cNvPr id="17" name="TextBox 16"/>
          <p:cNvSpPr txBox="1"/>
          <p:nvPr/>
        </p:nvSpPr>
        <p:spPr>
          <a:xfrm>
            <a:off x="777240" y="5138928"/>
            <a:ext cx="3749039" cy="411480"/>
          </a:xfrm>
          <a:prstGeom prst="rect">
            <a:avLst/>
          </a:prstGeom>
          <a:noFill/>
        </p:spPr>
        <p:txBody>
          <a:bodyPr wrap="square" lIns="0" rIns="0" tIns="0" bIns="0" anchor="t">
            <a:spAutoFit/>
          </a:bodyPr>
          <a:lstStyle/>
          <a:p>
            <a:pPr algn="l">
              <a:spcAft>
                <a:spcPts val="0"/>
              </a:spcAft>
            </a:pPr>
            <a:r>
              <a:rPr sz="1800" b="1" i="0">
                <a:solidFill>
                  <a:srgbClr val="0A5C5B"/>
                </a:solidFill>
                <a:latin typeface="Cambria"/>
              </a:rPr>
              <a:t>Σ real share × slice metric</a:t>
            </a:r>
          </a:p>
        </p:txBody>
      </p:sp>
      <p:sp>
        <p:nvSpPr>
          <p:cNvPr id="18" name="TextBox 17"/>
          <p:cNvSpPr txBox="1"/>
          <p:nvPr/>
        </p:nvSpPr>
        <p:spPr>
          <a:xfrm>
            <a:off x="777240" y="5596128"/>
            <a:ext cx="3749039" cy="548640"/>
          </a:xfrm>
          <a:prstGeom prst="rect">
            <a:avLst/>
          </a:prstGeom>
          <a:noFill/>
        </p:spPr>
        <p:txBody>
          <a:bodyPr wrap="square" lIns="0" rIns="0" tIns="0" bIns="0" anchor="t">
            <a:spAutoFit/>
          </a:bodyPr>
          <a:lstStyle/>
          <a:p>
            <a:pPr algn="l">
              <a:spcAft>
                <a:spcPts val="0"/>
              </a:spcAft>
            </a:pPr>
            <a:r>
              <a:rPr sz="1200" b="0" i="0">
                <a:solidFill>
                  <a:srgbClr val="0A5C5B"/>
                </a:solidFill>
                <a:latin typeface="Calibri"/>
              </a:rPr>
              <a:t>Oversampling rare slices does not skew the overall number.</a:t>
            </a:r>
          </a:p>
        </p:txBody>
      </p:sp>
      <p:sp>
        <p:nvSpPr>
          <p:cNvPr id="19" name="TextBox 18"/>
          <p:cNvSpPr txBox="1"/>
          <p:nvPr/>
        </p:nvSpPr>
        <p:spPr>
          <a:xfrm>
            <a:off x="5120640" y="1691640"/>
            <a:ext cx="6492240" cy="320040"/>
          </a:xfrm>
          <a:prstGeom prst="rect">
            <a:avLst/>
          </a:prstGeom>
          <a:noFill/>
        </p:spPr>
        <p:txBody>
          <a:bodyPr wrap="square" lIns="0" rIns="0" tIns="0" bIns="0" anchor="t">
            <a:spAutoFit/>
          </a:bodyPr>
          <a:lstStyle/>
          <a:p>
            <a:pPr algn="l">
              <a:spcAft>
                <a:spcPts val="0"/>
              </a:spcAft>
            </a:pPr>
            <a:r>
              <a:rPr sz="1400" b="1" i="0">
                <a:solidFill>
                  <a:srgbClr val="16202E"/>
                </a:solidFill>
                <a:latin typeface="Calibri"/>
              </a:rPr>
              <a:t>Voice type × acoustic condition</a:t>
            </a:r>
          </a:p>
        </p:txBody>
      </p:sp>
      <p:sp>
        <p:nvSpPr>
          <p:cNvPr id="20" name="TextBox 19"/>
          <p:cNvSpPr txBox="1"/>
          <p:nvPr/>
        </p:nvSpPr>
        <p:spPr>
          <a:xfrm>
            <a:off x="6903720" y="2057400"/>
            <a:ext cx="947318" cy="32004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Clean</a:t>
            </a:r>
          </a:p>
        </p:txBody>
      </p:sp>
      <p:sp>
        <p:nvSpPr>
          <p:cNvPr id="21" name="TextBox 20"/>
          <p:cNvSpPr txBox="1"/>
          <p:nvPr/>
        </p:nvSpPr>
        <p:spPr>
          <a:xfrm>
            <a:off x="7851038" y="2057400"/>
            <a:ext cx="947318" cy="32004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Music bed</a:t>
            </a:r>
          </a:p>
        </p:txBody>
      </p:sp>
      <p:sp>
        <p:nvSpPr>
          <p:cNvPr id="22" name="TextBox 21"/>
          <p:cNvSpPr txBox="1"/>
          <p:nvPr/>
        </p:nvSpPr>
        <p:spPr>
          <a:xfrm>
            <a:off x="8798356" y="2057400"/>
            <a:ext cx="947318" cy="32004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Noise</a:t>
            </a:r>
          </a:p>
        </p:txBody>
      </p:sp>
      <p:sp>
        <p:nvSpPr>
          <p:cNvPr id="23" name="TextBox 22"/>
          <p:cNvSpPr txBox="1"/>
          <p:nvPr/>
        </p:nvSpPr>
        <p:spPr>
          <a:xfrm>
            <a:off x="9745675" y="2057400"/>
            <a:ext cx="947318" cy="32004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Reverb</a:t>
            </a:r>
          </a:p>
        </p:txBody>
      </p:sp>
      <p:sp>
        <p:nvSpPr>
          <p:cNvPr id="24" name="TextBox 23"/>
          <p:cNvSpPr txBox="1"/>
          <p:nvPr/>
        </p:nvSpPr>
        <p:spPr>
          <a:xfrm>
            <a:off x="10692993" y="2057400"/>
            <a:ext cx="947318" cy="32004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Compressed</a:t>
            </a:r>
          </a:p>
        </p:txBody>
      </p:sp>
      <p:sp>
        <p:nvSpPr>
          <p:cNvPr id="25" name="TextBox 24"/>
          <p:cNvSpPr txBox="1"/>
          <p:nvPr/>
        </p:nvSpPr>
        <p:spPr>
          <a:xfrm>
            <a:off x="5120640" y="2423160"/>
            <a:ext cx="1691639" cy="493776"/>
          </a:xfrm>
          <a:prstGeom prst="rect">
            <a:avLst/>
          </a:prstGeom>
          <a:noFill/>
        </p:spPr>
        <p:txBody>
          <a:bodyPr wrap="square" lIns="0" rIns="0" tIns="0" bIns="0" anchor="ctr">
            <a:spAutoFit/>
          </a:bodyPr>
          <a:lstStyle/>
          <a:p>
            <a:pPr algn="l">
              <a:spcAft>
                <a:spcPts val="0"/>
              </a:spcAft>
            </a:pPr>
            <a:r>
              <a:rPr sz="1200" b="0" i="0">
                <a:solidFill>
                  <a:srgbClr val="16202E"/>
                </a:solidFill>
                <a:latin typeface="Calibri"/>
              </a:rPr>
              <a:t>Single speaker</a:t>
            </a:r>
          </a:p>
        </p:txBody>
      </p:sp>
      <p:sp>
        <p:nvSpPr>
          <p:cNvPr id="26" name="Rounded Rectangle 25"/>
          <p:cNvSpPr/>
          <p:nvPr/>
        </p:nvSpPr>
        <p:spPr>
          <a:xfrm>
            <a:off x="6940296" y="242316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7" name="Rounded Rectangle 26"/>
          <p:cNvSpPr/>
          <p:nvPr/>
        </p:nvSpPr>
        <p:spPr>
          <a:xfrm>
            <a:off x="7887614" y="242316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Rounded Rectangle 27"/>
          <p:cNvSpPr/>
          <p:nvPr/>
        </p:nvSpPr>
        <p:spPr>
          <a:xfrm>
            <a:off x="8834932" y="242316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9" name="Rounded Rectangle 28"/>
          <p:cNvSpPr/>
          <p:nvPr/>
        </p:nvSpPr>
        <p:spPr>
          <a:xfrm>
            <a:off x="9782251" y="242316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0" name="Rounded Rectangle 29"/>
          <p:cNvSpPr/>
          <p:nvPr/>
        </p:nvSpPr>
        <p:spPr>
          <a:xfrm>
            <a:off x="10729569" y="242316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1" name="TextBox 30"/>
          <p:cNvSpPr txBox="1"/>
          <p:nvPr/>
        </p:nvSpPr>
        <p:spPr>
          <a:xfrm>
            <a:off x="5120640" y="2971800"/>
            <a:ext cx="1691639" cy="493776"/>
          </a:xfrm>
          <a:prstGeom prst="rect">
            <a:avLst/>
          </a:prstGeom>
          <a:noFill/>
        </p:spPr>
        <p:txBody>
          <a:bodyPr wrap="square" lIns="0" rIns="0" tIns="0" bIns="0" anchor="ctr">
            <a:spAutoFit/>
          </a:bodyPr>
          <a:lstStyle/>
          <a:p>
            <a:pPr algn="l">
              <a:spcAft>
                <a:spcPts val="0"/>
              </a:spcAft>
            </a:pPr>
            <a:r>
              <a:rPr sz="1200" b="0" i="0">
                <a:solidFill>
                  <a:srgbClr val="16202E"/>
                </a:solidFill>
                <a:latin typeface="Calibri"/>
              </a:rPr>
              <a:t>Conversation, overlap</a:t>
            </a:r>
          </a:p>
        </p:txBody>
      </p:sp>
      <p:sp>
        <p:nvSpPr>
          <p:cNvPr id="32" name="Rounded Rectangle 31"/>
          <p:cNvSpPr/>
          <p:nvPr/>
        </p:nvSpPr>
        <p:spPr>
          <a:xfrm>
            <a:off x="6940296" y="297180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3" name="Rounded Rectangle 32"/>
          <p:cNvSpPr/>
          <p:nvPr/>
        </p:nvSpPr>
        <p:spPr>
          <a:xfrm>
            <a:off x="7887614" y="297180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4" name="Rounded Rectangle 33"/>
          <p:cNvSpPr/>
          <p:nvPr/>
        </p:nvSpPr>
        <p:spPr>
          <a:xfrm>
            <a:off x="8834932" y="297180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5" name="Rounded Rectangle 34"/>
          <p:cNvSpPr/>
          <p:nvPr/>
        </p:nvSpPr>
        <p:spPr>
          <a:xfrm>
            <a:off x="9782251" y="297180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6" name="Rounded Rectangle 35"/>
          <p:cNvSpPr/>
          <p:nvPr/>
        </p:nvSpPr>
        <p:spPr>
          <a:xfrm>
            <a:off x="10729569" y="297180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7" name="TextBox 36"/>
          <p:cNvSpPr txBox="1"/>
          <p:nvPr/>
        </p:nvSpPr>
        <p:spPr>
          <a:xfrm>
            <a:off x="5120640" y="3520440"/>
            <a:ext cx="1691639" cy="493776"/>
          </a:xfrm>
          <a:prstGeom prst="rect">
            <a:avLst/>
          </a:prstGeom>
          <a:noFill/>
        </p:spPr>
        <p:txBody>
          <a:bodyPr wrap="square" lIns="0" rIns="0" tIns="0" bIns="0" anchor="ctr">
            <a:spAutoFit/>
          </a:bodyPr>
          <a:lstStyle/>
          <a:p>
            <a:pPr algn="l">
              <a:spcAft>
                <a:spcPts val="0"/>
              </a:spcAft>
            </a:pPr>
            <a:r>
              <a:rPr sz="1200" b="0" i="0">
                <a:solidFill>
                  <a:srgbClr val="16202E"/>
                </a:solidFill>
                <a:latin typeface="Calibri"/>
              </a:rPr>
              <a:t>Speech in a crowd</a:t>
            </a:r>
          </a:p>
        </p:txBody>
      </p:sp>
      <p:sp>
        <p:nvSpPr>
          <p:cNvPr id="38" name="Rounded Rectangle 37"/>
          <p:cNvSpPr/>
          <p:nvPr/>
        </p:nvSpPr>
        <p:spPr>
          <a:xfrm>
            <a:off x="6940296" y="352044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9" name="Rounded Rectangle 38"/>
          <p:cNvSpPr/>
          <p:nvPr/>
        </p:nvSpPr>
        <p:spPr>
          <a:xfrm>
            <a:off x="7887614" y="352044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0" name="Rounded Rectangle 39"/>
          <p:cNvSpPr/>
          <p:nvPr/>
        </p:nvSpPr>
        <p:spPr>
          <a:xfrm>
            <a:off x="8834932" y="352044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1" name="Rounded Rectangle 40"/>
          <p:cNvSpPr/>
          <p:nvPr/>
        </p:nvSpPr>
        <p:spPr>
          <a:xfrm>
            <a:off x="9782251" y="352044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2" name="Rounded Rectangle 41"/>
          <p:cNvSpPr/>
          <p:nvPr/>
        </p:nvSpPr>
        <p:spPr>
          <a:xfrm>
            <a:off x="10729569" y="352044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3" name="TextBox 42"/>
          <p:cNvSpPr txBox="1"/>
          <p:nvPr/>
        </p:nvSpPr>
        <p:spPr>
          <a:xfrm>
            <a:off x="5120640" y="4069080"/>
            <a:ext cx="1691639" cy="493776"/>
          </a:xfrm>
          <a:prstGeom prst="rect">
            <a:avLst/>
          </a:prstGeom>
          <a:noFill/>
        </p:spPr>
        <p:txBody>
          <a:bodyPr wrap="square" lIns="0" rIns="0" tIns="0" bIns="0" anchor="ctr">
            <a:spAutoFit/>
          </a:bodyPr>
          <a:lstStyle/>
          <a:p>
            <a:pPr algn="l">
              <a:spcAft>
                <a:spcPts val="0"/>
              </a:spcAft>
            </a:pPr>
            <a:r>
              <a:rPr sz="1200" b="0" i="0">
                <a:solidFill>
                  <a:srgbClr val="16202E"/>
                </a:solidFill>
                <a:latin typeface="Calibri"/>
              </a:rPr>
              <a:t>Singing, harmony, choir</a:t>
            </a:r>
          </a:p>
        </p:txBody>
      </p:sp>
      <p:sp>
        <p:nvSpPr>
          <p:cNvPr id="44" name="Rounded Rectangle 43"/>
          <p:cNvSpPr/>
          <p:nvPr/>
        </p:nvSpPr>
        <p:spPr>
          <a:xfrm>
            <a:off x="6940296" y="406908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5" name="Rounded Rectangle 44"/>
          <p:cNvSpPr/>
          <p:nvPr/>
        </p:nvSpPr>
        <p:spPr>
          <a:xfrm>
            <a:off x="7887614" y="406908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6" name="Rounded Rectangle 45"/>
          <p:cNvSpPr/>
          <p:nvPr/>
        </p:nvSpPr>
        <p:spPr>
          <a:xfrm>
            <a:off x="8834932" y="406908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7" name="Rounded Rectangle 46"/>
          <p:cNvSpPr/>
          <p:nvPr/>
        </p:nvSpPr>
        <p:spPr>
          <a:xfrm>
            <a:off x="9782251" y="406908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8" name="Rounded Rectangle 47"/>
          <p:cNvSpPr/>
          <p:nvPr/>
        </p:nvSpPr>
        <p:spPr>
          <a:xfrm>
            <a:off x="10729569" y="406908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9" name="TextBox 48"/>
          <p:cNvSpPr txBox="1"/>
          <p:nvPr/>
        </p:nvSpPr>
        <p:spPr>
          <a:xfrm>
            <a:off x="5120640" y="4617720"/>
            <a:ext cx="1691639" cy="493776"/>
          </a:xfrm>
          <a:prstGeom prst="rect">
            <a:avLst/>
          </a:prstGeom>
          <a:noFill/>
        </p:spPr>
        <p:txBody>
          <a:bodyPr wrap="square" lIns="0" rIns="0" tIns="0" bIns="0" anchor="ctr">
            <a:spAutoFit/>
          </a:bodyPr>
          <a:lstStyle/>
          <a:p>
            <a:pPr algn="l">
              <a:spcAft>
                <a:spcPts val="0"/>
              </a:spcAft>
            </a:pPr>
            <a:r>
              <a:rPr sz="1200" b="0" i="0">
                <a:solidFill>
                  <a:srgbClr val="16202E"/>
                </a:solidFill>
                <a:latin typeface="Calibri"/>
              </a:rPr>
              <a:t>Rap, recitation</a:t>
            </a:r>
          </a:p>
        </p:txBody>
      </p:sp>
      <p:sp>
        <p:nvSpPr>
          <p:cNvPr id="50" name="Rounded Rectangle 49"/>
          <p:cNvSpPr/>
          <p:nvPr/>
        </p:nvSpPr>
        <p:spPr>
          <a:xfrm>
            <a:off x="6940296" y="461772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1" name="Rounded Rectangle 50"/>
          <p:cNvSpPr/>
          <p:nvPr/>
        </p:nvSpPr>
        <p:spPr>
          <a:xfrm>
            <a:off x="7887614" y="461772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2" name="Rounded Rectangle 51"/>
          <p:cNvSpPr/>
          <p:nvPr/>
        </p:nvSpPr>
        <p:spPr>
          <a:xfrm>
            <a:off x="8834932" y="461772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3" name="Rounded Rectangle 52"/>
          <p:cNvSpPr/>
          <p:nvPr/>
        </p:nvSpPr>
        <p:spPr>
          <a:xfrm>
            <a:off x="9782251" y="461772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4" name="Rounded Rectangle 53"/>
          <p:cNvSpPr/>
          <p:nvPr/>
        </p:nvSpPr>
        <p:spPr>
          <a:xfrm>
            <a:off x="10729569" y="461772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5" name="TextBox 54"/>
          <p:cNvSpPr txBox="1"/>
          <p:nvPr/>
        </p:nvSpPr>
        <p:spPr>
          <a:xfrm>
            <a:off x="5120640" y="5166360"/>
            <a:ext cx="1691639" cy="493776"/>
          </a:xfrm>
          <a:prstGeom prst="rect">
            <a:avLst/>
          </a:prstGeom>
          <a:noFill/>
        </p:spPr>
        <p:txBody>
          <a:bodyPr wrap="square" lIns="0" rIns="0" tIns="0" bIns="0" anchor="ctr">
            <a:spAutoFit/>
          </a:bodyPr>
          <a:lstStyle/>
          <a:p>
            <a:pPr algn="l">
              <a:spcAft>
                <a:spcPts val="0"/>
              </a:spcAft>
            </a:pPr>
            <a:r>
              <a:rPr sz="1200" b="0" i="0">
                <a:solidFill>
                  <a:srgbClr val="16202E"/>
                </a:solidFill>
                <a:latin typeface="Calibri"/>
              </a:rPr>
              <a:t>No voice</a:t>
            </a:r>
          </a:p>
        </p:txBody>
      </p:sp>
      <p:sp>
        <p:nvSpPr>
          <p:cNvPr id="56" name="Rounded Rectangle 55"/>
          <p:cNvSpPr/>
          <p:nvPr/>
        </p:nvSpPr>
        <p:spPr>
          <a:xfrm>
            <a:off x="6940296" y="516636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7" name="Rounded Rectangle 56"/>
          <p:cNvSpPr/>
          <p:nvPr/>
        </p:nvSpPr>
        <p:spPr>
          <a:xfrm>
            <a:off x="7887614" y="516636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8" name="Rounded Rectangle 57"/>
          <p:cNvSpPr/>
          <p:nvPr/>
        </p:nvSpPr>
        <p:spPr>
          <a:xfrm>
            <a:off x="8834932" y="516636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9" name="Rounded Rectangle 58"/>
          <p:cNvSpPr/>
          <p:nvPr/>
        </p:nvSpPr>
        <p:spPr>
          <a:xfrm>
            <a:off x="9782251" y="516636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0" name="Rounded Rectangle 59"/>
          <p:cNvSpPr/>
          <p:nvPr/>
        </p:nvSpPr>
        <p:spPr>
          <a:xfrm>
            <a:off x="10729569" y="5166360"/>
            <a:ext cx="874166"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1" name="TextBox 60"/>
          <p:cNvSpPr txBox="1"/>
          <p:nvPr/>
        </p:nvSpPr>
        <p:spPr>
          <a:xfrm>
            <a:off x="5120640" y="5897880"/>
            <a:ext cx="6492240" cy="320040"/>
          </a:xfrm>
          <a:prstGeom prst="rect">
            <a:avLst/>
          </a:prstGeom>
          <a:noFill/>
        </p:spPr>
        <p:txBody>
          <a:bodyPr wrap="square" lIns="0" rIns="0" tIns="0" bIns="0" anchor="t">
            <a:spAutoFit/>
          </a:bodyPr>
          <a:lstStyle/>
          <a:p>
            <a:pPr algn="l">
              <a:spcAft>
                <a:spcPts val="0"/>
              </a:spcAft>
            </a:pPr>
            <a:r>
              <a:rPr sz="1200" b="0" i="0">
                <a:solidFill>
                  <a:srgbClr val="8A93A0"/>
                </a:solidFill>
                <a:latin typeface="Calibri"/>
              </a:rPr>
              <a:t>Write the file count in each cell and tag every file: empty cells are slices to fill.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38988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Success criteria</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Success means passing every criterion on every slice</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8 / 15</a:t>
            </a:r>
          </a:p>
        </p:txBody>
      </p:sp>
      <p:graphicFrame>
        <p:nvGraphicFramePr>
          <p:cNvPr id="5" name="Table 4"/>
          <p:cNvGraphicFramePr>
            <a:graphicFrameLocks noGrp="1"/>
          </p:cNvGraphicFramePr>
          <p:nvPr/>
        </p:nvGraphicFramePr>
        <p:xfrm>
          <a:off x="548640" y="1783080"/>
          <a:ext cx="6766560" cy="3520440"/>
        </p:xfrm>
        <a:graphic>
          <a:graphicData uri="http://schemas.openxmlformats.org/drawingml/2006/table">
            <a:tbl>
              <a:tblPr firstRow="1" bandRow="1">
                <a:tableStyleId>{5C22544A-7EE6-4342-B048-85BDC9FD1C3A}</a:tableStyleId>
              </a:tblPr>
              <a:tblGrid>
                <a:gridCol w="2103120"/>
                <a:gridCol w="1783080"/>
                <a:gridCol w="2880360"/>
              </a:tblGrid>
              <a:tr h="502920">
                <a:tc>
                  <a:txBody>
                    <a:bodyPr wrap="square"/>
                    <a:lstStyle/>
                    <a:p>
                      <a:pPr algn="l"/>
                      <a:r>
                        <a:rPr sz="1200" b="1">
                          <a:solidFill>
                            <a:srgbClr val="FFFFFF"/>
                          </a:solidFill>
                          <a:latin typeface="Calibri"/>
                        </a:rPr>
                        <a:t>Criterion</a:t>
                      </a:r>
                    </a:p>
                  </a:txBody>
                  <a:tcPr marL="91440" marR="91440" marT="27432" marB="27432" anchor="ctr">
                    <a:solidFill>
                      <a:srgbClr val="16202E"/>
                    </a:solidFill>
                  </a:tcPr>
                </a:tc>
                <a:tc>
                  <a:txBody>
                    <a:bodyPr wrap="square"/>
                    <a:lstStyle/>
                    <a:p>
                      <a:pPr algn="l"/>
                      <a:r>
                        <a:rPr sz="1200" b="1">
                          <a:solidFill>
                            <a:srgbClr val="FFFFFF"/>
                          </a:solidFill>
                          <a:latin typeface="Calibri"/>
                        </a:rPr>
                        <a:t>Suggested target</a:t>
                      </a:r>
                    </a:p>
                  </a:txBody>
                  <a:tcPr marL="91440" marR="91440" marT="27432" marB="27432" anchor="ctr">
                    <a:solidFill>
                      <a:srgbClr val="16202E"/>
                    </a:solidFill>
                  </a:tcPr>
                </a:tc>
                <a:tc>
                  <a:txBody>
                    <a:bodyPr wrap="square"/>
                    <a:lstStyle/>
                    <a:p>
                      <a:pPr algn="l"/>
                      <a:r>
                        <a:rPr sz="1200" b="1">
                          <a:solidFill>
                            <a:srgbClr val="FFFFFF"/>
                          </a:solidFill>
                          <a:latin typeface="Calibri"/>
                        </a:rPr>
                        <a:t>Why</a:t>
                      </a:r>
                    </a:p>
                  </a:txBody>
                  <a:tcPr marL="91440" marR="91440" marT="27432" marB="27432" anchor="ctr">
                    <a:solidFill>
                      <a:srgbClr val="16202E"/>
                    </a:solidFill>
                  </a:tcPr>
                </a:tc>
              </a:tr>
              <a:tr h="502920">
                <a:tc>
                  <a:txBody>
                    <a:bodyPr wrap="square"/>
                    <a:lstStyle/>
                    <a:p>
                      <a:pPr algn="l"/>
                      <a:r>
                        <a:rPr sz="1300" b="0">
                          <a:solidFill>
                            <a:srgbClr val="16202E"/>
                          </a:solidFill>
                          <a:latin typeface="Calibri"/>
                        </a:rPr>
                        <a:t>Miss rate (duration)</a:t>
                      </a:r>
                    </a:p>
                  </a:txBody>
                  <a:tcPr marL="91440" marR="91440" marT="27432" marB="27432" anchor="ctr">
                    <a:solidFill>
                      <a:srgbClr val="FFFFFF"/>
                    </a:solidFill>
                  </a:tcPr>
                </a:tc>
                <a:tc>
                  <a:txBody>
                    <a:bodyPr wrap="square"/>
                    <a:lstStyle/>
                    <a:p>
                      <a:pPr algn="l"/>
                      <a:r>
                        <a:rPr sz="1300" b="1">
                          <a:solidFill>
                            <a:srgbClr val="0A5C5B"/>
                          </a:solidFill>
                          <a:latin typeface="Calibri"/>
                        </a:rPr>
                        <a:t>≤ 3%</a:t>
                      </a:r>
                    </a:p>
                  </a:txBody>
                  <a:tcPr marL="91440" marR="91440" marT="27432" marB="27432" anchor="ctr">
                    <a:solidFill>
                      <a:srgbClr val="FFFFFF"/>
                    </a:solidFill>
                  </a:tcPr>
                </a:tc>
                <a:tc>
                  <a:txBody>
                    <a:bodyPr wrap="square"/>
                    <a:lstStyle/>
                    <a:p>
                      <a:pPr algn="l"/>
                      <a:r>
                        <a:rPr sz="1300" b="0">
                          <a:solidFill>
                            <a:srgbClr val="5B6472"/>
                          </a:solidFill>
                          <a:latin typeface="Calibri"/>
                        </a:rPr>
                        <a:t>Missing a voice loses content</a:t>
                      </a:r>
                    </a:p>
                  </a:txBody>
                  <a:tcPr marL="91440" marR="91440" marT="27432" marB="27432" anchor="ctr">
                    <a:solidFill>
                      <a:srgbClr val="FFFFFF"/>
                    </a:solidFill>
                  </a:tcPr>
                </a:tc>
              </a:tr>
              <a:tr h="502920">
                <a:tc>
                  <a:txBody>
                    <a:bodyPr wrap="square"/>
                    <a:lstStyle/>
                    <a:p>
                      <a:pPr algn="l"/>
                      <a:r>
                        <a:rPr sz="1300" b="0">
                          <a:solidFill>
                            <a:srgbClr val="16202E"/>
                          </a:solidFill>
                          <a:latin typeface="Calibri"/>
                        </a:rPr>
                        <a:t>FA rate (duration)</a:t>
                      </a:r>
                    </a:p>
                  </a:txBody>
                  <a:tcPr marL="91440" marR="91440" marT="27432" marB="27432" anchor="ctr">
                    <a:solidFill>
                      <a:srgbClr val="F3F5F8"/>
                    </a:solidFill>
                  </a:tcPr>
                </a:tc>
                <a:tc>
                  <a:txBody>
                    <a:bodyPr wrap="square"/>
                    <a:lstStyle/>
                    <a:p>
                      <a:pPr algn="l"/>
                      <a:r>
                        <a:rPr sz="1300" b="1">
                          <a:solidFill>
                            <a:srgbClr val="0A5C5B"/>
                          </a:solidFill>
                          <a:latin typeface="Calibri"/>
                        </a:rPr>
                        <a:t>≤ 5–8%</a:t>
                      </a:r>
                    </a:p>
                  </a:txBody>
                  <a:tcPr marL="91440" marR="91440" marT="27432" marB="27432" anchor="ctr">
                    <a:solidFill>
                      <a:srgbClr val="F3F5F8"/>
                    </a:solidFill>
                  </a:tcPr>
                </a:tc>
                <a:tc>
                  <a:txBody>
                    <a:bodyPr wrap="square"/>
                    <a:lstStyle/>
                    <a:p>
                      <a:pPr algn="l"/>
                      <a:r>
                        <a:rPr sz="1300" b="0">
                          <a:solidFill>
                            <a:srgbClr val="5B6472"/>
                          </a:solidFill>
                          <a:latin typeface="Calibri"/>
                        </a:rPr>
                        <a:t>Don't cut in music or noise</a:t>
                      </a:r>
                    </a:p>
                  </a:txBody>
                  <a:tcPr marL="91440" marR="91440" marT="27432" marB="27432" anchor="ctr">
                    <a:solidFill>
                      <a:srgbClr val="F3F5F8"/>
                    </a:solidFill>
                  </a:tcPr>
                </a:tc>
              </a:tr>
              <a:tr h="502920">
                <a:tc>
                  <a:txBody>
                    <a:bodyPr wrap="square"/>
                    <a:lstStyle/>
                    <a:p>
                      <a:pPr algn="l"/>
                      <a:r>
                        <a:rPr sz="1300" b="0">
                          <a:solidFill>
                            <a:srgbClr val="16202E"/>
                          </a:solidFill>
                          <a:latin typeface="Calibri"/>
                        </a:rPr>
                        <a:t>Boundary error P90</a:t>
                      </a:r>
                    </a:p>
                  </a:txBody>
                  <a:tcPr marL="91440" marR="91440" marT="27432" marB="27432" anchor="ctr">
                    <a:solidFill>
                      <a:srgbClr val="FFFFFF"/>
                    </a:solidFill>
                  </a:tcPr>
                </a:tc>
                <a:tc>
                  <a:txBody>
                    <a:bodyPr wrap="square"/>
                    <a:lstStyle/>
                    <a:p>
                      <a:pPr algn="l"/>
                      <a:r>
                        <a:rPr sz="1300" b="1">
                          <a:solidFill>
                            <a:srgbClr val="0A5C5B"/>
                          </a:solidFill>
                          <a:latin typeface="Calibri"/>
                        </a:rPr>
                        <a:t>≤ 250 ms</a:t>
                      </a:r>
                    </a:p>
                  </a:txBody>
                  <a:tcPr marL="91440" marR="91440" marT="27432" marB="27432" anchor="ctr">
                    <a:solidFill>
                      <a:srgbClr val="FFFFFF"/>
                    </a:solidFill>
                  </a:tcPr>
                </a:tc>
                <a:tc>
                  <a:txBody>
                    <a:bodyPr wrap="square"/>
                    <a:lstStyle/>
                    <a:p>
                      <a:pPr algn="l"/>
                      <a:r>
                        <a:rPr sz="1300" b="0">
                          <a:solidFill>
                            <a:srgbClr val="5B6472"/>
                          </a:solidFill>
                          <a:latin typeface="Calibri"/>
                        </a:rPr>
                        <a:t>Matches the 0.5 s label resolution</a:t>
                      </a:r>
                    </a:p>
                  </a:txBody>
                  <a:tcPr marL="91440" marR="91440" marT="27432" marB="27432" anchor="ctr">
                    <a:solidFill>
                      <a:srgbClr val="FFFFFF"/>
                    </a:solidFill>
                  </a:tcPr>
                </a:tc>
              </a:tr>
              <a:tr h="502920">
                <a:tc>
                  <a:txBody>
                    <a:bodyPr wrap="square"/>
                    <a:lstStyle/>
                    <a:p>
                      <a:pPr algn="l"/>
                      <a:r>
                        <a:rPr sz="1300" b="0">
                          <a:solidFill>
                            <a:srgbClr val="16202E"/>
                          </a:solidFill>
                          <a:latin typeface="Calibri"/>
                        </a:rPr>
                        <a:t>Worst-slice error</a:t>
                      </a:r>
                    </a:p>
                  </a:txBody>
                  <a:tcPr marL="91440" marR="91440" marT="27432" marB="27432" anchor="ctr">
                    <a:solidFill>
                      <a:srgbClr val="F3F5F8"/>
                    </a:solidFill>
                  </a:tcPr>
                </a:tc>
                <a:tc>
                  <a:txBody>
                    <a:bodyPr wrap="square"/>
                    <a:lstStyle/>
                    <a:p>
                      <a:pPr algn="l"/>
                      <a:r>
                        <a:rPr sz="1300" b="1">
                          <a:solidFill>
                            <a:srgbClr val="0A5C5B"/>
                          </a:solidFill>
                          <a:latin typeface="Calibri"/>
                        </a:rPr>
                        <a:t>≤ 10%</a:t>
                      </a:r>
                    </a:p>
                  </a:txBody>
                  <a:tcPr marL="91440" marR="91440" marT="27432" marB="27432" anchor="ctr">
                    <a:solidFill>
                      <a:srgbClr val="F3F5F8"/>
                    </a:solidFill>
                  </a:tcPr>
                </a:tc>
                <a:tc>
                  <a:txBody>
                    <a:bodyPr wrap="square"/>
                    <a:lstStyle/>
                    <a:p>
                      <a:pPr algn="l"/>
                      <a:r>
                        <a:rPr sz="1300" b="0">
                          <a:solidFill>
                            <a:srgbClr val="5B6472"/>
                          </a:solidFill>
                          <a:latin typeface="Calibri"/>
                        </a:rPr>
                        <a:t>Miss on positive slices, FA on negative ones</a:t>
                      </a:r>
                    </a:p>
                  </a:txBody>
                  <a:tcPr marL="91440" marR="91440" marT="27432" marB="27432" anchor="ctr">
                    <a:solidFill>
                      <a:srgbClr val="F3F5F8"/>
                    </a:solidFill>
                  </a:tcPr>
                </a:tc>
              </a:tr>
              <a:tr h="502920">
                <a:tc>
                  <a:txBody>
                    <a:bodyPr wrap="square"/>
                    <a:lstStyle/>
                    <a:p>
                      <a:pPr algn="l"/>
                      <a:r>
                        <a:rPr sz="1300" b="0">
                          <a:solidFill>
                            <a:srgbClr val="16202E"/>
                          </a:solidFill>
                          <a:latin typeface="Calibri"/>
                        </a:rPr>
                        <a:t>Recall on singing</a:t>
                      </a:r>
                    </a:p>
                  </a:txBody>
                  <a:tcPr marL="91440" marR="91440" marT="27432" marB="27432" anchor="ctr">
                    <a:solidFill>
                      <a:srgbClr val="FFFFFF"/>
                    </a:solidFill>
                  </a:tcPr>
                </a:tc>
                <a:tc>
                  <a:txBody>
                    <a:bodyPr wrap="square"/>
                    <a:lstStyle/>
                    <a:p>
                      <a:pPr algn="l"/>
                      <a:r>
                        <a:rPr sz="1300" b="1">
                          <a:solidFill>
                            <a:srgbClr val="0A5C5B"/>
                          </a:solidFill>
                          <a:latin typeface="Calibri"/>
                        </a:rPr>
                        <a:t>≥ recall on speech</a:t>
                      </a:r>
                    </a:p>
                  </a:txBody>
                  <a:tcPr marL="91440" marR="91440" marT="27432" marB="27432" anchor="ctr">
                    <a:solidFill>
                      <a:srgbClr val="FFFFFF"/>
                    </a:solidFill>
                  </a:tcPr>
                </a:tc>
                <a:tc>
                  <a:txBody>
                    <a:bodyPr wrap="square"/>
                    <a:lstStyle/>
                    <a:p>
                      <a:pPr algn="l"/>
                      <a:r>
                        <a:rPr sz="1300" b="0">
                          <a:solidFill>
                            <a:srgbClr val="5B6472"/>
                          </a:solidFill>
                          <a:latin typeface="Calibri"/>
                        </a:rPr>
                        <a:t>Singing is speech by definition</a:t>
                      </a:r>
                    </a:p>
                  </a:txBody>
                  <a:tcPr marL="91440" marR="91440" marT="27432" marB="27432" anchor="ctr">
                    <a:solidFill>
                      <a:srgbClr val="FFFFFF"/>
                    </a:solidFill>
                  </a:tcPr>
                </a:tc>
              </a:tr>
              <a:tr h="502920">
                <a:tc>
                  <a:txBody>
                    <a:bodyPr wrap="square"/>
                    <a:lstStyle/>
                    <a:p>
                      <a:pPr algn="l"/>
                      <a:r>
                        <a:rPr sz="1300" b="0">
                          <a:solidFill>
                            <a:srgbClr val="16202E"/>
                          </a:solidFill>
                          <a:latin typeface="Calibri"/>
                        </a:rPr>
                        <a:t>RTF, memory</a:t>
                      </a:r>
                    </a:p>
                  </a:txBody>
                  <a:tcPr marL="91440" marR="91440" marT="27432" marB="27432" anchor="ctr">
                    <a:solidFill>
                      <a:srgbClr val="F3F5F8"/>
                    </a:solidFill>
                  </a:tcPr>
                </a:tc>
                <a:tc>
                  <a:txBody>
                    <a:bodyPr wrap="square"/>
                    <a:lstStyle/>
                    <a:p>
                      <a:pPr algn="l"/>
                      <a:r>
                        <a:rPr sz="1300" b="1">
                          <a:solidFill>
                            <a:srgbClr val="0A5C5B"/>
                          </a:solidFill>
                          <a:latin typeface="Calibri"/>
                        </a:rPr>
                        <a:t>No worse than today</a:t>
                      </a:r>
                    </a:p>
                  </a:txBody>
                  <a:tcPr marL="91440" marR="91440" marT="27432" marB="27432" anchor="ctr">
                    <a:solidFill>
                      <a:srgbClr val="F3F5F8"/>
                    </a:solidFill>
                  </a:tcPr>
                </a:tc>
                <a:tc>
                  <a:txBody>
                    <a:bodyPr wrap="square"/>
                    <a:lstStyle/>
                    <a:p>
                      <a:pPr algn="l"/>
                      <a:r>
                        <a:rPr sz="1300" b="0">
                          <a:solidFill>
                            <a:srgbClr val="5B6472"/>
                          </a:solidFill>
                          <a:latin typeface="Calibri"/>
                        </a:rPr>
                        <a:t>Runs inside lib.so</a:t>
                      </a:r>
                    </a:p>
                  </a:txBody>
                  <a:tcPr marL="91440" marR="91440" marT="27432" marB="27432" anchor="ctr">
                    <a:solidFill>
                      <a:srgbClr val="F3F5F8"/>
                    </a:solidFill>
                  </a:tcPr>
                </a:tc>
              </a:tr>
            </a:tbl>
          </a:graphicData>
        </a:graphic>
      </p:graphicFrame>
      <p:sp>
        <p:nvSpPr>
          <p:cNvPr id="6" name="TextBox 5"/>
          <p:cNvSpPr txBox="1"/>
          <p:nvPr/>
        </p:nvSpPr>
        <p:spPr>
          <a:xfrm>
            <a:off x="548640" y="5440680"/>
            <a:ext cx="6766560" cy="731520"/>
          </a:xfrm>
          <a:prstGeom prst="rect">
            <a:avLst/>
          </a:prstGeom>
          <a:noFill/>
        </p:spPr>
        <p:txBody>
          <a:bodyPr wrap="square" lIns="0" rIns="0" tIns="0" bIns="0" anchor="t">
            <a:spAutoFit/>
          </a:bodyPr>
          <a:lstStyle/>
          <a:p>
            <a:pPr algn="l">
              <a:spcAft>
                <a:spcPts val="0"/>
              </a:spcAft>
            </a:pPr>
            <a:r>
              <a:rPr sz="1200" b="0" i="0">
                <a:solidFill>
                  <a:srgbClr val="8A93A0"/>
                </a:solidFill>
                <a:latin typeface="Calibri"/>
              </a:rPr>
              <a:t>Miss/FA targets will be finalized once we know what the app does with the speech segments.</a:t>
            </a:r>
          </a:p>
        </p:txBody>
      </p:sp>
      <p:sp>
        <p:nvSpPr>
          <p:cNvPr id="7" name="TextBox 6"/>
          <p:cNvSpPr txBox="1"/>
          <p:nvPr/>
        </p:nvSpPr>
        <p:spPr>
          <a:xfrm>
            <a:off x="7726679" y="1783080"/>
            <a:ext cx="3913632" cy="411480"/>
          </a:xfrm>
          <a:prstGeom prst="rect">
            <a:avLst/>
          </a:prstGeom>
          <a:noFill/>
        </p:spPr>
        <p:txBody>
          <a:bodyPr wrap="square" lIns="0" rIns="0" tIns="0" bIns="0" anchor="t">
            <a:spAutoFit/>
          </a:bodyPr>
          <a:lstStyle/>
          <a:p>
            <a:pPr algn="l">
              <a:spcAft>
                <a:spcPts val="0"/>
              </a:spcAft>
            </a:pPr>
            <a:r>
              <a:rPr sz="1800" b="1" i="0">
                <a:solidFill>
                  <a:srgbClr val="16202E"/>
                </a:solidFill>
                <a:latin typeface="Cambria"/>
              </a:rPr>
              <a:t>Set the target between two anchors</a:t>
            </a:r>
          </a:p>
        </p:txBody>
      </p:sp>
      <p:cxnSp>
        <p:nvCxnSpPr>
          <p:cNvPr id="8" name="Connector 7"/>
          <p:cNvCxnSpPr/>
          <p:nvPr/>
        </p:nvCxnSpPr>
        <p:spPr>
          <a:xfrm>
            <a:off x="7818119" y="2788920"/>
            <a:ext cx="3730753" cy="0"/>
          </a:xfrm>
          <a:prstGeom prst="line">
            <a:avLst/>
          </a:prstGeom>
          <a:ln w="38100">
            <a:solidFill>
              <a:srgbClr val="B8C2CE"/>
            </a:solidFill>
          </a:ln>
        </p:spPr>
        <p:style>
          <a:lnRef idx="2">
            <a:schemeClr val="accent1"/>
          </a:lnRef>
          <a:fillRef idx="0">
            <a:schemeClr val="accent1"/>
          </a:fillRef>
          <a:effectRef idx="0">
            <a:schemeClr val="accent1"/>
          </a:effectRef>
          <a:fontRef idx="minor">
            <a:schemeClr val="tx1"/>
          </a:fontRef>
        </p:style>
      </p:cxnSp>
      <p:sp>
        <p:nvSpPr>
          <p:cNvPr id="9" name="Oval 8"/>
          <p:cNvSpPr/>
          <p:nvPr/>
        </p:nvSpPr>
        <p:spPr>
          <a:xfrm>
            <a:off x="7699247" y="2670048"/>
            <a:ext cx="237744" cy="237744"/>
          </a:xfrm>
          <a:prstGeom prst="ellipse">
            <a:avLst/>
          </a:prstGeom>
          <a:solidFill>
            <a:srgbClr val="5B647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TextBox 9"/>
          <p:cNvSpPr txBox="1"/>
          <p:nvPr/>
        </p:nvSpPr>
        <p:spPr>
          <a:xfrm>
            <a:off x="7818119" y="2221991"/>
            <a:ext cx="1280160" cy="320040"/>
          </a:xfrm>
          <a:prstGeom prst="rect">
            <a:avLst/>
          </a:prstGeom>
          <a:noFill/>
        </p:spPr>
        <p:txBody>
          <a:bodyPr wrap="square" lIns="0" rIns="0" tIns="0" bIns="0" anchor="t">
            <a:spAutoFit/>
          </a:bodyPr>
          <a:lstStyle/>
          <a:p>
            <a:pPr algn="l">
              <a:spcAft>
                <a:spcPts val="0"/>
              </a:spcAft>
            </a:pPr>
            <a:r>
              <a:rPr sz="1400" b="1" i="0">
                <a:solidFill>
                  <a:srgbClr val="5B6472"/>
                </a:solidFill>
                <a:latin typeface="Calibri"/>
              </a:rPr>
              <a:t>Floor</a:t>
            </a:r>
          </a:p>
        </p:txBody>
      </p:sp>
      <p:sp>
        <p:nvSpPr>
          <p:cNvPr id="11" name="TextBox 10"/>
          <p:cNvSpPr txBox="1"/>
          <p:nvPr/>
        </p:nvSpPr>
        <p:spPr>
          <a:xfrm>
            <a:off x="7726679" y="3017520"/>
            <a:ext cx="1325880" cy="82296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Beat baselines: Silero, WebRTC, current version</a:t>
            </a:r>
          </a:p>
        </p:txBody>
      </p:sp>
      <p:sp>
        <p:nvSpPr>
          <p:cNvPr id="12" name="Oval 11"/>
          <p:cNvSpPr/>
          <p:nvPr/>
        </p:nvSpPr>
        <p:spPr>
          <a:xfrm>
            <a:off x="9564624" y="2670048"/>
            <a:ext cx="237744" cy="237744"/>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TextBox 12"/>
          <p:cNvSpPr txBox="1"/>
          <p:nvPr/>
        </p:nvSpPr>
        <p:spPr>
          <a:xfrm>
            <a:off x="9043416" y="2221991"/>
            <a:ext cx="1280160" cy="320040"/>
          </a:xfrm>
          <a:prstGeom prst="rect">
            <a:avLst/>
          </a:prstGeom>
          <a:noFill/>
        </p:spPr>
        <p:txBody>
          <a:bodyPr wrap="square" lIns="0" rIns="0" tIns="0" bIns="0" anchor="t">
            <a:spAutoFit/>
          </a:bodyPr>
          <a:lstStyle/>
          <a:p>
            <a:pPr algn="ctr">
              <a:spcAft>
                <a:spcPts val="0"/>
              </a:spcAft>
            </a:pPr>
            <a:r>
              <a:rPr sz="1400" b="1" i="0">
                <a:solidFill>
                  <a:srgbClr val="0E7C7B"/>
                </a:solidFill>
                <a:latin typeface="Calibri"/>
              </a:rPr>
              <a:t>Target</a:t>
            </a:r>
          </a:p>
        </p:txBody>
      </p:sp>
      <p:sp>
        <p:nvSpPr>
          <p:cNvPr id="14" name="TextBox 13"/>
          <p:cNvSpPr txBox="1"/>
          <p:nvPr/>
        </p:nvSpPr>
        <p:spPr>
          <a:xfrm>
            <a:off x="8997696" y="3017520"/>
            <a:ext cx="1325880" cy="82296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Scorecard on the left</a:t>
            </a:r>
          </a:p>
        </p:txBody>
      </p:sp>
      <p:sp>
        <p:nvSpPr>
          <p:cNvPr id="15" name="Oval 14"/>
          <p:cNvSpPr/>
          <p:nvPr/>
        </p:nvSpPr>
        <p:spPr>
          <a:xfrm>
            <a:off x="11429999" y="2670048"/>
            <a:ext cx="237744" cy="237744"/>
          </a:xfrm>
          <a:prstGeom prst="ellipse">
            <a:avLst/>
          </a:prstGeom>
          <a:solidFill>
            <a:srgbClr val="162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10268711" y="2221991"/>
            <a:ext cx="1280160" cy="320040"/>
          </a:xfrm>
          <a:prstGeom prst="rect">
            <a:avLst/>
          </a:prstGeom>
          <a:noFill/>
        </p:spPr>
        <p:txBody>
          <a:bodyPr wrap="square" lIns="0" rIns="0" tIns="0" bIns="0" anchor="t">
            <a:spAutoFit/>
          </a:bodyPr>
          <a:lstStyle/>
          <a:p>
            <a:pPr algn="r">
              <a:spcAft>
                <a:spcPts val="0"/>
              </a:spcAft>
            </a:pPr>
            <a:r>
              <a:rPr sz="1400" b="1" i="0">
                <a:solidFill>
                  <a:srgbClr val="16202E"/>
                </a:solidFill>
                <a:latin typeface="Calibri"/>
              </a:rPr>
              <a:t>Ceiling</a:t>
            </a:r>
          </a:p>
        </p:txBody>
      </p:sp>
      <p:sp>
        <p:nvSpPr>
          <p:cNvPr id="17" name="TextBox 16"/>
          <p:cNvSpPr txBox="1"/>
          <p:nvPr/>
        </p:nvSpPr>
        <p:spPr>
          <a:xfrm>
            <a:off x="10222992" y="3017520"/>
            <a:ext cx="1325880" cy="822960"/>
          </a:xfrm>
          <a:prstGeom prst="rect">
            <a:avLst/>
          </a:prstGeom>
          <a:noFill/>
        </p:spPr>
        <p:txBody>
          <a:bodyPr wrap="square" lIns="0" rIns="0" tIns="0" bIns="0" anchor="t">
            <a:spAutoFit/>
          </a:bodyPr>
          <a:lstStyle/>
          <a:p>
            <a:pPr algn="r">
              <a:spcAft>
                <a:spcPts val="0"/>
              </a:spcAft>
            </a:pPr>
            <a:r>
              <a:rPr sz="1100" b="0" i="0">
                <a:solidFill>
                  <a:srgbClr val="5B6472"/>
                </a:solidFill>
                <a:latin typeface="Calibri"/>
              </a:rPr>
              <a:t>Human agreement: consensus vs label2</a:t>
            </a:r>
          </a:p>
        </p:txBody>
      </p:sp>
      <p:sp>
        <p:nvSpPr>
          <p:cNvPr id="18" name="Rounded Rectangle 17"/>
          <p:cNvSpPr/>
          <p:nvPr/>
        </p:nvSpPr>
        <p:spPr>
          <a:xfrm>
            <a:off x="7726679" y="4160520"/>
            <a:ext cx="3913632" cy="1691640"/>
          </a:xfrm>
          <a:prstGeom prst="roundRect">
            <a:avLst>
              <a:gd name="adj" fmla="val 6000"/>
            </a:avLst>
          </a:prstGeom>
          <a:solidFill>
            <a:srgbClr val="FDF3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9" name="TextBox 18"/>
          <p:cNvSpPr txBox="1"/>
          <p:nvPr/>
        </p:nvSpPr>
        <p:spPr>
          <a:xfrm>
            <a:off x="7955279" y="4279392"/>
            <a:ext cx="3456432" cy="365760"/>
          </a:xfrm>
          <a:prstGeom prst="rect">
            <a:avLst/>
          </a:prstGeom>
          <a:noFill/>
        </p:spPr>
        <p:txBody>
          <a:bodyPr wrap="square" lIns="0" rIns="0" tIns="0" bIns="0" anchor="t">
            <a:spAutoFit/>
          </a:bodyPr>
          <a:lstStyle/>
          <a:p>
            <a:pPr algn="l">
              <a:spcAft>
                <a:spcPts val="0"/>
              </a:spcAft>
            </a:pPr>
            <a:r>
              <a:rPr sz="1600" b="1" i="0">
                <a:solidFill>
                  <a:srgbClr val="7A5200"/>
                </a:solidFill>
                <a:latin typeface="Cambria"/>
              </a:rPr>
              <a:t>Three traps</a:t>
            </a:r>
          </a:p>
        </p:txBody>
      </p:sp>
      <p:sp>
        <p:nvSpPr>
          <p:cNvPr id="20" name="TextBox 19"/>
          <p:cNvSpPr txBox="1"/>
          <p:nvPr/>
        </p:nvSpPr>
        <p:spPr>
          <a:xfrm>
            <a:off x="7955279" y="4663440"/>
            <a:ext cx="3502152" cy="1188720"/>
          </a:xfrm>
          <a:prstGeom prst="rect">
            <a:avLst/>
          </a:prstGeom>
          <a:noFill/>
        </p:spPr>
        <p:txBody>
          <a:bodyPr wrap="square" lIns="0" rIns="0" tIns="0" bIns="0" anchor="t">
            <a:spAutoFit/>
          </a:bodyPr>
          <a:lstStyle/>
          <a:p>
            <a:pPr algn="l" marL="201168" indent="-201168">
              <a:spcAft>
                <a:spcPts val="500"/>
              </a:spcAft>
              <a:buFont typeface="Arial"/>
              <a:buChar char="•"/>
            </a:pPr>
            <a:r>
              <a:rPr sz="1300" b="0" i="0">
                <a:solidFill>
                  <a:srgbClr val="7A5200"/>
                </a:solidFill>
                <a:latin typeface="Calibri"/>
              </a:rPr>
              <a:t>AUC 0.9995 on designed data is not evidence</a:t>
            </a:r>
          </a:p>
          <a:p>
            <a:pPr algn="l" marL="201168" indent="-201168">
              <a:spcAft>
                <a:spcPts val="500"/>
              </a:spcAft>
              <a:buFont typeface="Arial"/>
              <a:buChar char="•"/>
            </a:pPr>
            <a:r>
              <a:rPr sz="1300" b="0" i="0">
                <a:solidFill>
                  <a:srgbClr val="7A5200"/>
                </a:solidFill>
                <a:latin typeface="Calibri"/>
              </a:rPr>
              <a:t>Pick thresholds on dev, never on test</a:t>
            </a:r>
          </a:p>
          <a:p>
            <a:pPr algn="l" marL="201168" indent="-201168">
              <a:spcAft>
                <a:spcPts val="500"/>
              </a:spcAft>
              <a:buFont typeface="Arial"/>
              <a:buChar char="•"/>
            </a:pPr>
            <a:r>
              <a:rPr sz="1300" b="0" i="0">
                <a:solidFill>
                  <a:srgbClr val="7A5200"/>
                </a:solidFill>
                <a:latin typeface="Calibri"/>
              </a:rPr>
              <a:t>Report a 95% CI (bootstrap by file)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56692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Data</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Split by source file, label as segments, audit before training</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9 / 15</a:t>
            </a:r>
          </a:p>
        </p:txBody>
      </p:sp>
      <p:sp>
        <p:nvSpPr>
          <p:cNvPr id="5" name="TextBox 4"/>
          <p:cNvSpPr txBox="1"/>
          <p:nvPr/>
        </p:nvSpPr>
        <p:spPr>
          <a:xfrm>
            <a:off x="548640" y="1691640"/>
            <a:ext cx="3291840"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Splits</a:t>
            </a:r>
          </a:p>
        </p:txBody>
      </p:sp>
      <p:sp>
        <p:nvSpPr>
          <p:cNvPr id="6" name="Rounded Rectangle 5"/>
          <p:cNvSpPr/>
          <p:nvPr/>
        </p:nvSpPr>
        <p:spPr>
          <a:xfrm>
            <a:off x="548640" y="2148840"/>
            <a:ext cx="3291840" cy="749808"/>
          </a:xfrm>
          <a:prstGeom prst="roundRect">
            <a:avLst>
              <a:gd name="adj" fmla="val 6000"/>
            </a:avLst>
          </a:prstGeom>
          <a:solidFill>
            <a:srgbClr val="E3EE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731520" y="2148840"/>
            <a:ext cx="822960" cy="749808"/>
          </a:xfrm>
          <a:prstGeom prst="rect">
            <a:avLst/>
          </a:prstGeom>
          <a:noFill/>
        </p:spPr>
        <p:txBody>
          <a:bodyPr wrap="square" lIns="0" rIns="0" tIns="0" bIns="0" anchor="ctr">
            <a:spAutoFit/>
          </a:bodyPr>
          <a:lstStyle/>
          <a:p>
            <a:pPr algn="l">
              <a:spcAft>
                <a:spcPts val="0"/>
              </a:spcAft>
            </a:pPr>
            <a:r>
              <a:rPr sz="1600" b="1" i="0">
                <a:solidFill>
                  <a:srgbClr val="0C447C"/>
                </a:solidFill>
                <a:latin typeface="Calibri"/>
              </a:rPr>
              <a:t>Train</a:t>
            </a:r>
          </a:p>
        </p:txBody>
      </p:sp>
      <p:sp>
        <p:nvSpPr>
          <p:cNvPr id="8" name="TextBox 7"/>
          <p:cNvSpPr txBox="1"/>
          <p:nvPr/>
        </p:nvSpPr>
        <p:spPr>
          <a:xfrm>
            <a:off x="1508760" y="2148840"/>
            <a:ext cx="2194560" cy="749808"/>
          </a:xfrm>
          <a:prstGeom prst="rect">
            <a:avLst/>
          </a:prstGeom>
          <a:noFill/>
        </p:spPr>
        <p:txBody>
          <a:bodyPr wrap="square" lIns="0" rIns="0" tIns="0" bIns="0" anchor="ctr">
            <a:spAutoFit/>
          </a:bodyPr>
          <a:lstStyle/>
          <a:p>
            <a:pPr algn="l">
              <a:spcAft>
                <a:spcPts val="0"/>
              </a:spcAft>
            </a:pPr>
            <a:r>
              <a:rPr sz="1300" b="0" i="0">
                <a:solidFill>
                  <a:srgbClr val="0C447C"/>
                </a:solidFill>
                <a:latin typeface="Calibri"/>
              </a:rPr>
              <a:t>Learn model parameters</a:t>
            </a:r>
          </a:p>
        </p:txBody>
      </p:sp>
      <p:sp>
        <p:nvSpPr>
          <p:cNvPr id="9" name="Rounded Rectangle 8"/>
          <p:cNvSpPr/>
          <p:nvPr/>
        </p:nvSpPr>
        <p:spPr>
          <a:xfrm>
            <a:off x="548640" y="3017520"/>
            <a:ext cx="3291840" cy="749808"/>
          </a:xfrm>
          <a:prstGeom prst="roundRect">
            <a:avLst>
              <a:gd name="adj" fmla="val 6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TextBox 9"/>
          <p:cNvSpPr txBox="1"/>
          <p:nvPr/>
        </p:nvSpPr>
        <p:spPr>
          <a:xfrm>
            <a:off x="731520" y="3017520"/>
            <a:ext cx="822960" cy="749808"/>
          </a:xfrm>
          <a:prstGeom prst="rect">
            <a:avLst/>
          </a:prstGeom>
          <a:noFill/>
        </p:spPr>
        <p:txBody>
          <a:bodyPr wrap="square" lIns="0" rIns="0" tIns="0" bIns="0" anchor="ctr">
            <a:spAutoFit/>
          </a:bodyPr>
          <a:lstStyle/>
          <a:p>
            <a:pPr algn="l">
              <a:spcAft>
                <a:spcPts val="0"/>
              </a:spcAft>
            </a:pPr>
            <a:r>
              <a:rPr sz="1600" b="1" i="0">
                <a:solidFill>
                  <a:srgbClr val="0A5C5B"/>
                </a:solidFill>
                <a:latin typeface="Calibri"/>
              </a:rPr>
              <a:t>Dev</a:t>
            </a:r>
          </a:p>
        </p:txBody>
      </p:sp>
      <p:sp>
        <p:nvSpPr>
          <p:cNvPr id="11" name="TextBox 10"/>
          <p:cNvSpPr txBox="1"/>
          <p:nvPr/>
        </p:nvSpPr>
        <p:spPr>
          <a:xfrm>
            <a:off x="1508760" y="3017520"/>
            <a:ext cx="2194560" cy="749808"/>
          </a:xfrm>
          <a:prstGeom prst="rect">
            <a:avLst/>
          </a:prstGeom>
          <a:noFill/>
        </p:spPr>
        <p:txBody>
          <a:bodyPr wrap="square" lIns="0" rIns="0" tIns="0" bIns="0" anchor="ctr">
            <a:spAutoFit/>
          </a:bodyPr>
          <a:lstStyle/>
          <a:p>
            <a:pPr algn="l">
              <a:spcAft>
                <a:spcPts val="0"/>
              </a:spcAft>
            </a:pPr>
            <a:r>
              <a:rPr sz="1300" b="0" i="0">
                <a:solidFill>
                  <a:srgbClr val="0A5C5B"/>
                </a:solidFill>
                <a:latin typeface="Calibri"/>
              </a:rPr>
              <a:t>Pick threshold and post-processing params</a:t>
            </a:r>
          </a:p>
        </p:txBody>
      </p:sp>
      <p:sp>
        <p:nvSpPr>
          <p:cNvPr id="12" name="Rounded Rectangle 11"/>
          <p:cNvSpPr/>
          <p:nvPr/>
        </p:nvSpPr>
        <p:spPr>
          <a:xfrm>
            <a:off x="548640" y="3886200"/>
            <a:ext cx="3291840" cy="749808"/>
          </a:xfrm>
          <a:prstGeom prst="roundRect">
            <a:avLst>
              <a:gd name="adj" fmla="val 6000"/>
            </a:avLst>
          </a:prstGeom>
          <a:solidFill>
            <a:srgbClr val="162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TextBox 12"/>
          <p:cNvSpPr txBox="1"/>
          <p:nvPr/>
        </p:nvSpPr>
        <p:spPr>
          <a:xfrm>
            <a:off x="731520" y="3886200"/>
            <a:ext cx="822960" cy="749808"/>
          </a:xfrm>
          <a:prstGeom prst="rect">
            <a:avLst/>
          </a:prstGeom>
          <a:noFill/>
        </p:spPr>
        <p:txBody>
          <a:bodyPr wrap="square" lIns="0" rIns="0" tIns="0" bIns="0" anchor="ctr">
            <a:spAutoFit/>
          </a:bodyPr>
          <a:lstStyle/>
          <a:p>
            <a:pPr algn="l">
              <a:spcAft>
                <a:spcPts val="0"/>
              </a:spcAft>
            </a:pPr>
            <a:r>
              <a:rPr sz="1600" b="1" i="0">
                <a:solidFill>
                  <a:srgbClr val="FFFFFF"/>
                </a:solidFill>
                <a:latin typeface="Calibri"/>
              </a:rPr>
              <a:t>Test</a:t>
            </a:r>
          </a:p>
        </p:txBody>
      </p:sp>
      <p:sp>
        <p:nvSpPr>
          <p:cNvPr id="14" name="TextBox 13"/>
          <p:cNvSpPr txBox="1"/>
          <p:nvPr/>
        </p:nvSpPr>
        <p:spPr>
          <a:xfrm>
            <a:off x="1508760" y="3886200"/>
            <a:ext cx="2194560" cy="749808"/>
          </a:xfrm>
          <a:prstGeom prst="rect">
            <a:avLst/>
          </a:prstGeom>
          <a:noFill/>
        </p:spPr>
        <p:txBody>
          <a:bodyPr wrap="square" lIns="0" rIns="0" tIns="0" bIns="0" anchor="ctr">
            <a:spAutoFit/>
          </a:bodyPr>
          <a:lstStyle/>
          <a:p>
            <a:pPr algn="l">
              <a:spcAft>
                <a:spcPts val="0"/>
              </a:spcAft>
            </a:pPr>
            <a:r>
              <a:rPr sz="1300" b="0" i="0">
                <a:solidFill>
                  <a:srgbClr val="FFFFFF"/>
                </a:solidFill>
                <a:latin typeface="Calibri"/>
              </a:rPr>
              <a:t>Locked; run only when finalizing</a:t>
            </a:r>
          </a:p>
        </p:txBody>
      </p:sp>
      <p:sp>
        <p:nvSpPr>
          <p:cNvPr id="15" name="TextBox 14"/>
          <p:cNvSpPr txBox="1"/>
          <p:nvPr/>
        </p:nvSpPr>
        <p:spPr>
          <a:xfrm>
            <a:off x="548640" y="4846320"/>
            <a:ext cx="3291840" cy="1325880"/>
          </a:xfrm>
          <a:prstGeom prst="rect">
            <a:avLst/>
          </a:prstGeom>
          <a:noFill/>
        </p:spPr>
        <p:txBody>
          <a:bodyPr wrap="square" lIns="0" rIns="0" tIns="0" bIns="0" anchor="t">
            <a:spAutoFit/>
          </a:bodyPr>
          <a:lstStyle/>
          <a:p>
            <a:pPr algn="l">
              <a:spcAft>
                <a:spcPts val="600"/>
              </a:spcAft>
            </a:pPr>
            <a:r>
              <a:rPr sz="1300" b="1" i="0">
                <a:solidFill>
                  <a:srgbClr val="16202E"/>
                </a:solidFill>
                <a:latin typeface="Calibri"/>
              </a:rPr>
              <a:t>Split by source file and origin. </a:t>
            </a:r>
            <a:r>
              <a:rPr sz="1300" b="0" i="0">
                <a:solidFill>
                  <a:srgbClr val="5B6472"/>
                </a:solidFill>
                <a:latin typeface="Calibri"/>
              </a:rPr>
              <a:t>Two 10 s clips from the same file in different splits is leakage.</a:t>
            </a:r>
          </a:p>
          <a:p>
            <a:pPr algn="l">
              <a:spcAft>
                <a:spcPts val="600"/>
              </a:spcAft>
            </a:pPr>
            <a:r>
              <a:rPr sz="1300" b="1" i="0">
                <a:solidFill>
                  <a:srgbClr val="16202E"/>
                </a:solidFill>
                <a:latin typeface="Calibri"/>
              </a:rPr>
              <a:t>Store labels as segments (start, end), </a:t>
            </a:r>
            <a:r>
              <a:rPr sz="1300" b="0" i="0">
                <a:solidFill>
                  <a:srgbClr val="5B6472"/>
                </a:solidFill>
                <a:latin typeface="Calibri"/>
              </a:rPr>
              <a:t>not on the 0.5 s grid.</a:t>
            </a:r>
          </a:p>
        </p:txBody>
      </p:sp>
      <p:sp>
        <p:nvSpPr>
          <p:cNvPr id="16" name="TextBox 15"/>
          <p:cNvSpPr txBox="1"/>
          <p:nvPr/>
        </p:nvSpPr>
        <p:spPr>
          <a:xfrm>
            <a:off x="4114800" y="1691640"/>
            <a:ext cx="3703320"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Data sources</a:t>
            </a:r>
          </a:p>
        </p:txBody>
      </p:sp>
      <p:sp>
        <p:nvSpPr>
          <p:cNvPr id="17" name="Rounded Rectangle 16"/>
          <p:cNvSpPr/>
          <p:nvPr/>
        </p:nvSpPr>
        <p:spPr>
          <a:xfrm>
            <a:off x="4114800" y="2148840"/>
            <a:ext cx="3703320" cy="58521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TextBox 17"/>
          <p:cNvSpPr txBox="1"/>
          <p:nvPr/>
        </p:nvSpPr>
        <p:spPr>
          <a:xfrm>
            <a:off x="4251960" y="2148840"/>
            <a:ext cx="3429000" cy="585216"/>
          </a:xfrm>
          <a:prstGeom prst="rect">
            <a:avLst/>
          </a:prstGeom>
          <a:noFill/>
        </p:spPr>
        <p:txBody>
          <a:bodyPr wrap="square" lIns="0" rIns="0" tIns="0" bIns="0" anchor="ctr">
            <a:spAutoFit/>
          </a:bodyPr>
          <a:lstStyle/>
          <a:p>
            <a:pPr algn="l">
              <a:spcAft>
                <a:spcPts val="0"/>
              </a:spcAft>
            </a:pPr>
            <a:r>
              <a:rPr sz="1200" b="1" i="0">
                <a:solidFill>
                  <a:srgbClr val="16202E"/>
                </a:solidFill>
                <a:latin typeface="Calibri"/>
              </a:rPr>
              <a:t>In-domain: </a:t>
            </a:r>
            <a:r>
              <a:rPr sz="1200" b="0" i="0">
                <a:solidFill>
                  <a:srgbClr val="5B6472"/>
                </a:solidFill>
                <a:latin typeface="Calibri"/>
              </a:rPr>
              <a:t>Real app files: the main source</a:t>
            </a:r>
          </a:p>
        </p:txBody>
      </p:sp>
      <p:sp>
        <p:nvSpPr>
          <p:cNvPr id="19" name="Rounded Rectangle 18"/>
          <p:cNvSpPr/>
          <p:nvPr/>
        </p:nvSpPr>
        <p:spPr>
          <a:xfrm>
            <a:off x="4114800" y="2807208"/>
            <a:ext cx="3703320" cy="58521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TextBox 19"/>
          <p:cNvSpPr txBox="1"/>
          <p:nvPr/>
        </p:nvSpPr>
        <p:spPr>
          <a:xfrm>
            <a:off x="4251960" y="2807208"/>
            <a:ext cx="3429000" cy="585216"/>
          </a:xfrm>
          <a:prstGeom prst="rect">
            <a:avLst/>
          </a:prstGeom>
          <a:noFill/>
        </p:spPr>
        <p:txBody>
          <a:bodyPr wrap="square" lIns="0" rIns="0" tIns="0" bIns="0" anchor="ctr">
            <a:spAutoFit/>
          </a:bodyPr>
          <a:lstStyle/>
          <a:p>
            <a:pPr algn="l">
              <a:spcAft>
                <a:spcPts val="0"/>
              </a:spcAft>
            </a:pPr>
            <a:r>
              <a:rPr sz="1200" b="1" i="0">
                <a:solidFill>
                  <a:srgbClr val="16202E"/>
                </a:solidFill>
                <a:latin typeface="Calibri"/>
              </a:rPr>
              <a:t>Speech: </a:t>
            </a:r>
            <a:r>
              <a:rPr sz="1200" b="0" i="0">
                <a:solidFill>
                  <a:srgbClr val="5B6472"/>
                </a:solidFill>
                <a:latin typeface="Calibri"/>
              </a:rPr>
              <a:t>Common Voice vi, VIVOS</a:t>
            </a:r>
          </a:p>
        </p:txBody>
      </p:sp>
      <p:sp>
        <p:nvSpPr>
          <p:cNvPr id="21" name="Rounded Rectangle 20"/>
          <p:cNvSpPr/>
          <p:nvPr/>
        </p:nvSpPr>
        <p:spPr>
          <a:xfrm>
            <a:off x="4114800" y="3465576"/>
            <a:ext cx="3703320" cy="58521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TextBox 21"/>
          <p:cNvSpPr txBox="1"/>
          <p:nvPr/>
        </p:nvSpPr>
        <p:spPr>
          <a:xfrm>
            <a:off x="4251960" y="3465576"/>
            <a:ext cx="3429000" cy="585216"/>
          </a:xfrm>
          <a:prstGeom prst="rect">
            <a:avLst/>
          </a:prstGeom>
          <a:noFill/>
        </p:spPr>
        <p:txBody>
          <a:bodyPr wrap="square" lIns="0" rIns="0" tIns="0" bIns="0" anchor="ctr">
            <a:spAutoFit/>
          </a:bodyPr>
          <a:lstStyle/>
          <a:p>
            <a:pPr algn="l">
              <a:spcAft>
                <a:spcPts val="0"/>
              </a:spcAft>
            </a:pPr>
            <a:r>
              <a:rPr sz="1200" b="1" i="0">
                <a:solidFill>
                  <a:srgbClr val="16202E"/>
                </a:solidFill>
                <a:latin typeface="Calibri"/>
              </a:rPr>
              <a:t>Singing: </a:t>
            </a:r>
            <a:r>
              <a:rPr sz="1200" b="0" i="0">
                <a:solidFill>
                  <a:srgbClr val="5B6472"/>
                </a:solidFill>
                <a:latin typeface="Calibri"/>
              </a:rPr>
              <a:t>MUSDB18: vocal stem for labels, accompaniment as negatives</a:t>
            </a:r>
          </a:p>
        </p:txBody>
      </p:sp>
      <p:sp>
        <p:nvSpPr>
          <p:cNvPr id="23" name="Rounded Rectangle 22"/>
          <p:cNvSpPr/>
          <p:nvPr/>
        </p:nvSpPr>
        <p:spPr>
          <a:xfrm>
            <a:off x="4114800" y="4123944"/>
            <a:ext cx="3703320" cy="58521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TextBox 23"/>
          <p:cNvSpPr txBox="1"/>
          <p:nvPr/>
        </p:nvSpPr>
        <p:spPr>
          <a:xfrm>
            <a:off x="4251960" y="4123944"/>
            <a:ext cx="3429000" cy="585216"/>
          </a:xfrm>
          <a:prstGeom prst="rect">
            <a:avLst/>
          </a:prstGeom>
          <a:noFill/>
        </p:spPr>
        <p:txBody>
          <a:bodyPr wrap="square" lIns="0" rIns="0" tIns="0" bIns="0" anchor="ctr">
            <a:spAutoFit/>
          </a:bodyPr>
          <a:lstStyle/>
          <a:p>
            <a:pPr algn="l">
              <a:spcAft>
                <a:spcPts val="0"/>
              </a:spcAft>
            </a:pPr>
            <a:r>
              <a:rPr sz="1200" b="1" i="0">
                <a:solidFill>
                  <a:srgbClr val="16202E"/>
                </a:solidFill>
                <a:latin typeface="Calibri"/>
              </a:rPr>
              <a:t>Hard negatives: </a:t>
            </a:r>
            <a:r>
              <a:rPr sz="1200" b="0" i="0">
                <a:solidFill>
                  <a:srgbClr val="5B6472"/>
                </a:solidFill>
                <a:latin typeface="Calibri"/>
              </a:rPr>
              <a:t>AudioSet: Crowd, Babble, Laughter, Cough; FSD50K</a:t>
            </a:r>
          </a:p>
        </p:txBody>
      </p:sp>
      <p:sp>
        <p:nvSpPr>
          <p:cNvPr id="25" name="Rounded Rectangle 24"/>
          <p:cNvSpPr/>
          <p:nvPr/>
        </p:nvSpPr>
        <p:spPr>
          <a:xfrm>
            <a:off x="4114800" y="4782312"/>
            <a:ext cx="3703320" cy="58521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TextBox 25"/>
          <p:cNvSpPr txBox="1"/>
          <p:nvPr/>
        </p:nvSpPr>
        <p:spPr>
          <a:xfrm>
            <a:off x="4251960" y="4782312"/>
            <a:ext cx="3429000" cy="585216"/>
          </a:xfrm>
          <a:prstGeom prst="rect">
            <a:avLst/>
          </a:prstGeom>
          <a:noFill/>
        </p:spPr>
        <p:txBody>
          <a:bodyPr wrap="square" lIns="0" rIns="0" tIns="0" bIns="0" anchor="ctr">
            <a:spAutoFit/>
          </a:bodyPr>
          <a:lstStyle/>
          <a:p>
            <a:pPr algn="l">
              <a:spcAft>
                <a:spcPts val="0"/>
              </a:spcAft>
            </a:pPr>
            <a:r>
              <a:rPr sz="1200" b="1" i="0">
                <a:solidFill>
                  <a:srgbClr val="16202E"/>
                </a:solidFill>
                <a:latin typeface="Calibri"/>
              </a:rPr>
              <a:t>Music: </a:t>
            </a:r>
            <a:r>
              <a:rPr sz="1200" b="0" i="0">
                <a:solidFill>
                  <a:srgbClr val="5B6472"/>
                </a:solidFill>
                <a:latin typeface="Calibri"/>
              </a:rPr>
              <a:t>MUSAN, vocal tracks filtered out</a:t>
            </a:r>
          </a:p>
        </p:txBody>
      </p:sp>
      <p:sp>
        <p:nvSpPr>
          <p:cNvPr id="27" name="Rounded Rectangle 26"/>
          <p:cNvSpPr/>
          <p:nvPr/>
        </p:nvSpPr>
        <p:spPr>
          <a:xfrm>
            <a:off x="4114800" y="5440679"/>
            <a:ext cx="3703320" cy="58521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TextBox 27"/>
          <p:cNvSpPr txBox="1"/>
          <p:nvPr/>
        </p:nvSpPr>
        <p:spPr>
          <a:xfrm>
            <a:off x="4251960" y="5440679"/>
            <a:ext cx="3429000" cy="585216"/>
          </a:xfrm>
          <a:prstGeom prst="rect">
            <a:avLst/>
          </a:prstGeom>
          <a:noFill/>
        </p:spPr>
        <p:txBody>
          <a:bodyPr wrap="square" lIns="0" rIns="0" tIns="0" bIns="0" anchor="ctr">
            <a:spAutoFit/>
          </a:bodyPr>
          <a:lstStyle/>
          <a:p>
            <a:pPr algn="l">
              <a:spcAft>
                <a:spcPts val="0"/>
              </a:spcAft>
            </a:pPr>
            <a:r>
              <a:rPr sz="1200" b="1" i="0">
                <a:solidFill>
                  <a:srgbClr val="16202E"/>
                </a:solidFill>
                <a:latin typeface="Calibri"/>
              </a:rPr>
              <a:t>Mixing: </a:t>
            </a:r>
            <a:r>
              <a:rPr sz="1200" b="0" i="0">
                <a:solidFill>
                  <a:srgbClr val="5B6472"/>
                </a:solidFill>
                <a:latin typeface="Calibri"/>
              </a:rPr>
              <a:t>SNR −5…20 dB; vocal/accompaniment ratio; reverb</a:t>
            </a:r>
          </a:p>
        </p:txBody>
      </p:sp>
      <p:sp>
        <p:nvSpPr>
          <p:cNvPr id="29" name="Rounded Rectangle 28"/>
          <p:cNvSpPr/>
          <p:nvPr/>
        </p:nvSpPr>
        <p:spPr>
          <a:xfrm>
            <a:off x="8092440" y="1691640"/>
            <a:ext cx="3547872" cy="4480560"/>
          </a:xfrm>
          <a:prstGeom prst="roundRect">
            <a:avLst>
              <a:gd name="adj" fmla="val 6000"/>
            </a:avLst>
          </a:prstGeom>
          <a:solidFill>
            <a:srgbClr val="FFFFFF"/>
          </a:solidFill>
          <a:ln w="12700">
            <a:solidFill>
              <a:srgbClr val="DDE2E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0" name="TextBox 29"/>
          <p:cNvSpPr txBox="1"/>
          <p:nvPr/>
        </p:nvSpPr>
        <p:spPr>
          <a:xfrm>
            <a:off x="8321040" y="1810512"/>
            <a:ext cx="3090672"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Checks before training</a:t>
            </a:r>
          </a:p>
        </p:txBody>
      </p:sp>
      <p:sp>
        <p:nvSpPr>
          <p:cNvPr id="31" name="Oval 30"/>
          <p:cNvSpPr/>
          <p:nvPr/>
        </p:nvSpPr>
        <p:spPr>
          <a:xfrm>
            <a:off x="8321040" y="2377439"/>
            <a:ext cx="347472" cy="34747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2" name="Picture 31" descr="check_w.png"/>
          <p:cNvPicPr>
            <a:picLocks noChangeAspect="1"/>
          </p:cNvPicPr>
          <p:nvPr/>
        </p:nvPicPr>
        <p:blipFill>
          <a:blip r:embed="rId2"/>
          <a:stretch>
            <a:fillRect/>
          </a:stretch>
        </p:blipFill>
        <p:spPr>
          <a:xfrm>
            <a:off x="8375904" y="2432303"/>
            <a:ext cx="237744" cy="237744"/>
          </a:xfrm>
          <a:prstGeom prst="rect">
            <a:avLst/>
          </a:prstGeom>
        </p:spPr>
      </p:pic>
      <p:sp>
        <p:nvSpPr>
          <p:cNvPr id="33" name="TextBox 32"/>
          <p:cNvSpPr txBox="1"/>
          <p:nvPr/>
        </p:nvSpPr>
        <p:spPr>
          <a:xfrm>
            <a:off x="8805672" y="2331720"/>
            <a:ext cx="2633472" cy="685800"/>
          </a:xfrm>
          <a:prstGeom prst="rect">
            <a:avLst/>
          </a:prstGeom>
          <a:noFill/>
        </p:spPr>
        <p:txBody>
          <a:bodyPr wrap="square" lIns="0" rIns="0" tIns="0" bIns="0" anchor="t">
            <a:spAutoFit/>
          </a:bodyPr>
          <a:lstStyle/>
          <a:p>
            <a:pPr algn="l">
              <a:spcAft>
                <a:spcPts val="0"/>
              </a:spcAft>
            </a:pPr>
            <a:r>
              <a:rPr sz="1300" b="0" i="0">
                <a:solidFill>
                  <a:srgbClr val="16202E"/>
                </a:solidFill>
                <a:latin typeface="Calibri"/>
              </a:rPr>
              <a:t>Re-audit old labels against the new definition (singing, crowd, laughs/coughs)</a:t>
            </a:r>
          </a:p>
        </p:txBody>
      </p:sp>
      <p:sp>
        <p:nvSpPr>
          <p:cNvPr id="34" name="Oval 33"/>
          <p:cNvSpPr/>
          <p:nvPr/>
        </p:nvSpPr>
        <p:spPr>
          <a:xfrm>
            <a:off x="8321040" y="3127247"/>
            <a:ext cx="347472" cy="34747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5" name="Picture 34" descr="check_w.png"/>
          <p:cNvPicPr>
            <a:picLocks noChangeAspect="1"/>
          </p:cNvPicPr>
          <p:nvPr/>
        </p:nvPicPr>
        <p:blipFill>
          <a:blip r:embed="rId2"/>
          <a:stretch>
            <a:fillRect/>
          </a:stretch>
        </p:blipFill>
        <p:spPr>
          <a:xfrm>
            <a:off x="8375904" y="3182111"/>
            <a:ext cx="237744" cy="237744"/>
          </a:xfrm>
          <a:prstGeom prst="rect">
            <a:avLst/>
          </a:prstGeom>
        </p:spPr>
      </p:pic>
      <p:sp>
        <p:nvSpPr>
          <p:cNvPr id="36" name="TextBox 35"/>
          <p:cNvSpPr txBox="1"/>
          <p:nvPr/>
        </p:nvSpPr>
        <p:spPr>
          <a:xfrm>
            <a:off x="8805672" y="3081527"/>
            <a:ext cx="2633472" cy="685800"/>
          </a:xfrm>
          <a:prstGeom prst="rect">
            <a:avLst/>
          </a:prstGeom>
          <a:noFill/>
        </p:spPr>
        <p:txBody>
          <a:bodyPr wrap="square" lIns="0" rIns="0" tIns="0" bIns="0" anchor="t">
            <a:spAutoFit/>
          </a:bodyPr>
          <a:lstStyle/>
          <a:p>
            <a:pPr algn="l">
              <a:spcAft>
                <a:spcPts val="0"/>
              </a:spcAft>
            </a:pPr>
            <a:r>
              <a:rPr sz="1300" b="0" i="0">
                <a:solidFill>
                  <a:srgbClr val="16202E"/>
                </a:solidFill>
                <a:latin typeface="Calibri"/>
              </a:rPr>
              <a:t>Speech share by duration, per slice</a:t>
            </a:r>
          </a:p>
        </p:txBody>
      </p:sp>
      <p:sp>
        <p:nvSpPr>
          <p:cNvPr id="37" name="Oval 36"/>
          <p:cNvSpPr/>
          <p:nvPr/>
        </p:nvSpPr>
        <p:spPr>
          <a:xfrm>
            <a:off x="8321040" y="3877055"/>
            <a:ext cx="347472" cy="34747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8" name="Picture 37" descr="check_w.png"/>
          <p:cNvPicPr>
            <a:picLocks noChangeAspect="1"/>
          </p:cNvPicPr>
          <p:nvPr/>
        </p:nvPicPr>
        <p:blipFill>
          <a:blip r:embed="rId2"/>
          <a:stretch>
            <a:fillRect/>
          </a:stretch>
        </p:blipFill>
        <p:spPr>
          <a:xfrm>
            <a:off x="8375904" y="3931920"/>
            <a:ext cx="237744" cy="237744"/>
          </a:xfrm>
          <a:prstGeom prst="rect">
            <a:avLst/>
          </a:prstGeom>
        </p:spPr>
      </p:pic>
      <p:sp>
        <p:nvSpPr>
          <p:cNvPr id="39" name="TextBox 38"/>
          <p:cNvSpPr txBox="1"/>
          <p:nvPr/>
        </p:nvSpPr>
        <p:spPr>
          <a:xfrm>
            <a:off x="8805672" y="3831335"/>
            <a:ext cx="2633472" cy="685800"/>
          </a:xfrm>
          <a:prstGeom prst="rect">
            <a:avLst/>
          </a:prstGeom>
          <a:noFill/>
        </p:spPr>
        <p:txBody>
          <a:bodyPr wrap="square" lIns="0" rIns="0" tIns="0" bIns="0" anchor="t">
            <a:spAutoFit/>
          </a:bodyPr>
          <a:lstStyle/>
          <a:p>
            <a:pPr algn="l">
              <a:spcAft>
                <a:spcPts val="0"/>
              </a:spcAft>
            </a:pPr>
            <a:r>
              <a:rPr sz="1300" b="0" i="0">
                <a:solidFill>
                  <a:srgbClr val="16202E"/>
                </a:solidFill>
                <a:latin typeface="Calibri"/>
              </a:rPr>
              <a:t>Consensus vs label2 agreement (kappa): this is the ceiling</a:t>
            </a:r>
          </a:p>
        </p:txBody>
      </p:sp>
      <p:sp>
        <p:nvSpPr>
          <p:cNvPr id="40" name="Oval 39"/>
          <p:cNvSpPr/>
          <p:nvPr/>
        </p:nvSpPr>
        <p:spPr>
          <a:xfrm>
            <a:off x="8321040" y="4626864"/>
            <a:ext cx="347472" cy="34747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41" name="Picture 40" descr="check_w.png"/>
          <p:cNvPicPr>
            <a:picLocks noChangeAspect="1"/>
          </p:cNvPicPr>
          <p:nvPr/>
        </p:nvPicPr>
        <p:blipFill>
          <a:blip r:embed="rId2"/>
          <a:stretch>
            <a:fillRect/>
          </a:stretch>
        </p:blipFill>
        <p:spPr>
          <a:xfrm>
            <a:off x="8375904" y="4681728"/>
            <a:ext cx="237744" cy="237744"/>
          </a:xfrm>
          <a:prstGeom prst="rect">
            <a:avLst/>
          </a:prstGeom>
        </p:spPr>
      </p:pic>
      <p:sp>
        <p:nvSpPr>
          <p:cNvPr id="42" name="TextBox 41"/>
          <p:cNvSpPr txBox="1"/>
          <p:nvPr/>
        </p:nvSpPr>
        <p:spPr>
          <a:xfrm>
            <a:off x="8805672" y="4581144"/>
            <a:ext cx="2633472" cy="685800"/>
          </a:xfrm>
          <a:prstGeom prst="rect">
            <a:avLst/>
          </a:prstGeom>
          <a:noFill/>
        </p:spPr>
        <p:txBody>
          <a:bodyPr wrap="square" lIns="0" rIns="0" tIns="0" bIns="0" anchor="t">
            <a:spAutoFit/>
          </a:bodyPr>
          <a:lstStyle/>
          <a:p>
            <a:pPr algn="l">
              <a:spcAft>
                <a:spcPts val="0"/>
              </a:spcAft>
            </a:pPr>
            <a:r>
              <a:rPr sz="1300" b="0" i="0">
                <a:solidFill>
                  <a:srgbClr val="16202E"/>
                </a:solidFill>
                <a:latin typeface="Calibri"/>
              </a:rPr>
              <a:t>Clips where both the model and Silero disagree with the label → review</a:t>
            </a:r>
          </a:p>
        </p:txBody>
      </p:sp>
      <p:sp>
        <p:nvSpPr>
          <p:cNvPr id="43" name="Oval 42"/>
          <p:cNvSpPr/>
          <p:nvPr/>
        </p:nvSpPr>
        <p:spPr>
          <a:xfrm>
            <a:off x="8321040" y="5376672"/>
            <a:ext cx="347472" cy="34747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44" name="Picture 43" descr="check_w.png"/>
          <p:cNvPicPr>
            <a:picLocks noChangeAspect="1"/>
          </p:cNvPicPr>
          <p:nvPr/>
        </p:nvPicPr>
        <p:blipFill>
          <a:blip r:embed="rId2"/>
          <a:stretch>
            <a:fillRect/>
          </a:stretch>
        </p:blipFill>
        <p:spPr>
          <a:xfrm>
            <a:off x="8375904" y="5431536"/>
            <a:ext cx="237744" cy="237744"/>
          </a:xfrm>
          <a:prstGeom prst="rect">
            <a:avLst/>
          </a:prstGeom>
        </p:spPr>
      </p:pic>
      <p:sp>
        <p:nvSpPr>
          <p:cNvPr id="45" name="TextBox 44"/>
          <p:cNvSpPr txBox="1"/>
          <p:nvPr/>
        </p:nvSpPr>
        <p:spPr>
          <a:xfrm>
            <a:off x="8805672" y="5330952"/>
            <a:ext cx="2633472" cy="685800"/>
          </a:xfrm>
          <a:prstGeom prst="rect">
            <a:avLst/>
          </a:prstGeom>
          <a:noFill/>
        </p:spPr>
        <p:txBody>
          <a:bodyPr wrap="square" lIns="0" rIns="0" tIns="0" bIns="0" anchor="t">
            <a:spAutoFit/>
          </a:bodyPr>
          <a:lstStyle/>
          <a:p>
            <a:pPr algn="l">
              <a:spcAft>
                <a:spcPts val="0"/>
              </a:spcAft>
            </a:pPr>
            <a:r>
              <a:rPr sz="1300" b="0" i="0">
                <a:solidFill>
                  <a:srgbClr val="16202E"/>
                </a:solidFill>
                <a:latin typeface="Calibri"/>
              </a:rPr>
              <a:t>Duplicate audio across train and test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04698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Experiments</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Each experiment changes one variable, scored on the same scorecard</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10 / 15</a:t>
            </a:r>
          </a:p>
        </p:txBody>
      </p:sp>
      <p:graphicFrame>
        <p:nvGraphicFramePr>
          <p:cNvPr id="5" name="Table 4"/>
          <p:cNvGraphicFramePr>
            <a:graphicFrameLocks noGrp="1"/>
          </p:cNvGraphicFramePr>
          <p:nvPr/>
        </p:nvGraphicFramePr>
        <p:xfrm>
          <a:off x="548640" y="1737360"/>
          <a:ext cx="11091672" cy="4169656"/>
        </p:xfrm>
        <a:graphic>
          <a:graphicData uri="http://schemas.openxmlformats.org/drawingml/2006/table">
            <a:tbl>
              <a:tblPr firstRow="1" bandRow="1">
                <a:tableStyleId>{5C22544A-7EE6-4342-B048-85BDC9FD1C3A}</a:tableStyleId>
              </a:tblPr>
              <a:tblGrid>
                <a:gridCol w="548640"/>
                <a:gridCol w="4206240"/>
                <a:gridCol w="4142232"/>
                <a:gridCol w="2194560"/>
              </a:tblGrid>
              <a:tr h="521207">
                <a:tc>
                  <a:txBody>
                    <a:bodyPr wrap="square"/>
                    <a:lstStyle/>
                    <a:p>
                      <a:pPr algn="ctr"/>
                      <a:r>
                        <a:rPr sz="1200" b="1">
                          <a:solidFill>
                            <a:srgbClr val="FFFFFF"/>
                          </a:solidFill>
                          <a:latin typeface="Calibri"/>
                        </a:rPr>
                        <a:t>#</a:t>
                      </a:r>
                    </a:p>
                  </a:txBody>
                  <a:tcPr marL="91440" marR="91440" marT="27432" marB="27432" anchor="ctr">
                    <a:solidFill>
                      <a:srgbClr val="16202E"/>
                    </a:solidFill>
                  </a:tcPr>
                </a:tc>
                <a:tc>
                  <a:txBody>
                    <a:bodyPr wrap="square"/>
                    <a:lstStyle/>
                    <a:p>
                      <a:pPr algn="l"/>
                      <a:r>
                        <a:rPr sz="1200" b="1">
                          <a:solidFill>
                            <a:srgbClr val="FFFFFF"/>
                          </a:solidFill>
                          <a:latin typeface="Calibri"/>
                        </a:rPr>
                        <a:t>Experiment</a:t>
                      </a:r>
                    </a:p>
                  </a:txBody>
                  <a:tcPr marL="91440" marR="91440" marT="27432" marB="27432" anchor="ctr">
                    <a:solidFill>
                      <a:srgbClr val="16202E"/>
                    </a:solidFill>
                  </a:tcPr>
                </a:tc>
                <a:tc>
                  <a:txBody>
                    <a:bodyPr wrap="square"/>
                    <a:lstStyle/>
                    <a:p>
                      <a:pPr algn="l"/>
                      <a:r>
                        <a:rPr sz="1200" b="1">
                          <a:solidFill>
                            <a:srgbClr val="FFFFFF"/>
                          </a:solidFill>
                          <a:latin typeface="Calibri"/>
                        </a:rPr>
                        <a:t>Hypothesis</a:t>
                      </a:r>
                    </a:p>
                  </a:txBody>
                  <a:tcPr marL="91440" marR="91440" marT="27432" marB="27432" anchor="ctr">
                    <a:solidFill>
                      <a:srgbClr val="16202E"/>
                    </a:solidFill>
                  </a:tcPr>
                </a:tc>
                <a:tc>
                  <a:txBody>
                    <a:bodyPr wrap="square"/>
                    <a:lstStyle/>
                    <a:p>
                      <a:pPr algn="l"/>
                      <a:r>
                        <a:rPr sz="1200" b="1">
                          <a:solidFill>
                            <a:srgbClr val="FFFFFF"/>
                          </a:solidFill>
                          <a:latin typeface="Calibri"/>
                        </a:rPr>
                        <a:t>Metric to watch</a:t>
                      </a:r>
                    </a:p>
                  </a:txBody>
                  <a:tcPr marL="91440" marR="91440" marT="27432" marB="27432" anchor="ctr">
                    <a:solidFill>
                      <a:srgbClr val="16202E"/>
                    </a:solidFill>
                  </a:tcPr>
                </a:tc>
              </a:tr>
              <a:tr h="521207">
                <a:tc>
                  <a:txBody>
                    <a:bodyPr wrap="square"/>
                    <a:lstStyle/>
                    <a:p>
                      <a:pPr algn="ctr"/>
                      <a:r>
                        <a:rPr sz="1300" b="1">
                          <a:solidFill>
                            <a:srgbClr val="0A5C5B"/>
                          </a:solidFill>
                          <a:latin typeface="Calibri"/>
                        </a:rPr>
                        <a:t>E0</a:t>
                      </a:r>
                    </a:p>
                  </a:txBody>
                  <a:tcPr marL="91440" marR="91440" marT="27432" marB="27432" anchor="ctr">
                    <a:solidFill>
                      <a:srgbClr val="FFFFFF"/>
                    </a:solidFill>
                  </a:tcPr>
                </a:tc>
                <a:tc>
                  <a:txBody>
                    <a:bodyPr wrap="square"/>
                    <a:lstStyle/>
                    <a:p>
                      <a:pPr algn="l"/>
                      <a:r>
                        <a:rPr sz="1300" b="0">
                          <a:solidFill>
                            <a:srgbClr val="16202E"/>
                          </a:solidFill>
                          <a:latin typeface="Calibri"/>
                        </a:rPr>
                        <a:t>Baseline: current YAMNet, Silero, WebRTC</a:t>
                      </a:r>
                    </a:p>
                  </a:txBody>
                  <a:tcPr marL="91440" marR="91440" marT="27432" marB="27432" anchor="ctr">
                    <a:solidFill>
                      <a:srgbClr val="FFFFFF"/>
                    </a:solidFill>
                  </a:tcPr>
                </a:tc>
                <a:tc>
                  <a:txBody>
                    <a:bodyPr wrap="square"/>
                    <a:lstStyle/>
                    <a:p>
                      <a:pPr algn="l"/>
                      <a:r>
                        <a:rPr sz="1300" b="0">
                          <a:solidFill>
                            <a:srgbClr val="5B6472"/>
                          </a:solidFill>
                          <a:latin typeface="Calibri"/>
                        </a:rPr>
                        <a:t>Establishes the floor</a:t>
                      </a:r>
                    </a:p>
                  </a:txBody>
                  <a:tcPr marL="91440" marR="91440" marT="27432" marB="27432" anchor="ctr">
                    <a:solidFill>
                      <a:srgbClr val="FFFFFF"/>
                    </a:solidFill>
                  </a:tcPr>
                </a:tc>
                <a:tc>
                  <a:txBody>
                    <a:bodyPr wrap="square"/>
                    <a:lstStyle/>
                    <a:p>
                      <a:pPr algn="l"/>
                      <a:r>
                        <a:rPr sz="1300" b="0">
                          <a:solidFill>
                            <a:srgbClr val="5B6472"/>
                          </a:solidFill>
                          <a:latin typeface="Calibri"/>
                        </a:rPr>
                        <a:t>Full scorecard</a:t>
                      </a:r>
                    </a:p>
                  </a:txBody>
                  <a:tcPr marL="91440" marR="91440" marT="27432" marB="27432" anchor="ctr">
                    <a:solidFill>
                      <a:srgbClr val="FFFFFF"/>
                    </a:solidFill>
                  </a:tcPr>
                </a:tc>
              </a:tr>
              <a:tr h="521207">
                <a:tc>
                  <a:txBody>
                    <a:bodyPr wrap="square"/>
                    <a:lstStyle/>
                    <a:p>
                      <a:pPr algn="ctr"/>
                      <a:r>
                        <a:rPr sz="1300" b="1">
                          <a:solidFill>
                            <a:srgbClr val="0A5C5B"/>
                          </a:solidFill>
                          <a:latin typeface="Calibri"/>
                        </a:rPr>
                        <a:t>E1</a:t>
                      </a:r>
                    </a:p>
                  </a:txBody>
                  <a:tcPr marL="91440" marR="91440" marT="27432" marB="27432" anchor="ctr">
                    <a:solidFill>
                      <a:srgbClr val="F3F5F8"/>
                    </a:solidFill>
                  </a:tcPr>
                </a:tc>
                <a:tc>
                  <a:txBody>
                    <a:bodyPr wrap="square"/>
                    <a:lstStyle/>
                    <a:p>
                      <a:pPr algn="l"/>
                      <a:r>
                        <a:rPr sz="1300" b="0">
                          <a:solidFill>
                            <a:srgbClr val="16202E"/>
                          </a:solidFill>
                          <a:latin typeface="Calibri"/>
                        </a:rPr>
                        <a:t>Post-processing: hysteresis, padding, gap merging</a:t>
                      </a:r>
                    </a:p>
                  </a:txBody>
                  <a:tcPr marL="91440" marR="91440" marT="27432" marB="27432" anchor="ctr">
                    <a:solidFill>
                      <a:srgbClr val="F3F5F8"/>
                    </a:solidFill>
                  </a:tcPr>
                </a:tc>
                <a:tc>
                  <a:txBody>
                    <a:bodyPr wrap="square"/>
                    <a:lstStyle/>
                    <a:p>
                      <a:pPr algn="l"/>
                      <a:r>
                        <a:rPr sz="1300" b="0">
                          <a:solidFill>
                            <a:srgbClr val="5B6472"/>
                          </a:solidFill>
                          <a:latin typeface="Calibri"/>
                        </a:rPr>
                        <a:t>100/120 ms padding and &lt; 500 ms merging inflate boundary FA</a:t>
                      </a:r>
                    </a:p>
                  </a:txBody>
                  <a:tcPr marL="91440" marR="91440" marT="27432" marB="27432" anchor="ctr">
                    <a:solidFill>
                      <a:srgbClr val="F3F5F8"/>
                    </a:solidFill>
                  </a:tcPr>
                </a:tc>
                <a:tc>
                  <a:txBody>
                    <a:bodyPr wrap="square"/>
                    <a:lstStyle/>
                    <a:p>
                      <a:pPr algn="l"/>
                      <a:r>
                        <a:rPr sz="1300" b="0">
                          <a:solidFill>
                            <a:srgbClr val="5B6472"/>
                          </a:solidFill>
                          <a:latin typeface="Calibri"/>
                        </a:rPr>
                        <a:t>Boundary FA, P90</a:t>
                      </a:r>
                    </a:p>
                  </a:txBody>
                  <a:tcPr marL="91440" marR="91440" marT="27432" marB="27432" anchor="ctr">
                    <a:solidFill>
                      <a:srgbClr val="F3F5F8"/>
                    </a:solidFill>
                  </a:tcPr>
                </a:tc>
              </a:tr>
              <a:tr h="521207">
                <a:tc>
                  <a:txBody>
                    <a:bodyPr wrap="square"/>
                    <a:lstStyle/>
                    <a:p>
                      <a:pPr algn="ctr"/>
                      <a:r>
                        <a:rPr sz="1300" b="1">
                          <a:solidFill>
                            <a:srgbClr val="0A5C5B"/>
                          </a:solidFill>
                          <a:latin typeface="Calibri"/>
                        </a:rPr>
                        <a:t>E2</a:t>
                      </a:r>
                    </a:p>
                  </a:txBody>
                  <a:tcPr marL="91440" marR="91440" marT="27432" marB="27432" anchor="ctr">
                    <a:solidFill>
                      <a:srgbClr val="FFFFFF"/>
                    </a:solidFill>
                  </a:tcPr>
                </a:tc>
                <a:tc>
                  <a:txBody>
                    <a:bodyPr wrap="square"/>
                    <a:lstStyle/>
                    <a:p>
                      <a:pPr algn="l"/>
                      <a:r>
                        <a:rPr sz="1300" b="0">
                          <a:solidFill>
                            <a:srgbClr val="16202E"/>
                          </a:solidFill>
                          <a:latin typeface="Calibri"/>
                        </a:rPr>
                        <a:t>BiGRU/TCN over the embedding sequence</a:t>
                      </a:r>
                    </a:p>
                  </a:txBody>
                  <a:tcPr marL="91440" marR="91440" marT="27432" marB="27432" anchor="ctr">
                    <a:solidFill>
                      <a:srgbClr val="FFFFFF"/>
                    </a:solidFill>
                  </a:tcPr>
                </a:tc>
                <a:tc>
                  <a:txBody>
                    <a:bodyPr wrap="square"/>
                    <a:lstStyle/>
                    <a:p>
                      <a:pPr algn="l"/>
                      <a:r>
                        <a:rPr sz="1300" b="0">
                          <a:solidFill>
                            <a:srgbClr val="5B6472"/>
                          </a:solidFill>
                          <a:latin typeface="Calibri"/>
                        </a:rPr>
                        <a:t>Temporal context smooths boundaries</a:t>
                      </a:r>
                    </a:p>
                  </a:txBody>
                  <a:tcPr marL="91440" marR="91440" marT="27432" marB="27432" anchor="ctr">
                    <a:solidFill>
                      <a:srgbClr val="FFFFFF"/>
                    </a:solidFill>
                  </a:tcPr>
                </a:tc>
                <a:tc>
                  <a:txBody>
                    <a:bodyPr wrap="square"/>
                    <a:lstStyle/>
                    <a:p>
                      <a:pPr algn="l"/>
                      <a:r>
                        <a:rPr sz="1300" b="0">
                          <a:solidFill>
                            <a:srgbClr val="5B6472"/>
                          </a:solidFill>
                          <a:latin typeface="Calibri"/>
                        </a:rPr>
                        <a:t>P90, Miss</a:t>
                      </a:r>
                    </a:p>
                  </a:txBody>
                  <a:tcPr marL="91440" marR="91440" marT="27432" marB="27432" anchor="ctr">
                    <a:solidFill>
                      <a:srgbClr val="FFFFFF"/>
                    </a:solidFill>
                  </a:tcPr>
                </a:tc>
              </a:tr>
              <a:tr h="521207">
                <a:tc>
                  <a:txBody>
                    <a:bodyPr wrap="square"/>
                    <a:lstStyle/>
                    <a:p>
                      <a:pPr algn="ctr"/>
                      <a:r>
                        <a:rPr sz="1300" b="1">
                          <a:solidFill>
                            <a:srgbClr val="0A5C5B"/>
                          </a:solidFill>
                          <a:latin typeface="Calibri"/>
                        </a:rPr>
                        <a:t>E3</a:t>
                      </a:r>
                    </a:p>
                  </a:txBody>
                  <a:tcPr marL="91440" marR="91440" marT="27432" marB="27432" anchor="ctr">
                    <a:solidFill>
                      <a:srgbClr val="F3F5F8"/>
                    </a:solidFill>
                  </a:tcPr>
                </a:tc>
                <a:tc>
                  <a:txBody>
                    <a:bodyPr wrap="square"/>
                    <a:lstStyle/>
                    <a:p>
                      <a:pPr algn="l"/>
                      <a:r>
                        <a:rPr sz="1300" b="0">
                          <a:solidFill>
                            <a:srgbClr val="16202E"/>
                          </a:solidFill>
                          <a:latin typeface="Calibri"/>
                        </a:rPr>
                        <a:t>10 ms log-mel branch + fusion</a:t>
                      </a:r>
                    </a:p>
                  </a:txBody>
                  <a:tcPr marL="91440" marR="91440" marT="27432" marB="27432" anchor="ctr">
                    <a:solidFill>
                      <a:srgbClr val="F3F5F8"/>
                    </a:solidFill>
                  </a:tcPr>
                </a:tc>
                <a:tc>
                  <a:txBody>
                    <a:bodyPr wrap="square"/>
                    <a:lstStyle/>
                    <a:p>
                      <a:pPr algn="l"/>
                      <a:r>
                        <a:rPr sz="1300" b="0">
                          <a:solidFill>
                            <a:srgbClr val="5B6472"/>
                          </a:solidFill>
                          <a:latin typeface="Calibri"/>
                        </a:rPr>
                        <a:t>Finer resolution gives sharper boundaries</a:t>
                      </a:r>
                    </a:p>
                  </a:txBody>
                  <a:tcPr marL="91440" marR="91440" marT="27432" marB="27432" anchor="ctr">
                    <a:solidFill>
                      <a:srgbClr val="F3F5F8"/>
                    </a:solidFill>
                  </a:tcPr>
                </a:tc>
                <a:tc>
                  <a:txBody>
                    <a:bodyPr wrap="square"/>
                    <a:lstStyle/>
                    <a:p>
                      <a:pPr algn="l"/>
                      <a:r>
                        <a:rPr sz="1300" b="0">
                          <a:solidFill>
                            <a:srgbClr val="5B6472"/>
                          </a:solidFill>
                          <a:latin typeface="Calibri"/>
                        </a:rPr>
                        <a:t>P90</a:t>
                      </a:r>
                    </a:p>
                  </a:txBody>
                  <a:tcPr marL="91440" marR="91440" marT="27432" marB="27432" anchor="ctr">
                    <a:solidFill>
                      <a:srgbClr val="F3F5F8"/>
                    </a:solidFill>
                  </a:tcPr>
                </a:tc>
              </a:tr>
              <a:tr h="521207">
                <a:tc>
                  <a:txBody>
                    <a:bodyPr wrap="square"/>
                    <a:lstStyle/>
                    <a:p>
                      <a:pPr algn="ctr"/>
                      <a:r>
                        <a:rPr sz="1300" b="1">
                          <a:solidFill>
                            <a:srgbClr val="0A5C5B"/>
                          </a:solidFill>
                          <a:latin typeface="Calibri"/>
                        </a:rPr>
                        <a:t>E4</a:t>
                      </a:r>
                    </a:p>
                  </a:txBody>
                  <a:tcPr marL="91440" marR="91440" marT="27432" marB="27432" anchor="ctr">
                    <a:solidFill>
                      <a:srgbClr val="FFFFFF"/>
                    </a:solidFill>
                  </a:tcPr>
                </a:tc>
                <a:tc>
                  <a:txBody>
                    <a:bodyPr wrap="square"/>
                    <a:lstStyle/>
                    <a:p>
                      <a:pPr algn="l"/>
                      <a:r>
                        <a:rPr sz="1300" b="0">
                          <a:solidFill>
                            <a:srgbClr val="16202E"/>
                          </a:solidFill>
                          <a:latin typeface="Calibri"/>
                        </a:rPr>
                        <a:t>Hard-slice data: crowd, laughs/coughs, instruments, masked voices</a:t>
                      </a:r>
                    </a:p>
                  </a:txBody>
                  <a:tcPr marL="91440" marR="91440" marT="27432" marB="27432" anchor="ctr">
                    <a:solidFill>
                      <a:srgbClr val="FFFFFF"/>
                    </a:solidFill>
                  </a:tcPr>
                </a:tc>
                <a:tc>
                  <a:txBody>
                    <a:bodyPr wrap="square"/>
                    <a:lstStyle/>
                    <a:p>
                      <a:pPr algn="l"/>
                      <a:r>
                        <a:rPr sz="1300" b="0">
                          <a:solidFill>
                            <a:srgbClr val="5B6472"/>
                          </a:solidFill>
                          <a:latin typeface="Calibri"/>
                        </a:rPr>
                        <a:t>Fewer misclassifications on hard slices</a:t>
                      </a:r>
                    </a:p>
                  </a:txBody>
                  <a:tcPr marL="91440" marR="91440" marT="27432" marB="27432" anchor="ctr">
                    <a:solidFill>
                      <a:srgbClr val="FFFFFF"/>
                    </a:solidFill>
                  </a:tcPr>
                </a:tc>
                <a:tc>
                  <a:txBody>
                    <a:bodyPr wrap="square"/>
                    <a:lstStyle/>
                    <a:p>
                      <a:pPr algn="l"/>
                      <a:r>
                        <a:rPr sz="1300" b="0">
                          <a:solidFill>
                            <a:srgbClr val="5B6472"/>
                          </a:solidFill>
                          <a:latin typeface="Calibri"/>
                        </a:rPr>
                        <a:t>Per-slice error</a:t>
                      </a:r>
                    </a:p>
                  </a:txBody>
                  <a:tcPr marL="91440" marR="91440" marT="27432" marB="27432" anchor="ctr">
                    <a:solidFill>
                      <a:srgbClr val="FFFFFF"/>
                    </a:solidFill>
                  </a:tcPr>
                </a:tc>
              </a:tr>
              <a:tr h="521207">
                <a:tc>
                  <a:txBody>
                    <a:bodyPr wrap="square"/>
                    <a:lstStyle/>
                    <a:p>
                      <a:pPr algn="ctr"/>
                      <a:r>
                        <a:rPr sz="1300" b="1">
                          <a:solidFill>
                            <a:srgbClr val="0A5C5B"/>
                          </a:solidFill>
                          <a:latin typeface="Calibri"/>
                        </a:rPr>
                        <a:t>E5</a:t>
                      </a:r>
                    </a:p>
                  </a:txBody>
                  <a:tcPr marL="91440" marR="91440" marT="27432" marB="27432" anchor="ctr">
                    <a:solidFill>
                      <a:srgbClr val="F3F5F8"/>
                    </a:solidFill>
                  </a:tcPr>
                </a:tc>
                <a:tc>
                  <a:txBody>
                    <a:bodyPr wrap="square"/>
                    <a:lstStyle/>
                    <a:p>
                      <a:pPr algn="l"/>
                      <a:r>
                        <a:rPr sz="1300" b="0">
                          <a:solidFill>
                            <a:srgbClr val="16202E"/>
                          </a:solidFill>
                          <a:latin typeface="Calibri"/>
                        </a:rPr>
                        <a:t>YAMNet Speech + Singing logits; partial fine-tuning</a:t>
                      </a:r>
                    </a:p>
                  </a:txBody>
                  <a:tcPr marL="91440" marR="91440" marT="27432" marB="27432" anchor="ctr">
                    <a:solidFill>
                      <a:srgbClr val="F3F5F8"/>
                    </a:solidFill>
                  </a:tcPr>
                </a:tc>
                <a:tc>
                  <a:txBody>
                    <a:bodyPr wrap="square"/>
                    <a:lstStyle/>
                    <a:p>
                      <a:pPr algn="l"/>
                      <a:r>
                        <a:rPr sz="1300" b="0">
                          <a:solidFill>
                            <a:srgbClr val="5B6472"/>
                          </a:solidFill>
                          <a:latin typeface="Calibri"/>
                        </a:rPr>
                        <a:t>Leverage AudioSet knowledge</a:t>
                      </a:r>
                    </a:p>
                  </a:txBody>
                  <a:tcPr marL="91440" marR="91440" marT="27432" marB="27432" anchor="ctr">
                    <a:solidFill>
                      <a:srgbClr val="F3F5F8"/>
                    </a:solidFill>
                  </a:tcPr>
                </a:tc>
                <a:tc>
                  <a:txBody>
                    <a:bodyPr wrap="square"/>
                    <a:lstStyle/>
                    <a:p>
                      <a:pPr algn="l"/>
                      <a:r>
                        <a:rPr sz="1300" b="0">
                          <a:solidFill>
                            <a:srgbClr val="5B6472"/>
                          </a:solidFill>
                          <a:latin typeface="Calibri"/>
                        </a:rPr>
                        <a:t>Per-slice error</a:t>
                      </a:r>
                    </a:p>
                  </a:txBody>
                  <a:tcPr marL="91440" marR="91440" marT="27432" marB="27432" anchor="ctr">
                    <a:solidFill>
                      <a:srgbClr val="F3F5F8"/>
                    </a:solidFill>
                  </a:tcPr>
                </a:tc>
              </a:tr>
              <a:tr h="521207">
                <a:tc>
                  <a:txBody>
                    <a:bodyPr wrap="square"/>
                    <a:lstStyle/>
                    <a:p>
                      <a:pPr algn="ctr"/>
                      <a:r>
                        <a:rPr sz="1300" b="1">
                          <a:solidFill>
                            <a:srgbClr val="0A5C5B"/>
                          </a:solidFill>
                          <a:latin typeface="Calibri"/>
                        </a:rPr>
                        <a:t>E6</a:t>
                      </a:r>
                    </a:p>
                  </a:txBody>
                  <a:tcPr marL="91440" marR="91440" marT="27432" marB="27432" anchor="ctr">
                    <a:solidFill>
                      <a:srgbClr val="FFFFFF"/>
                    </a:solidFill>
                  </a:tcPr>
                </a:tc>
                <a:tc>
                  <a:txBody>
                    <a:bodyPr wrap="square"/>
                    <a:lstStyle/>
                    <a:p>
                      <a:pPr algn="l"/>
                      <a:r>
                        <a:rPr sz="1300" b="0">
                          <a:solidFill>
                            <a:srgbClr val="16202E"/>
                          </a:solidFill>
                          <a:latin typeface="Calibri"/>
                        </a:rPr>
                        <a:t>Lightweight student (distillation)</a:t>
                      </a:r>
                    </a:p>
                  </a:txBody>
                  <a:tcPr marL="91440" marR="91440" marT="27432" marB="27432" anchor="ctr">
                    <a:solidFill>
                      <a:srgbClr val="FFFFFF"/>
                    </a:solidFill>
                  </a:tcPr>
                </a:tc>
                <a:tc>
                  <a:txBody>
                    <a:bodyPr wrap="square"/>
                    <a:lstStyle/>
                    <a:p>
                      <a:pPr algn="l"/>
                      <a:r>
                        <a:rPr sz="1300" b="0">
                          <a:solidFill>
                            <a:srgbClr val="5B6472"/>
                          </a:solidFill>
                          <a:latin typeface="Calibri"/>
                        </a:rPr>
                        <a:t>Keep quality, cut resources</a:t>
                      </a:r>
                    </a:p>
                  </a:txBody>
                  <a:tcPr marL="91440" marR="91440" marT="27432" marB="27432" anchor="ctr">
                    <a:solidFill>
                      <a:srgbClr val="FFFFFF"/>
                    </a:solidFill>
                  </a:tcPr>
                </a:tc>
                <a:tc>
                  <a:txBody>
                    <a:bodyPr wrap="square"/>
                    <a:lstStyle/>
                    <a:p>
                      <a:pPr algn="l"/>
                      <a:r>
                        <a:rPr sz="1300" b="0">
                          <a:solidFill>
                            <a:srgbClr val="5B6472"/>
                          </a:solidFill>
                          <a:latin typeface="Calibri"/>
                        </a:rPr>
                        <a:t>RTF, RAM</a:t>
                      </a:r>
                    </a:p>
                  </a:txBody>
                  <a:tcPr marL="91440" marR="91440" marT="27432" marB="27432" anchor="ctr">
                    <a:solidFill>
                      <a:srgbClr val="FFFFFF"/>
                    </a:solidFill>
                  </a:tcPr>
                </a:tc>
              </a:tr>
            </a:tbl>
          </a:graphicData>
        </a:graphic>
      </p:graphicFrame>
      <p:sp>
        <p:nvSpPr>
          <p:cNvPr id="6" name="TextBox 5"/>
          <p:cNvSpPr txBox="1"/>
          <p:nvPr/>
        </p:nvSpPr>
        <p:spPr>
          <a:xfrm>
            <a:off x="548640" y="6035040"/>
            <a:ext cx="11091672" cy="320040"/>
          </a:xfrm>
          <a:prstGeom prst="rect">
            <a:avLst/>
          </a:prstGeom>
          <a:noFill/>
        </p:spPr>
        <p:txBody>
          <a:bodyPr wrap="square" lIns="0" rIns="0" tIns="0" bIns="0" anchor="t">
            <a:spAutoFit/>
          </a:bodyPr>
          <a:lstStyle/>
          <a:p>
            <a:pPr algn="l">
              <a:spcAft>
                <a:spcPts val="0"/>
              </a:spcAft>
            </a:pPr>
            <a:r>
              <a:rPr sz="1200" b="0" i="0">
                <a:solidFill>
                  <a:srgbClr val="8A93A0"/>
                </a:solidFill>
                <a:latin typeface="Calibri"/>
              </a:rPr>
              <a:t>Every result is reported with a 95% CI (bootstrap by file). Run E1 first: it is the cheapest.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45846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Simulated results</a:t>
            </a:r>
          </a:p>
        </p:txBody>
      </p:sp>
      <p:sp>
        <p:nvSpPr>
          <p:cNvPr id="3" name="Rounded Rectangle 2"/>
          <p:cNvSpPr/>
          <p:nvPr/>
        </p:nvSpPr>
        <p:spPr>
          <a:xfrm>
            <a:off x="10387584" y="384048"/>
            <a:ext cx="1252728" cy="274320"/>
          </a:xfrm>
          <a:prstGeom prst="roundRect">
            <a:avLst>
              <a:gd name="adj" fmla="val 50000"/>
            </a:avLst>
          </a:prstGeom>
          <a:solidFill>
            <a:srgbClr val="FDF3D8"/>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7A5200"/>
                </a:solidFill>
                <a:latin typeface="Calibri"/>
              </a:rPr>
              <a:t>Simulated data</a:t>
            </a:r>
          </a:p>
        </p:txBody>
      </p:sp>
      <p:sp>
        <p:nvSpPr>
          <p:cNvPr id="4" name="TextBox 3"/>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Excluding boundary errors, threshold 0.57 meets the target overall</a:t>
            </a:r>
          </a:p>
        </p:txBody>
      </p:sp>
      <p:sp>
        <p:nvSpPr>
          <p:cNvPr id="5" name="TextBox 4"/>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11 / 15</a:t>
            </a:r>
          </a:p>
        </p:txBody>
      </p:sp>
      <p:graphicFrame>
        <p:nvGraphicFramePr>
          <p:cNvPr id="6" name="Chart 5"/>
          <p:cNvGraphicFramePr>
            <a:graphicFrameLocks noGrp="1"/>
          </p:cNvGraphicFramePr>
          <p:nvPr/>
        </p:nvGraphicFramePr>
        <p:xfrm>
          <a:off x="548640" y="1691640"/>
          <a:ext cx="7223760" cy="4343400"/>
        </p:xfrm>
        <a:graphic>
          <a:graphicData uri="http://schemas.openxmlformats.org/drawingml/2006/chart">
            <c:chart xmlns:c="http://schemas.openxmlformats.org/drawingml/2006/chart" r:id="rId2"/>
          </a:graphicData>
        </a:graphic>
      </p:graphicFrame>
      <p:cxnSp>
        <p:nvCxnSpPr>
          <p:cNvPr id="7" name="Connector 6"/>
          <p:cNvCxnSpPr/>
          <p:nvPr/>
        </p:nvCxnSpPr>
        <p:spPr>
          <a:xfrm>
            <a:off x="1280160" y="6181344"/>
            <a:ext cx="310896" cy="0"/>
          </a:xfrm>
          <a:prstGeom prst="line">
            <a:avLst/>
          </a:prstGeom>
          <a:ln w="28575">
            <a:solidFill>
              <a:srgbClr val="2A78D6"/>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1664207" y="605332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Overall</a:t>
            </a:r>
          </a:p>
        </p:txBody>
      </p:sp>
      <p:cxnSp>
        <p:nvCxnSpPr>
          <p:cNvPr id="9" name="Connector 8"/>
          <p:cNvCxnSpPr/>
          <p:nvPr/>
        </p:nvCxnSpPr>
        <p:spPr>
          <a:xfrm>
            <a:off x="2743200" y="6181344"/>
            <a:ext cx="310896" cy="0"/>
          </a:xfrm>
          <a:prstGeom prst="line">
            <a:avLst/>
          </a:prstGeom>
          <a:ln w="28575">
            <a:solidFill>
              <a:srgbClr val="0E7C7B"/>
            </a:solidFill>
            <a:prstDash val="dash"/>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3127248" y="605332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Excluding boundary errors (±200 ms)</a:t>
            </a:r>
          </a:p>
        </p:txBody>
      </p:sp>
      <p:cxnSp>
        <p:nvCxnSpPr>
          <p:cNvPr id="11" name="Connector 10"/>
          <p:cNvCxnSpPr/>
          <p:nvPr/>
        </p:nvCxnSpPr>
        <p:spPr>
          <a:xfrm>
            <a:off x="5760720" y="6181344"/>
            <a:ext cx="310896" cy="0"/>
          </a:xfrm>
          <a:prstGeom prst="line">
            <a:avLst/>
          </a:prstGeom>
          <a:ln w="28575">
            <a:solidFill>
              <a:srgbClr val="1E8E3E"/>
            </a:solidFill>
            <a:prstDash val="sysDash"/>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144768" y="605332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Miss ≤ 3%, FA ≤ 8%</a:t>
            </a:r>
          </a:p>
        </p:txBody>
      </p:sp>
      <p:sp>
        <p:nvSpPr>
          <p:cNvPr id="13" name="TextBox 12"/>
          <p:cNvSpPr txBox="1"/>
          <p:nvPr/>
        </p:nvSpPr>
        <p:spPr>
          <a:xfrm>
            <a:off x="8183879" y="1783080"/>
            <a:ext cx="3474720" cy="731520"/>
          </a:xfrm>
          <a:prstGeom prst="rect">
            <a:avLst/>
          </a:prstGeom>
          <a:noFill/>
        </p:spPr>
        <p:txBody>
          <a:bodyPr wrap="square" lIns="0" rIns="0" tIns="0" bIns="0" anchor="t">
            <a:spAutoFit/>
          </a:bodyPr>
          <a:lstStyle/>
          <a:p>
            <a:pPr algn="l">
              <a:spcAft>
                <a:spcPts val="0"/>
              </a:spcAft>
            </a:pPr>
            <a:r>
              <a:rPr sz="4000" b="1" i="0">
                <a:solidFill>
                  <a:srgbClr val="16202E"/>
                </a:solidFill>
                <a:latin typeface="Cambria"/>
              </a:rPr>
              <a:t>0.966</a:t>
            </a:r>
          </a:p>
        </p:txBody>
      </p:sp>
      <p:sp>
        <p:nvSpPr>
          <p:cNvPr id="14" name="TextBox 13"/>
          <p:cNvSpPr txBox="1"/>
          <p:nvPr/>
        </p:nvSpPr>
        <p:spPr>
          <a:xfrm>
            <a:off x="8183879" y="2418080"/>
            <a:ext cx="3474720" cy="64008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AUC: good, but unchanged by the threshold</a:t>
            </a:r>
          </a:p>
        </p:txBody>
      </p:sp>
      <p:sp>
        <p:nvSpPr>
          <p:cNvPr id="15" name="Rounded Rectangle 14"/>
          <p:cNvSpPr/>
          <p:nvPr/>
        </p:nvSpPr>
        <p:spPr>
          <a:xfrm>
            <a:off x="8183879" y="3246120"/>
            <a:ext cx="3456432" cy="13258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8412480" y="3310128"/>
            <a:ext cx="3017520" cy="1188720"/>
          </a:xfrm>
          <a:prstGeom prst="rect">
            <a:avLst/>
          </a:prstGeom>
          <a:noFill/>
        </p:spPr>
        <p:txBody>
          <a:bodyPr wrap="square" lIns="0" rIns="0" tIns="0" bIns="0" anchor="ctr">
            <a:spAutoFit/>
          </a:bodyPr>
          <a:lstStyle/>
          <a:p>
            <a:pPr algn="l">
              <a:spcAft>
                <a:spcPts val="400"/>
              </a:spcAft>
            </a:pPr>
            <a:r>
              <a:rPr sz="1400" b="1" i="0">
                <a:solidFill>
                  <a:srgbClr val="16202E"/>
                </a:solidFill>
                <a:latin typeface="Calibri"/>
              </a:rPr>
              <a:t>Threshold 0.57</a:t>
            </a:r>
          </a:p>
          <a:p>
            <a:pPr algn="l">
              <a:spcAft>
                <a:spcPts val="400"/>
              </a:spcAft>
            </a:pPr>
            <a:r>
              <a:rPr sz="1400" b="0" i="0">
                <a:solidFill>
                  <a:srgbClr val="16202E"/>
                </a:solidFill>
                <a:latin typeface="Calibri"/>
              </a:rPr>
              <a:t>Miss 7.3% · FA 12.4%</a:t>
            </a:r>
          </a:p>
          <a:p>
            <a:pPr algn="l">
              <a:spcAft>
                <a:spcPts val="400"/>
              </a:spcAft>
            </a:pPr>
            <a:r>
              <a:rPr sz="1400" b="0" i="0">
                <a:solidFill>
                  <a:srgbClr val="0A5C5B"/>
                </a:solidFill>
                <a:latin typeface="Calibri"/>
              </a:rPr>
              <a:t>Excl. boundary: Miss 2.8% · FA 7.6%</a:t>
            </a:r>
          </a:p>
        </p:txBody>
      </p:sp>
      <p:sp>
        <p:nvSpPr>
          <p:cNvPr id="17" name="TextBox 16"/>
          <p:cNvSpPr txBox="1"/>
          <p:nvPr/>
        </p:nvSpPr>
        <p:spPr>
          <a:xfrm>
            <a:off x="8183879" y="4754880"/>
            <a:ext cx="3456432" cy="1371600"/>
          </a:xfrm>
          <a:prstGeom prst="rect">
            <a:avLst/>
          </a:prstGeom>
          <a:noFill/>
        </p:spPr>
        <p:txBody>
          <a:bodyPr wrap="square" lIns="0" rIns="0" tIns="0" bIns="0" anchor="t">
            <a:spAutoFit/>
          </a:bodyPr>
          <a:lstStyle/>
          <a:p>
            <a:pPr algn="l">
              <a:spcAft>
                <a:spcPts val="0"/>
              </a:spcAft>
            </a:pPr>
            <a:r>
              <a:rPr sz="1400" b="0" i="0">
                <a:solidFill>
                  <a:srgbClr val="5B6472"/>
                </a:solidFill>
                <a:latin typeface="Calibri"/>
              </a:rPr>
              <a:t>But passing overall does not mean every kind of audio passes (see slide 13).</a:t>
            </a:r>
          </a:p>
        </p:txBody>
      </p:sp>
      <p:sp>
        <p:nvSpPr>
          <p:cNvPr id="18" name="TextBox 17"/>
          <p:cNvSpPr txBox="1"/>
          <p:nvPr/>
        </p:nvSpPr>
        <p:spPr>
          <a:xfrm>
            <a:off x="548640" y="6419088"/>
            <a:ext cx="10241280" cy="274320"/>
          </a:xfrm>
          <a:prstGeom prst="rect">
            <a:avLst/>
          </a:prstGeom>
          <a:noFill/>
        </p:spPr>
        <p:txBody>
          <a:bodyPr wrap="square" lIns="0" rIns="0" tIns="0" bIns="0" anchor="t">
            <a:spAutoFit/>
          </a:bodyPr>
          <a:lstStyle/>
          <a:p>
            <a:pPr algn="l">
              <a:spcAft>
                <a:spcPts val="0"/>
              </a:spcAft>
            </a:pPr>
            <a:r>
              <a:rPr sz="1000" b="0" i="0">
                <a:solidFill>
                  <a:srgbClr val="8A93A0"/>
                </a:solidFill>
                <a:latin typeface="Calibri"/>
              </a:rPr>
              <a:t>Simulation: 56 files × 10 s, 7 audio groups, 100 ms frames; singing is speech; crowd murmur, instruments, laughs/coughs are non-speech.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45846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Simulated results</a:t>
            </a:r>
          </a:p>
        </p:txBody>
      </p:sp>
      <p:sp>
        <p:nvSpPr>
          <p:cNvPr id="3" name="Rounded Rectangle 2"/>
          <p:cNvSpPr/>
          <p:nvPr/>
        </p:nvSpPr>
        <p:spPr>
          <a:xfrm>
            <a:off x="10387584" y="384048"/>
            <a:ext cx="1252728" cy="274320"/>
          </a:xfrm>
          <a:prstGeom prst="roundRect">
            <a:avLst>
              <a:gd name="adj" fmla="val 50000"/>
            </a:avLst>
          </a:prstGeom>
          <a:solidFill>
            <a:srgbClr val="FDF3D8"/>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7A5200"/>
                </a:solidFill>
                <a:latin typeface="Calibri"/>
              </a:rPr>
              <a:t>Simulated data</a:t>
            </a:r>
          </a:p>
        </p:txBody>
      </p:sp>
      <p:sp>
        <p:nvSpPr>
          <p:cNvPr id="4" name="TextBox 3"/>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39% of false alarms are boundary errors</a:t>
            </a:r>
          </a:p>
        </p:txBody>
      </p:sp>
      <p:sp>
        <p:nvSpPr>
          <p:cNvPr id="5" name="TextBox 4"/>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12 / 15</a:t>
            </a:r>
          </a:p>
        </p:txBody>
      </p:sp>
      <p:sp>
        <p:nvSpPr>
          <p:cNvPr id="6" name="TextBox 5"/>
          <p:cNvSpPr txBox="1"/>
          <p:nvPr/>
        </p:nvSpPr>
        <p:spPr>
          <a:xfrm>
            <a:off x="548640" y="1645920"/>
            <a:ext cx="7863840" cy="320040"/>
          </a:xfrm>
          <a:prstGeom prst="rect">
            <a:avLst/>
          </a:prstGeom>
          <a:noFill/>
        </p:spPr>
        <p:txBody>
          <a:bodyPr wrap="square" lIns="0" rIns="0" tIns="0" bIns="0" anchor="t">
            <a:spAutoFit/>
          </a:bodyPr>
          <a:lstStyle/>
          <a:p>
            <a:pPr algn="l">
              <a:spcAft>
                <a:spcPts val="0"/>
              </a:spcAft>
            </a:pPr>
            <a:r>
              <a:rPr sz="1400" b="1" i="0">
                <a:solidFill>
                  <a:srgbClr val="16202E"/>
                </a:solidFill>
                <a:latin typeface="Calibri"/>
              </a:rPr>
              <a:t>Overall: </a:t>
            </a:r>
            <a:r>
              <a:rPr sz="1400" b="0" i="0">
                <a:solidFill>
                  <a:srgbClr val="16202E"/>
                </a:solidFill>
                <a:latin typeface="Calibri"/>
              </a:rPr>
              <a:t>28 wrong frames, colored by error type</a:t>
            </a:r>
          </a:p>
        </p:txBody>
      </p:sp>
      <p:sp>
        <p:nvSpPr>
          <p:cNvPr id="7" name="Rectangle 6"/>
          <p:cNvSpPr/>
          <p:nvPr/>
        </p:nvSpPr>
        <p:spPr>
          <a:xfrm>
            <a:off x="1417319" y="2011680"/>
            <a:ext cx="6995159" cy="845820"/>
          </a:xfrm>
          <a:prstGeom prst="rect">
            <a:avLst/>
          </a:prstGeom>
          <a:solidFill>
            <a:srgbClr val="FFFFFF"/>
          </a:solidFill>
          <a:ln w="9525">
            <a:solidFill>
              <a:srgbClr val="DDE2E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cxnSp>
        <p:nvCxnSpPr>
          <p:cNvPr id="8" name="Connector 7"/>
          <p:cNvCxnSpPr/>
          <p:nvPr/>
        </p:nvCxnSpPr>
        <p:spPr>
          <a:xfrm>
            <a:off x="1417319" y="2375382"/>
            <a:ext cx="6995161" cy="0"/>
          </a:xfrm>
          <a:prstGeom prst="line">
            <a:avLst/>
          </a:prstGeom>
          <a:ln w="12700">
            <a:solidFill>
              <a:srgbClr val="8A93A0"/>
            </a:solidFill>
            <a:prstDash val="dash"/>
          </a:ln>
        </p:spPr>
        <p:style>
          <a:lnRef idx="2">
            <a:schemeClr val="accent1"/>
          </a:lnRef>
          <a:fillRef idx="0">
            <a:schemeClr val="accent1"/>
          </a:fillRef>
          <a:effectRef idx="0">
            <a:schemeClr val="accent1"/>
          </a:effectRef>
          <a:fontRef idx="minor">
            <a:schemeClr val="tx1"/>
          </a:fontRef>
        </p:style>
      </p:cxnSp>
      <p:sp>
        <p:nvSpPr>
          <p:cNvPr id="9" name="Freeform 8"/>
          <p:cNvSpPr/>
          <p:nvPr/>
        </p:nvSpPr>
        <p:spPr>
          <a:xfrm>
            <a:off x="1452295" y="2011680"/>
            <a:ext cx="6925209" cy="520716"/>
          </a:xfrm>
          <a:custGeom>
            <a:avLst/>
            <a:gdLst/>
            <a:ahLst/>
            <a:cxnLst/>
            <a:rect l="l" t="t" r="r" b="b"/>
            <a:pathLst>
              <a:path w="6925209" h="520716">
                <a:moveTo>
                  <a:pt x="0" y="156192"/>
                </a:moveTo>
                <a:lnTo>
                  <a:pt x="69952" y="239340"/>
                </a:lnTo>
                <a:lnTo>
                  <a:pt x="139903" y="243480"/>
                </a:lnTo>
                <a:lnTo>
                  <a:pt x="209855" y="247983"/>
                </a:lnTo>
                <a:lnTo>
                  <a:pt x="279807" y="183691"/>
                </a:lnTo>
                <a:lnTo>
                  <a:pt x="349758" y="300679"/>
                </a:lnTo>
                <a:lnTo>
                  <a:pt x="419710" y="190673"/>
                </a:lnTo>
                <a:lnTo>
                  <a:pt x="489661" y="279753"/>
                </a:lnTo>
                <a:lnTo>
                  <a:pt x="559613" y="288478"/>
                </a:lnTo>
                <a:lnTo>
                  <a:pt x="629565" y="286838"/>
                </a:lnTo>
                <a:lnTo>
                  <a:pt x="699516" y="292597"/>
                </a:lnTo>
                <a:lnTo>
                  <a:pt x="769468" y="230241"/>
                </a:lnTo>
                <a:lnTo>
                  <a:pt x="839419" y="294648"/>
                </a:lnTo>
                <a:lnTo>
                  <a:pt x="909371" y="474121"/>
                </a:lnTo>
                <a:lnTo>
                  <a:pt x="979323" y="328310"/>
                </a:lnTo>
                <a:lnTo>
                  <a:pt x="1049274" y="360153"/>
                </a:lnTo>
                <a:lnTo>
                  <a:pt x="1119226" y="220388"/>
                </a:lnTo>
                <a:lnTo>
                  <a:pt x="1189178" y="199246"/>
                </a:lnTo>
                <a:lnTo>
                  <a:pt x="1259129" y="274218"/>
                </a:lnTo>
                <a:lnTo>
                  <a:pt x="1329081" y="249206"/>
                </a:lnTo>
                <a:lnTo>
                  <a:pt x="1399032" y="232105"/>
                </a:lnTo>
                <a:lnTo>
                  <a:pt x="1468984" y="229236"/>
                </a:lnTo>
                <a:lnTo>
                  <a:pt x="1538936" y="288584"/>
                </a:lnTo>
                <a:lnTo>
                  <a:pt x="1608887" y="359096"/>
                </a:lnTo>
                <a:lnTo>
                  <a:pt x="1678839" y="394122"/>
                </a:lnTo>
                <a:lnTo>
                  <a:pt x="1748790" y="519115"/>
                </a:lnTo>
                <a:lnTo>
                  <a:pt x="1818742" y="520716"/>
                </a:lnTo>
                <a:lnTo>
                  <a:pt x="1888693" y="517026"/>
                </a:lnTo>
                <a:lnTo>
                  <a:pt x="1958645" y="366689"/>
                </a:lnTo>
                <a:lnTo>
                  <a:pt x="2028597" y="424169"/>
                </a:lnTo>
                <a:lnTo>
                  <a:pt x="2098548" y="278715"/>
                </a:lnTo>
                <a:lnTo>
                  <a:pt x="2168500" y="314436"/>
                </a:lnTo>
                <a:lnTo>
                  <a:pt x="2238452" y="320089"/>
                </a:lnTo>
                <a:lnTo>
                  <a:pt x="2308403" y="349899"/>
                </a:lnTo>
                <a:lnTo>
                  <a:pt x="2378355" y="238108"/>
                </a:lnTo>
                <a:lnTo>
                  <a:pt x="2448306" y="366356"/>
                </a:lnTo>
                <a:lnTo>
                  <a:pt x="2518258" y="424217"/>
                </a:lnTo>
                <a:lnTo>
                  <a:pt x="2588209" y="374916"/>
                </a:lnTo>
                <a:lnTo>
                  <a:pt x="2658161" y="162091"/>
                </a:lnTo>
                <a:lnTo>
                  <a:pt x="2728113" y="259984"/>
                </a:lnTo>
                <a:lnTo>
                  <a:pt x="2798064" y="176744"/>
                </a:lnTo>
                <a:lnTo>
                  <a:pt x="2868016" y="122881"/>
                </a:lnTo>
                <a:lnTo>
                  <a:pt x="2937968" y="0"/>
                </a:lnTo>
                <a:lnTo>
                  <a:pt x="3007919" y="121902"/>
                </a:lnTo>
                <a:lnTo>
                  <a:pt x="3077871" y="221635"/>
                </a:lnTo>
                <a:lnTo>
                  <a:pt x="3147822" y="217431"/>
                </a:lnTo>
                <a:lnTo>
                  <a:pt x="3217774" y="119146"/>
                </a:lnTo>
                <a:lnTo>
                  <a:pt x="3287726" y="112025"/>
                </a:lnTo>
                <a:lnTo>
                  <a:pt x="3357677" y="226494"/>
                </a:lnTo>
                <a:lnTo>
                  <a:pt x="3427629" y="241495"/>
                </a:lnTo>
                <a:lnTo>
                  <a:pt x="3497580" y="353961"/>
                </a:lnTo>
                <a:lnTo>
                  <a:pt x="3567532" y="373994"/>
                </a:lnTo>
                <a:lnTo>
                  <a:pt x="3637484" y="274672"/>
                </a:lnTo>
                <a:lnTo>
                  <a:pt x="3707435" y="289266"/>
                </a:lnTo>
                <a:lnTo>
                  <a:pt x="3777387" y="321508"/>
                </a:lnTo>
                <a:lnTo>
                  <a:pt x="3847338" y="403882"/>
                </a:lnTo>
                <a:lnTo>
                  <a:pt x="3917290" y="306451"/>
                </a:lnTo>
                <a:lnTo>
                  <a:pt x="3987242" y="298182"/>
                </a:lnTo>
                <a:lnTo>
                  <a:pt x="4057193" y="354348"/>
                </a:lnTo>
                <a:lnTo>
                  <a:pt x="4127145" y="271781"/>
                </a:lnTo>
                <a:lnTo>
                  <a:pt x="4197096" y="315092"/>
                </a:lnTo>
                <a:lnTo>
                  <a:pt x="4267048" y="392286"/>
                </a:lnTo>
                <a:lnTo>
                  <a:pt x="4337000" y="424880"/>
                </a:lnTo>
                <a:lnTo>
                  <a:pt x="4406951" y="319871"/>
                </a:lnTo>
                <a:lnTo>
                  <a:pt x="4476903" y="330050"/>
                </a:lnTo>
                <a:lnTo>
                  <a:pt x="4546854" y="211635"/>
                </a:lnTo>
                <a:lnTo>
                  <a:pt x="4616806" y="139303"/>
                </a:lnTo>
                <a:lnTo>
                  <a:pt x="4686758" y="164951"/>
                </a:lnTo>
                <a:lnTo>
                  <a:pt x="4756709" y="268395"/>
                </a:lnTo>
                <a:lnTo>
                  <a:pt x="4826661" y="355281"/>
                </a:lnTo>
                <a:lnTo>
                  <a:pt x="4896612" y="350585"/>
                </a:lnTo>
                <a:lnTo>
                  <a:pt x="4966564" y="328778"/>
                </a:lnTo>
                <a:lnTo>
                  <a:pt x="5036516" y="285715"/>
                </a:lnTo>
                <a:lnTo>
                  <a:pt x="5106467" y="331499"/>
                </a:lnTo>
                <a:lnTo>
                  <a:pt x="5176419" y="100691"/>
                </a:lnTo>
                <a:lnTo>
                  <a:pt x="5246370" y="69566"/>
                </a:lnTo>
                <a:lnTo>
                  <a:pt x="5316322" y="171195"/>
                </a:lnTo>
                <a:lnTo>
                  <a:pt x="5386274" y="229643"/>
                </a:lnTo>
                <a:lnTo>
                  <a:pt x="5456225" y="229178"/>
                </a:lnTo>
                <a:lnTo>
                  <a:pt x="5526177" y="270455"/>
                </a:lnTo>
                <a:lnTo>
                  <a:pt x="5596128" y="280833"/>
                </a:lnTo>
                <a:lnTo>
                  <a:pt x="5666080" y="328874"/>
                </a:lnTo>
                <a:lnTo>
                  <a:pt x="5736032" y="249882"/>
                </a:lnTo>
                <a:lnTo>
                  <a:pt x="5805983" y="194742"/>
                </a:lnTo>
                <a:lnTo>
                  <a:pt x="5875935" y="286573"/>
                </a:lnTo>
                <a:lnTo>
                  <a:pt x="5945886" y="263325"/>
                </a:lnTo>
                <a:lnTo>
                  <a:pt x="6015838" y="181871"/>
                </a:lnTo>
                <a:lnTo>
                  <a:pt x="6085789" y="243285"/>
                </a:lnTo>
                <a:lnTo>
                  <a:pt x="6155741" y="321858"/>
                </a:lnTo>
                <a:lnTo>
                  <a:pt x="6225693" y="340020"/>
                </a:lnTo>
                <a:lnTo>
                  <a:pt x="6295644" y="233649"/>
                </a:lnTo>
                <a:lnTo>
                  <a:pt x="6365596" y="360543"/>
                </a:lnTo>
                <a:lnTo>
                  <a:pt x="6435547" y="357175"/>
                </a:lnTo>
                <a:lnTo>
                  <a:pt x="6505499" y="360221"/>
                </a:lnTo>
                <a:lnTo>
                  <a:pt x="6575451" y="352739"/>
                </a:lnTo>
                <a:lnTo>
                  <a:pt x="6645402" y="207920"/>
                </a:lnTo>
                <a:lnTo>
                  <a:pt x="6715354" y="276895"/>
                </a:lnTo>
                <a:lnTo>
                  <a:pt x="6785305" y="480909"/>
                </a:lnTo>
                <a:lnTo>
                  <a:pt x="6855257" y="407410"/>
                </a:lnTo>
                <a:lnTo>
                  <a:pt x="6925209" y="312434"/>
                </a:lnTo>
              </a:path>
            </a:pathLst>
          </a:custGeom>
          <a:noFill/>
          <a:ln w="22225">
            <a:solidFill>
              <a:srgbClr val="16202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48640" y="2029968"/>
            <a:ext cx="7772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Score</a:t>
            </a:r>
          </a:p>
        </p:txBody>
      </p:sp>
      <p:sp>
        <p:nvSpPr>
          <p:cNvPr id="11" name="TextBox 10"/>
          <p:cNvSpPr txBox="1"/>
          <p:nvPr/>
        </p:nvSpPr>
        <p:spPr>
          <a:xfrm>
            <a:off x="8458200" y="2256510"/>
            <a:ext cx="457200" cy="237744"/>
          </a:xfrm>
          <a:prstGeom prst="rect">
            <a:avLst/>
          </a:prstGeom>
          <a:noFill/>
        </p:spPr>
        <p:txBody>
          <a:bodyPr wrap="square" lIns="0" rIns="0" tIns="0" bIns="0" anchor="t">
            <a:spAutoFit/>
          </a:bodyPr>
          <a:lstStyle/>
          <a:p>
            <a:pPr algn="l">
              <a:spcAft>
                <a:spcPts val="0"/>
              </a:spcAft>
            </a:pPr>
            <a:r>
              <a:rPr sz="1000" b="0" i="0">
                <a:solidFill>
                  <a:srgbClr val="8A93A0"/>
                </a:solidFill>
                <a:latin typeface="Calibri"/>
              </a:rPr>
              <a:t>0.57</a:t>
            </a:r>
          </a:p>
        </p:txBody>
      </p:sp>
      <p:sp>
        <p:nvSpPr>
          <p:cNvPr id="12" name="Rectangle 11"/>
          <p:cNvSpPr/>
          <p:nvPr/>
        </p:nvSpPr>
        <p:spPr>
          <a:xfrm>
            <a:off x="1417319" y="3022092"/>
            <a:ext cx="1748789"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Rectangle 12"/>
          <p:cNvSpPr/>
          <p:nvPr/>
        </p:nvSpPr>
        <p:spPr>
          <a:xfrm>
            <a:off x="3166109" y="3022092"/>
            <a:ext cx="1049274" cy="23774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Rectangle 13"/>
          <p:cNvSpPr/>
          <p:nvPr/>
        </p:nvSpPr>
        <p:spPr>
          <a:xfrm>
            <a:off x="4215383" y="3022092"/>
            <a:ext cx="839419"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 name="Rectangle 14"/>
          <p:cNvSpPr/>
          <p:nvPr/>
        </p:nvSpPr>
        <p:spPr>
          <a:xfrm>
            <a:off x="5054803" y="3022092"/>
            <a:ext cx="979322" cy="23774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Rectangle 15"/>
          <p:cNvSpPr/>
          <p:nvPr/>
        </p:nvSpPr>
        <p:spPr>
          <a:xfrm>
            <a:off x="6034125" y="3022092"/>
            <a:ext cx="1678838"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7" name="Rectangle 16"/>
          <p:cNvSpPr/>
          <p:nvPr/>
        </p:nvSpPr>
        <p:spPr>
          <a:xfrm>
            <a:off x="7712963" y="3022092"/>
            <a:ext cx="699516" cy="23774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TextBox 17"/>
          <p:cNvSpPr txBox="1"/>
          <p:nvPr/>
        </p:nvSpPr>
        <p:spPr>
          <a:xfrm>
            <a:off x="548640" y="3022092"/>
            <a:ext cx="777240" cy="237744"/>
          </a:xfrm>
          <a:prstGeom prst="rect">
            <a:avLst/>
          </a:prstGeom>
          <a:noFill/>
        </p:spPr>
        <p:txBody>
          <a:bodyPr wrap="square" lIns="0" rIns="0" tIns="0" bIns="0" anchor="ctr">
            <a:spAutoFit/>
          </a:bodyPr>
          <a:lstStyle/>
          <a:p>
            <a:pPr algn="l">
              <a:spcAft>
                <a:spcPts val="0"/>
              </a:spcAft>
            </a:pPr>
            <a:r>
              <a:rPr sz="1100" b="0" i="0">
                <a:solidFill>
                  <a:srgbClr val="5B6472"/>
                </a:solidFill>
                <a:latin typeface="Calibri"/>
              </a:rPr>
              <a:t>GT</a:t>
            </a:r>
          </a:p>
        </p:txBody>
      </p:sp>
      <p:sp>
        <p:nvSpPr>
          <p:cNvPr id="19" name="Rectangle 18"/>
          <p:cNvSpPr/>
          <p:nvPr/>
        </p:nvSpPr>
        <p:spPr>
          <a:xfrm>
            <a:off x="1417319" y="3369564"/>
            <a:ext cx="1678838"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Rectangle 19"/>
          <p:cNvSpPr/>
          <p:nvPr/>
        </p:nvSpPr>
        <p:spPr>
          <a:xfrm>
            <a:off x="3096158" y="3369564"/>
            <a:ext cx="69951" cy="237744"/>
          </a:xfrm>
          <a:prstGeom prst="rect">
            <a:avLst/>
          </a:prstGeom>
          <a:solidFill>
            <a:srgbClr val="D03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Rectangle 20"/>
          <p:cNvSpPr/>
          <p:nvPr/>
        </p:nvSpPr>
        <p:spPr>
          <a:xfrm>
            <a:off x="3515868" y="3369564"/>
            <a:ext cx="349758"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Rectangle 21"/>
          <p:cNvSpPr/>
          <p:nvPr/>
        </p:nvSpPr>
        <p:spPr>
          <a:xfrm>
            <a:off x="4075480" y="3369564"/>
            <a:ext cx="139903"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3" name="Rectangle 22"/>
          <p:cNvSpPr/>
          <p:nvPr/>
        </p:nvSpPr>
        <p:spPr>
          <a:xfrm>
            <a:off x="4215383" y="3369564"/>
            <a:ext cx="839419"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Rectangle 23"/>
          <p:cNvSpPr/>
          <p:nvPr/>
        </p:nvSpPr>
        <p:spPr>
          <a:xfrm>
            <a:off x="5054803" y="3369564"/>
            <a:ext cx="629564"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5" name="Rectangle 24"/>
          <p:cNvSpPr/>
          <p:nvPr/>
        </p:nvSpPr>
        <p:spPr>
          <a:xfrm>
            <a:off x="5824270" y="3369564"/>
            <a:ext cx="209854"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Rectangle 25"/>
          <p:cNvSpPr/>
          <p:nvPr/>
        </p:nvSpPr>
        <p:spPr>
          <a:xfrm>
            <a:off x="6034125" y="3369564"/>
            <a:ext cx="1678838"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7" name="Rectangle 26"/>
          <p:cNvSpPr/>
          <p:nvPr/>
        </p:nvSpPr>
        <p:spPr>
          <a:xfrm>
            <a:off x="7712963" y="3369564"/>
            <a:ext cx="489661"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Rectangle 27"/>
          <p:cNvSpPr/>
          <p:nvPr/>
        </p:nvSpPr>
        <p:spPr>
          <a:xfrm>
            <a:off x="8342528" y="3369564"/>
            <a:ext cx="69951"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9" name="TextBox 28"/>
          <p:cNvSpPr txBox="1"/>
          <p:nvPr/>
        </p:nvSpPr>
        <p:spPr>
          <a:xfrm>
            <a:off x="548640" y="3369564"/>
            <a:ext cx="777240" cy="237744"/>
          </a:xfrm>
          <a:prstGeom prst="rect">
            <a:avLst/>
          </a:prstGeom>
          <a:noFill/>
        </p:spPr>
        <p:txBody>
          <a:bodyPr wrap="square" lIns="0" rIns="0" tIns="0" bIns="0" anchor="ctr">
            <a:spAutoFit/>
          </a:bodyPr>
          <a:lstStyle/>
          <a:p>
            <a:pPr algn="l">
              <a:spcAft>
                <a:spcPts val="0"/>
              </a:spcAft>
            </a:pPr>
            <a:r>
              <a:rPr sz="1100" b="0" i="0">
                <a:solidFill>
                  <a:srgbClr val="5B6472"/>
                </a:solidFill>
                <a:latin typeface="Calibri"/>
              </a:rPr>
              <a:t>Prediction</a:t>
            </a:r>
          </a:p>
        </p:txBody>
      </p:sp>
      <p:sp>
        <p:nvSpPr>
          <p:cNvPr id="30" name="TextBox 29"/>
          <p:cNvSpPr txBox="1"/>
          <p:nvPr/>
        </p:nvSpPr>
        <p:spPr>
          <a:xfrm>
            <a:off x="548640" y="3858768"/>
            <a:ext cx="7863840" cy="320040"/>
          </a:xfrm>
          <a:prstGeom prst="rect">
            <a:avLst/>
          </a:prstGeom>
          <a:noFill/>
        </p:spPr>
        <p:txBody>
          <a:bodyPr wrap="square" lIns="0" rIns="0" tIns="0" bIns="0" anchor="t">
            <a:spAutoFit/>
          </a:bodyPr>
          <a:lstStyle/>
          <a:p>
            <a:pPr algn="l">
              <a:spcAft>
                <a:spcPts val="0"/>
              </a:spcAft>
            </a:pPr>
            <a:r>
              <a:rPr sz="1400" b="1" i="0">
                <a:solidFill>
                  <a:srgbClr val="16202E"/>
                </a:solidFill>
                <a:latin typeface="Calibri"/>
              </a:rPr>
              <a:t>Boundary errors separated (±200 ms): </a:t>
            </a:r>
            <a:r>
              <a:rPr sz="1400" b="0" i="0">
                <a:solidFill>
                  <a:srgbClr val="16202E"/>
                </a:solidFill>
                <a:latin typeface="Calibri"/>
              </a:rPr>
              <a:t>9 gray frames are boundary errors, 19 are misclassifications</a:t>
            </a:r>
          </a:p>
        </p:txBody>
      </p:sp>
      <p:sp>
        <p:nvSpPr>
          <p:cNvPr id="31" name="Rectangle 30"/>
          <p:cNvSpPr/>
          <p:nvPr/>
        </p:nvSpPr>
        <p:spPr>
          <a:xfrm>
            <a:off x="1417319" y="4224528"/>
            <a:ext cx="6995159" cy="845820"/>
          </a:xfrm>
          <a:prstGeom prst="rect">
            <a:avLst/>
          </a:prstGeom>
          <a:solidFill>
            <a:srgbClr val="FFFFFF"/>
          </a:solidFill>
          <a:ln w="9525">
            <a:solidFill>
              <a:srgbClr val="DDE2E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cxnSp>
        <p:nvCxnSpPr>
          <p:cNvPr id="32" name="Connector 31"/>
          <p:cNvCxnSpPr/>
          <p:nvPr/>
        </p:nvCxnSpPr>
        <p:spPr>
          <a:xfrm>
            <a:off x="1417319" y="4588230"/>
            <a:ext cx="6995161" cy="0"/>
          </a:xfrm>
          <a:prstGeom prst="line">
            <a:avLst/>
          </a:prstGeom>
          <a:ln w="12700">
            <a:solidFill>
              <a:srgbClr val="8A93A0"/>
            </a:solidFill>
            <a:prstDash val="dash"/>
          </a:ln>
        </p:spPr>
        <p:style>
          <a:lnRef idx="2">
            <a:schemeClr val="accent1"/>
          </a:lnRef>
          <a:fillRef idx="0">
            <a:schemeClr val="accent1"/>
          </a:fillRef>
          <a:effectRef idx="0">
            <a:schemeClr val="accent1"/>
          </a:effectRef>
          <a:fontRef idx="minor">
            <a:schemeClr val="tx1"/>
          </a:fontRef>
        </p:style>
      </p:cxnSp>
      <p:sp>
        <p:nvSpPr>
          <p:cNvPr id="33" name="Freeform 32"/>
          <p:cNvSpPr/>
          <p:nvPr/>
        </p:nvSpPr>
        <p:spPr>
          <a:xfrm>
            <a:off x="1452295" y="4224528"/>
            <a:ext cx="6925209" cy="520716"/>
          </a:xfrm>
          <a:custGeom>
            <a:avLst/>
            <a:gdLst/>
            <a:ahLst/>
            <a:cxnLst/>
            <a:rect l="l" t="t" r="r" b="b"/>
            <a:pathLst>
              <a:path w="6925209" h="520716">
                <a:moveTo>
                  <a:pt x="0" y="156192"/>
                </a:moveTo>
                <a:lnTo>
                  <a:pt x="69952" y="239340"/>
                </a:lnTo>
                <a:lnTo>
                  <a:pt x="139903" y="243480"/>
                </a:lnTo>
                <a:lnTo>
                  <a:pt x="209855" y="247983"/>
                </a:lnTo>
                <a:lnTo>
                  <a:pt x="279807" y="183691"/>
                </a:lnTo>
                <a:lnTo>
                  <a:pt x="349758" y="300679"/>
                </a:lnTo>
                <a:lnTo>
                  <a:pt x="419710" y="190673"/>
                </a:lnTo>
                <a:lnTo>
                  <a:pt x="489661" y="279753"/>
                </a:lnTo>
                <a:lnTo>
                  <a:pt x="559613" y="288478"/>
                </a:lnTo>
                <a:lnTo>
                  <a:pt x="629565" y="286838"/>
                </a:lnTo>
                <a:lnTo>
                  <a:pt x="699516" y="292597"/>
                </a:lnTo>
                <a:lnTo>
                  <a:pt x="769468" y="230241"/>
                </a:lnTo>
                <a:lnTo>
                  <a:pt x="839419" y="294648"/>
                </a:lnTo>
                <a:lnTo>
                  <a:pt x="909371" y="474121"/>
                </a:lnTo>
                <a:lnTo>
                  <a:pt x="979323" y="328310"/>
                </a:lnTo>
                <a:lnTo>
                  <a:pt x="1049274" y="360153"/>
                </a:lnTo>
                <a:lnTo>
                  <a:pt x="1119226" y="220388"/>
                </a:lnTo>
                <a:lnTo>
                  <a:pt x="1189178" y="199246"/>
                </a:lnTo>
                <a:lnTo>
                  <a:pt x="1259129" y="274218"/>
                </a:lnTo>
                <a:lnTo>
                  <a:pt x="1329081" y="249206"/>
                </a:lnTo>
                <a:lnTo>
                  <a:pt x="1399032" y="232105"/>
                </a:lnTo>
                <a:lnTo>
                  <a:pt x="1468984" y="229236"/>
                </a:lnTo>
                <a:lnTo>
                  <a:pt x="1538936" y="288584"/>
                </a:lnTo>
                <a:lnTo>
                  <a:pt x="1608887" y="359096"/>
                </a:lnTo>
                <a:lnTo>
                  <a:pt x="1678839" y="394122"/>
                </a:lnTo>
                <a:lnTo>
                  <a:pt x="1748790" y="519115"/>
                </a:lnTo>
                <a:lnTo>
                  <a:pt x="1818742" y="520716"/>
                </a:lnTo>
                <a:lnTo>
                  <a:pt x="1888693" y="517026"/>
                </a:lnTo>
                <a:lnTo>
                  <a:pt x="1958645" y="366689"/>
                </a:lnTo>
                <a:lnTo>
                  <a:pt x="2028597" y="424169"/>
                </a:lnTo>
                <a:lnTo>
                  <a:pt x="2098548" y="278715"/>
                </a:lnTo>
                <a:lnTo>
                  <a:pt x="2168500" y="314436"/>
                </a:lnTo>
                <a:lnTo>
                  <a:pt x="2238452" y="320089"/>
                </a:lnTo>
                <a:lnTo>
                  <a:pt x="2308403" y="349899"/>
                </a:lnTo>
                <a:lnTo>
                  <a:pt x="2378355" y="238108"/>
                </a:lnTo>
                <a:lnTo>
                  <a:pt x="2448306" y="366356"/>
                </a:lnTo>
                <a:lnTo>
                  <a:pt x="2518258" y="424217"/>
                </a:lnTo>
                <a:lnTo>
                  <a:pt x="2588209" y="374916"/>
                </a:lnTo>
                <a:lnTo>
                  <a:pt x="2658161" y="162091"/>
                </a:lnTo>
                <a:lnTo>
                  <a:pt x="2728113" y="259984"/>
                </a:lnTo>
                <a:lnTo>
                  <a:pt x="2798064" y="176744"/>
                </a:lnTo>
                <a:lnTo>
                  <a:pt x="2868016" y="122881"/>
                </a:lnTo>
                <a:lnTo>
                  <a:pt x="2937968" y="0"/>
                </a:lnTo>
                <a:lnTo>
                  <a:pt x="3007919" y="121902"/>
                </a:lnTo>
                <a:lnTo>
                  <a:pt x="3077871" y="221635"/>
                </a:lnTo>
                <a:lnTo>
                  <a:pt x="3147822" y="217431"/>
                </a:lnTo>
                <a:lnTo>
                  <a:pt x="3217774" y="119146"/>
                </a:lnTo>
                <a:lnTo>
                  <a:pt x="3287726" y="112025"/>
                </a:lnTo>
                <a:lnTo>
                  <a:pt x="3357677" y="226494"/>
                </a:lnTo>
                <a:lnTo>
                  <a:pt x="3427629" y="241495"/>
                </a:lnTo>
                <a:lnTo>
                  <a:pt x="3497580" y="353961"/>
                </a:lnTo>
                <a:lnTo>
                  <a:pt x="3567532" y="373994"/>
                </a:lnTo>
                <a:lnTo>
                  <a:pt x="3637484" y="274672"/>
                </a:lnTo>
                <a:lnTo>
                  <a:pt x="3707435" y="289266"/>
                </a:lnTo>
                <a:lnTo>
                  <a:pt x="3777387" y="321508"/>
                </a:lnTo>
                <a:lnTo>
                  <a:pt x="3847338" y="403882"/>
                </a:lnTo>
                <a:lnTo>
                  <a:pt x="3917290" y="306451"/>
                </a:lnTo>
                <a:lnTo>
                  <a:pt x="3987242" y="298182"/>
                </a:lnTo>
                <a:lnTo>
                  <a:pt x="4057193" y="354348"/>
                </a:lnTo>
                <a:lnTo>
                  <a:pt x="4127145" y="271781"/>
                </a:lnTo>
                <a:lnTo>
                  <a:pt x="4197096" y="315092"/>
                </a:lnTo>
                <a:lnTo>
                  <a:pt x="4267048" y="392286"/>
                </a:lnTo>
                <a:lnTo>
                  <a:pt x="4337000" y="424880"/>
                </a:lnTo>
                <a:lnTo>
                  <a:pt x="4406951" y="319871"/>
                </a:lnTo>
                <a:lnTo>
                  <a:pt x="4476903" y="330050"/>
                </a:lnTo>
                <a:lnTo>
                  <a:pt x="4546854" y="211635"/>
                </a:lnTo>
                <a:lnTo>
                  <a:pt x="4616806" y="139303"/>
                </a:lnTo>
                <a:lnTo>
                  <a:pt x="4686758" y="164951"/>
                </a:lnTo>
                <a:lnTo>
                  <a:pt x="4756709" y="268395"/>
                </a:lnTo>
                <a:lnTo>
                  <a:pt x="4826661" y="355281"/>
                </a:lnTo>
                <a:lnTo>
                  <a:pt x="4896612" y="350585"/>
                </a:lnTo>
                <a:lnTo>
                  <a:pt x="4966564" y="328778"/>
                </a:lnTo>
                <a:lnTo>
                  <a:pt x="5036516" y="285715"/>
                </a:lnTo>
                <a:lnTo>
                  <a:pt x="5106467" y="331499"/>
                </a:lnTo>
                <a:lnTo>
                  <a:pt x="5176419" y="100691"/>
                </a:lnTo>
                <a:lnTo>
                  <a:pt x="5246370" y="69566"/>
                </a:lnTo>
                <a:lnTo>
                  <a:pt x="5316322" y="171195"/>
                </a:lnTo>
                <a:lnTo>
                  <a:pt x="5386274" y="229643"/>
                </a:lnTo>
                <a:lnTo>
                  <a:pt x="5456225" y="229178"/>
                </a:lnTo>
                <a:lnTo>
                  <a:pt x="5526177" y="270455"/>
                </a:lnTo>
                <a:lnTo>
                  <a:pt x="5596128" y="280833"/>
                </a:lnTo>
                <a:lnTo>
                  <a:pt x="5666080" y="328874"/>
                </a:lnTo>
                <a:lnTo>
                  <a:pt x="5736032" y="249882"/>
                </a:lnTo>
                <a:lnTo>
                  <a:pt x="5805983" y="194742"/>
                </a:lnTo>
                <a:lnTo>
                  <a:pt x="5875935" y="286573"/>
                </a:lnTo>
                <a:lnTo>
                  <a:pt x="5945886" y="263325"/>
                </a:lnTo>
                <a:lnTo>
                  <a:pt x="6015838" y="181871"/>
                </a:lnTo>
                <a:lnTo>
                  <a:pt x="6085789" y="243285"/>
                </a:lnTo>
                <a:lnTo>
                  <a:pt x="6155741" y="321858"/>
                </a:lnTo>
                <a:lnTo>
                  <a:pt x="6225693" y="340020"/>
                </a:lnTo>
                <a:lnTo>
                  <a:pt x="6295644" y="233649"/>
                </a:lnTo>
                <a:lnTo>
                  <a:pt x="6365596" y="360543"/>
                </a:lnTo>
                <a:lnTo>
                  <a:pt x="6435547" y="357175"/>
                </a:lnTo>
                <a:lnTo>
                  <a:pt x="6505499" y="360221"/>
                </a:lnTo>
                <a:lnTo>
                  <a:pt x="6575451" y="352739"/>
                </a:lnTo>
                <a:lnTo>
                  <a:pt x="6645402" y="207920"/>
                </a:lnTo>
                <a:lnTo>
                  <a:pt x="6715354" y="276895"/>
                </a:lnTo>
                <a:lnTo>
                  <a:pt x="6785305" y="480909"/>
                </a:lnTo>
                <a:lnTo>
                  <a:pt x="6855257" y="407410"/>
                </a:lnTo>
                <a:lnTo>
                  <a:pt x="6925209" y="312434"/>
                </a:lnTo>
              </a:path>
            </a:pathLst>
          </a:custGeom>
          <a:noFill/>
          <a:ln w="22225">
            <a:solidFill>
              <a:srgbClr val="16202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48640" y="4242816"/>
            <a:ext cx="7772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Score</a:t>
            </a:r>
          </a:p>
        </p:txBody>
      </p:sp>
      <p:sp>
        <p:nvSpPr>
          <p:cNvPr id="35" name="TextBox 34"/>
          <p:cNvSpPr txBox="1"/>
          <p:nvPr/>
        </p:nvSpPr>
        <p:spPr>
          <a:xfrm>
            <a:off x="8458200" y="4469358"/>
            <a:ext cx="457200" cy="237744"/>
          </a:xfrm>
          <a:prstGeom prst="rect">
            <a:avLst/>
          </a:prstGeom>
          <a:noFill/>
        </p:spPr>
        <p:txBody>
          <a:bodyPr wrap="square" lIns="0" rIns="0" tIns="0" bIns="0" anchor="t">
            <a:spAutoFit/>
          </a:bodyPr>
          <a:lstStyle/>
          <a:p>
            <a:pPr algn="l">
              <a:spcAft>
                <a:spcPts val="0"/>
              </a:spcAft>
            </a:pPr>
            <a:r>
              <a:rPr sz="1000" b="0" i="0">
                <a:solidFill>
                  <a:srgbClr val="8A93A0"/>
                </a:solidFill>
                <a:latin typeface="Calibri"/>
              </a:rPr>
              <a:t>0.57</a:t>
            </a:r>
          </a:p>
        </p:txBody>
      </p:sp>
      <p:sp>
        <p:nvSpPr>
          <p:cNvPr id="36" name="Rectangle 35"/>
          <p:cNvSpPr/>
          <p:nvPr/>
        </p:nvSpPr>
        <p:spPr>
          <a:xfrm>
            <a:off x="1417319" y="5234940"/>
            <a:ext cx="1748789"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7" name="Rectangle 36"/>
          <p:cNvSpPr/>
          <p:nvPr/>
        </p:nvSpPr>
        <p:spPr>
          <a:xfrm>
            <a:off x="3166109" y="5234940"/>
            <a:ext cx="1049274" cy="23774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8" name="Rectangle 37"/>
          <p:cNvSpPr/>
          <p:nvPr/>
        </p:nvSpPr>
        <p:spPr>
          <a:xfrm>
            <a:off x="4215383" y="5234940"/>
            <a:ext cx="839419"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9" name="Rectangle 38"/>
          <p:cNvSpPr/>
          <p:nvPr/>
        </p:nvSpPr>
        <p:spPr>
          <a:xfrm>
            <a:off x="5054803" y="5234940"/>
            <a:ext cx="979322" cy="23774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0" name="Rectangle 39"/>
          <p:cNvSpPr/>
          <p:nvPr/>
        </p:nvSpPr>
        <p:spPr>
          <a:xfrm>
            <a:off x="6034125" y="5234940"/>
            <a:ext cx="1678838"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1" name="Rectangle 40"/>
          <p:cNvSpPr/>
          <p:nvPr/>
        </p:nvSpPr>
        <p:spPr>
          <a:xfrm>
            <a:off x="7712963" y="5234940"/>
            <a:ext cx="699516" cy="23774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2" name="TextBox 41"/>
          <p:cNvSpPr txBox="1"/>
          <p:nvPr/>
        </p:nvSpPr>
        <p:spPr>
          <a:xfrm>
            <a:off x="548640" y="5234940"/>
            <a:ext cx="777240" cy="237744"/>
          </a:xfrm>
          <a:prstGeom prst="rect">
            <a:avLst/>
          </a:prstGeom>
          <a:noFill/>
        </p:spPr>
        <p:txBody>
          <a:bodyPr wrap="square" lIns="0" rIns="0" tIns="0" bIns="0" anchor="ctr">
            <a:spAutoFit/>
          </a:bodyPr>
          <a:lstStyle/>
          <a:p>
            <a:pPr algn="l">
              <a:spcAft>
                <a:spcPts val="0"/>
              </a:spcAft>
            </a:pPr>
            <a:r>
              <a:rPr sz="1100" b="0" i="0">
                <a:solidFill>
                  <a:srgbClr val="5B6472"/>
                </a:solidFill>
                <a:latin typeface="Calibri"/>
              </a:rPr>
              <a:t>GT</a:t>
            </a:r>
          </a:p>
        </p:txBody>
      </p:sp>
      <p:sp>
        <p:nvSpPr>
          <p:cNvPr id="43" name="Rectangle 42"/>
          <p:cNvSpPr/>
          <p:nvPr/>
        </p:nvSpPr>
        <p:spPr>
          <a:xfrm>
            <a:off x="1417319" y="5582412"/>
            <a:ext cx="1678838"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4" name="Rectangle 43"/>
          <p:cNvSpPr/>
          <p:nvPr/>
        </p:nvSpPr>
        <p:spPr>
          <a:xfrm>
            <a:off x="3096158" y="5582412"/>
            <a:ext cx="69951" cy="237744"/>
          </a:xfrm>
          <a:prstGeom prst="rect">
            <a:avLst/>
          </a:prstGeom>
          <a:solidFill>
            <a:srgbClr val="8A8A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5" name="Rectangle 44"/>
          <p:cNvSpPr/>
          <p:nvPr/>
        </p:nvSpPr>
        <p:spPr>
          <a:xfrm>
            <a:off x="3515868" y="5582412"/>
            <a:ext cx="349758"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6" name="Rectangle 45"/>
          <p:cNvSpPr/>
          <p:nvPr/>
        </p:nvSpPr>
        <p:spPr>
          <a:xfrm>
            <a:off x="4075480" y="5582412"/>
            <a:ext cx="139903" cy="237744"/>
          </a:xfrm>
          <a:prstGeom prst="rect">
            <a:avLst/>
          </a:prstGeom>
          <a:solidFill>
            <a:srgbClr val="8A8A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7" name="Rectangle 46"/>
          <p:cNvSpPr/>
          <p:nvPr/>
        </p:nvSpPr>
        <p:spPr>
          <a:xfrm>
            <a:off x="4215383" y="5582412"/>
            <a:ext cx="839419"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8" name="Rectangle 47"/>
          <p:cNvSpPr/>
          <p:nvPr/>
        </p:nvSpPr>
        <p:spPr>
          <a:xfrm>
            <a:off x="5054803" y="5582412"/>
            <a:ext cx="139903" cy="237744"/>
          </a:xfrm>
          <a:prstGeom prst="rect">
            <a:avLst/>
          </a:prstGeom>
          <a:solidFill>
            <a:srgbClr val="8A8A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9" name="Rectangle 48"/>
          <p:cNvSpPr/>
          <p:nvPr/>
        </p:nvSpPr>
        <p:spPr>
          <a:xfrm>
            <a:off x="5194706" y="5582412"/>
            <a:ext cx="489661"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0" name="Rectangle 49"/>
          <p:cNvSpPr/>
          <p:nvPr/>
        </p:nvSpPr>
        <p:spPr>
          <a:xfrm>
            <a:off x="5824270" y="5582412"/>
            <a:ext cx="69951"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1" name="Rectangle 50"/>
          <p:cNvSpPr/>
          <p:nvPr/>
        </p:nvSpPr>
        <p:spPr>
          <a:xfrm>
            <a:off x="5894222" y="5582412"/>
            <a:ext cx="139903" cy="237744"/>
          </a:xfrm>
          <a:prstGeom prst="rect">
            <a:avLst/>
          </a:prstGeom>
          <a:solidFill>
            <a:srgbClr val="8A8A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2" name="Rectangle 51"/>
          <p:cNvSpPr/>
          <p:nvPr/>
        </p:nvSpPr>
        <p:spPr>
          <a:xfrm>
            <a:off x="6034125" y="5582412"/>
            <a:ext cx="1678838"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3" name="Rectangle 52"/>
          <p:cNvSpPr/>
          <p:nvPr/>
        </p:nvSpPr>
        <p:spPr>
          <a:xfrm>
            <a:off x="7712963" y="5582412"/>
            <a:ext cx="139903" cy="237744"/>
          </a:xfrm>
          <a:prstGeom prst="rect">
            <a:avLst/>
          </a:prstGeom>
          <a:solidFill>
            <a:srgbClr val="8A8A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4" name="Rectangle 53"/>
          <p:cNvSpPr/>
          <p:nvPr/>
        </p:nvSpPr>
        <p:spPr>
          <a:xfrm>
            <a:off x="7852867" y="5582412"/>
            <a:ext cx="349758"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5" name="Rectangle 54"/>
          <p:cNvSpPr/>
          <p:nvPr/>
        </p:nvSpPr>
        <p:spPr>
          <a:xfrm>
            <a:off x="8342528" y="5582412"/>
            <a:ext cx="69951"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6" name="TextBox 55"/>
          <p:cNvSpPr txBox="1"/>
          <p:nvPr/>
        </p:nvSpPr>
        <p:spPr>
          <a:xfrm>
            <a:off x="548640" y="5582412"/>
            <a:ext cx="777240" cy="237744"/>
          </a:xfrm>
          <a:prstGeom prst="rect">
            <a:avLst/>
          </a:prstGeom>
          <a:noFill/>
        </p:spPr>
        <p:txBody>
          <a:bodyPr wrap="square" lIns="0" rIns="0" tIns="0" bIns="0" anchor="ctr">
            <a:spAutoFit/>
          </a:bodyPr>
          <a:lstStyle/>
          <a:p>
            <a:pPr algn="l">
              <a:spcAft>
                <a:spcPts val="0"/>
              </a:spcAft>
            </a:pPr>
            <a:r>
              <a:rPr sz="1100" b="0" i="0">
                <a:solidFill>
                  <a:srgbClr val="5B6472"/>
                </a:solidFill>
                <a:latin typeface="Calibri"/>
              </a:rPr>
              <a:t>Prediction</a:t>
            </a:r>
          </a:p>
        </p:txBody>
      </p:sp>
      <p:sp>
        <p:nvSpPr>
          <p:cNvPr id="57" name="TextBox 56"/>
          <p:cNvSpPr txBox="1"/>
          <p:nvPr/>
        </p:nvSpPr>
        <p:spPr>
          <a:xfrm>
            <a:off x="1142999" y="5865875"/>
            <a:ext cx="548640" cy="228600"/>
          </a:xfrm>
          <a:prstGeom prst="rect">
            <a:avLst/>
          </a:prstGeom>
          <a:noFill/>
        </p:spPr>
        <p:txBody>
          <a:bodyPr wrap="square" lIns="0" rIns="0" tIns="0" bIns="0" anchor="t">
            <a:spAutoFit/>
          </a:bodyPr>
          <a:lstStyle/>
          <a:p>
            <a:pPr algn="ctr">
              <a:spcAft>
                <a:spcPts val="0"/>
              </a:spcAft>
            </a:pPr>
            <a:r>
              <a:rPr sz="1000" b="0" i="0">
                <a:solidFill>
                  <a:srgbClr val="8A93A0"/>
                </a:solidFill>
                <a:latin typeface="Calibri"/>
              </a:rPr>
              <a:t>0 s</a:t>
            </a:r>
          </a:p>
        </p:txBody>
      </p:sp>
      <p:sp>
        <p:nvSpPr>
          <p:cNvPr id="58" name="TextBox 57"/>
          <p:cNvSpPr txBox="1"/>
          <p:nvPr/>
        </p:nvSpPr>
        <p:spPr>
          <a:xfrm>
            <a:off x="2542032" y="5865875"/>
            <a:ext cx="548640" cy="228600"/>
          </a:xfrm>
          <a:prstGeom prst="rect">
            <a:avLst/>
          </a:prstGeom>
          <a:noFill/>
        </p:spPr>
        <p:txBody>
          <a:bodyPr wrap="square" lIns="0" rIns="0" tIns="0" bIns="0" anchor="t">
            <a:spAutoFit/>
          </a:bodyPr>
          <a:lstStyle/>
          <a:p>
            <a:pPr algn="ctr">
              <a:spcAft>
                <a:spcPts val="0"/>
              </a:spcAft>
            </a:pPr>
            <a:r>
              <a:rPr sz="1000" b="0" i="0">
                <a:solidFill>
                  <a:srgbClr val="8A93A0"/>
                </a:solidFill>
                <a:latin typeface="Calibri"/>
              </a:rPr>
              <a:t>2 s</a:t>
            </a:r>
          </a:p>
        </p:txBody>
      </p:sp>
      <p:sp>
        <p:nvSpPr>
          <p:cNvPr id="59" name="TextBox 58"/>
          <p:cNvSpPr txBox="1"/>
          <p:nvPr/>
        </p:nvSpPr>
        <p:spPr>
          <a:xfrm>
            <a:off x="3941063" y="5865875"/>
            <a:ext cx="548640" cy="228600"/>
          </a:xfrm>
          <a:prstGeom prst="rect">
            <a:avLst/>
          </a:prstGeom>
          <a:noFill/>
        </p:spPr>
        <p:txBody>
          <a:bodyPr wrap="square" lIns="0" rIns="0" tIns="0" bIns="0" anchor="t">
            <a:spAutoFit/>
          </a:bodyPr>
          <a:lstStyle/>
          <a:p>
            <a:pPr algn="ctr">
              <a:spcAft>
                <a:spcPts val="0"/>
              </a:spcAft>
            </a:pPr>
            <a:r>
              <a:rPr sz="1000" b="0" i="0">
                <a:solidFill>
                  <a:srgbClr val="8A93A0"/>
                </a:solidFill>
                <a:latin typeface="Calibri"/>
              </a:rPr>
              <a:t>4 s</a:t>
            </a:r>
          </a:p>
        </p:txBody>
      </p:sp>
      <p:sp>
        <p:nvSpPr>
          <p:cNvPr id="60" name="TextBox 59"/>
          <p:cNvSpPr txBox="1"/>
          <p:nvPr/>
        </p:nvSpPr>
        <p:spPr>
          <a:xfrm>
            <a:off x="5340096" y="5865875"/>
            <a:ext cx="548640" cy="228600"/>
          </a:xfrm>
          <a:prstGeom prst="rect">
            <a:avLst/>
          </a:prstGeom>
          <a:noFill/>
        </p:spPr>
        <p:txBody>
          <a:bodyPr wrap="square" lIns="0" rIns="0" tIns="0" bIns="0" anchor="t">
            <a:spAutoFit/>
          </a:bodyPr>
          <a:lstStyle/>
          <a:p>
            <a:pPr algn="ctr">
              <a:spcAft>
                <a:spcPts val="0"/>
              </a:spcAft>
            </a:pPr>
            <a:r>
              <a:rPr sz="1000" b="0" i="0">
                <a:solidFill>
                  <a:srgbClr val="8A93A0"/>
                </a:solidFill>
                <a:latin typeface="Calibri"/>
              </a:rPr>
              <a:t>6 s</a:t>
            </a:r>
          </a:p>
        </p:txBody>
      </p:sp>
      <p:sp>
        <p:nvSpPr>
          <p:cNvPr id="61" name="TextBox 60"/>
          <p:cNvSpPr txBox="1"/>
          <p:nvPr/>
        </p:nvSpPr>
        <p:spPr>
          <a:xfrm>
            <a:off x="6739128" y="5865875"/>
            <a:ext cx="548640" cy="228600"/>
          </a:xfrm>
          <a:prstGeom prst="rect">
            <a:avLst/>
          </a:prstGeom>
          <a:noFill/>
        </p:spPr>
        <p:txBody>
          <a:bodyPr wrap="square" lIns="0" rIns="0" tIns="0" bIns="0" anchor="t">
            <a:spAutoFit/>
          </a:bodyPr>
          <a:lstStyle/>
          <a:p>
            <a:pPr algn="ctr">
              <a:spcAft>
                <a:spcPts val="0"/>
              </a:spcAft>
            </a:pPr>
            <a:r>
              <a:rPr sz="1000" b="0" i="0">
                <a:solidFill>
                  <a:srgbClr val="8A93A0"/>
                </a:solidFill>
                <a:latin typeface="Calibri"/>
              </a:rPr>
              <a:t>8 s</a:t>
            </a:r>
          </a:p>
        </p:txBody>
      </p:sp>
      <p:sp>
        <p:nvSpPr>
          <p:cNvPr id="62" name="TextBox 61"/>
          <p:cNvSpPr txBox="1"/>
          <p:nvPr/>
        </p:nvSpPr>
        <p:spPr>
          <a:xfrm>
            <a:off x="8138159" y="5865875"/>
            <a:ext cx="548640" cy="228600"/>
          </a:xfrm>
          <a:prstGeom prst="rect">
            <a:avLst/>
          </a:prstGeom>
          <a:noFill/>
        </p:spPr>
        <p:txBody>
          <a:bodyPr wrap="square" lIns="0" rIns="0" tIns="0" bIns="0" anchor="t">
            <a:spAutoFit/>
          </a:bodyPr>
          <a:lstStyle/>
          <a:p>
            <a:pPr algn="ctr">
              <a:spcAft>
                <a:spcPts val="0"/>
              </a:spcAft>
            </a:pPr>
            <a:r>
              <a:rPr sz="1000" b="0" i="0">
                <a:solidFill>
                  <a:srgbClr val="8A93A0"/>
                </a:solidFill>
                <a:latin typeface="Calibri"/>
              </a:rPr>
              <a:t>10 s</a:t>
            </a:r>
          </a:p>
        </p:txBody>
      </p:sp>
      <p:sp>
        <p:nvSpPr>
          <p:cNvPr id="63" name="Rectangle 62"/>
          <p:cNvSpPr/>
          <p:nvPr/>
        </p:nvSpPr>
        <p:spPr>
          <a:xfrm>
            <a:off x="1417320" y="6199631"/>
            <a:ext cx="146304" cy="14630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4" name="TextBox 63"/>
          <p:cNvSpPr txBox="1"/>
          <p:nvPr/>
        </p:nvSpPr>
        <p:spPr>
          <a:xfrm>
            <a:off x="1636776" y="614476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Correct speech</a:t>
            </a:r>
          </a:p>
        </p:txBody>
      </p:sp>
      <p:sp>
        <p:nvSpPr>
          <p:cNvPr id="65" name="Rectangle 64"/>
          <p:cNvSpPr/>
          <p:nvPr/>
        </p:nvSpPr>
        <p:spPr>
          <a:xfrm>
            <a:off x="2834640" y="6199631"/>
            <a:ext cx="146304" cy="146304"/>
          </a:xfrm>
          <a:prstGeom prst="rect">
            <a:avLst/>
          </a:prstGeom>
          <a:solidFill>
            <a:srgbClr val="D03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6" name="TextBox 65"/>
          <p:cNvSpPr txBox="1"/>
          <p:nvPr/>
        </p:nvSpPr>
        <p:spPr>
          <a:xfrm>
            <a:off x="3054096" y="614476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Miss</a:t>
            </a:r>
          </a:p>
        </p:txBody>
      </p:sp>
      <p:sp>
        <p:nvSpPr>
          <p:cNvPr id="67" name="Rectangle 66"/>
          <p:cNvSpPr/>
          <p:nvPr/>
        </p:nvSpPr>
        <p:spPr>
          <a:xfrm>
            <a:off x="4251960" y="6199631"/>
            <a:ext cx="146304" cy="14630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8" name="TextBox 67"/>
          <p:cNvSpPr txBox="1"/>
          <p:nvPr/>
        </p:nvSpPr>
        <p:spPr>
          <a:xfrm>
            <a:off x="4471416" y="614476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FA</a:t>
            </a:r>
          </a:p>
        </p:txBody>
      </p:sp>
      <p:sp>
        <p:nvSpPr>
          <p:cNvPr id="69" name="Rectangle 68"/>
          <p:cNvSpPr/>
          <p:nvPr/>
        </p:nvSpPr>
        <p:spPr>
          <a:xfrm>
            <a:off x="5669280" y="6199631"/>
            <a:ext cx="146304" cy="146304"/>
          </a:xfrm>
          <a:prstGeom prst="rect">
            <a:avLst/>
          </a:prstGeom>
          <a:solidFill>
            <a:srgbClr val="8A8A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0" name="TextBox 69"/>
          <p:cNvSpPr txBox="1"/>
          <p:nvPr/>
        </p:nvSpPr>
        <p:spPr>
          <a:xfrm>
            <a:off x="5888736" y="614476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Boundary error</a:t>
            </a:r>
          </a:p>
        </p:txBody>
      </p:sp>
      <p:sp>
        <p:nvSpPr>
          <p:cNvPr id="71" name="Rectangle 70"/>
          <p:cNvSpPr/>
          <p:nvPr/>
        </p:nvSpPr>
        <p:spPr>
          <a:xfrm>
            <a:off x="7086600" y="6199631"/>
            <a:ext cx="146304" cy="14630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2" name="TextBox 71"/>
          <p:cNvSpPr txBox="1"/>
          <p:nvPr/>
        </p:nvSpPr>
        <p:spPr>
          <a:xfrm>
            <a:off x="7306056" y="614476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Crowd murmur (GT)</a:t>
            </a:r>
          </a:p>
        </p:txBody>
      </p:sp>
      <p:sp>
        <p:nvSpPr>
          <p:cNvPr id="73" name="TextBox 72"/>
          <p:cNvSpPr txBox="1"/>
          <p:nvPr/>
        </p:nvSpPr>
        <p:spPr>
          <a:xfrm>
            <a:off x="8915400" y="1783080"/>
            <a:ext cx="2743200" cy="731520"/>
          </a:xfrm>
          <a:prstGeom prst="rect">
            <a:avLst/>
          </a:prstGeom>
          <a:noFill/>
        </p:spPr>
        <p:txBody>
          <a:bodyPr wrap="square" lIns="0" rIns="0" tIns="0" bIns="0" anchor="t">
            <a:spAutoFit/>
          </a:bodyPr>
          <a:lstStyle/>
          <a:p>
            <a:pPr algn="l">
              <a:spcAft>
                <a:spcPts val="0"/>
              </a:spcAft>
            </a:pPr>
            <a:r>
              <a:rPr sz="5400" b="1" i="0">
                <a:solidFill>
                  <a:srgbClr val="8A8A85"/>
                </a:solidFill>
                <a:latin typeface="Cambria"/>
              </a:rPr>
              <a:t>39%</a:t>
            </a:r>
          </a:p>
        </p:txBody>
      </p:sp>
      <p:sp>
        <p:nvSpPr>
          <p:cNvPr id="74" name="TextBox 73"/>
          <p:cNvSpPr txBox="1"/>
          <p:nvPr/>
        </p:nvSpPr>
        <p:spPr>
          <a:xfrm>
            <a:off x="8915400" y="2640330"/>
            <a:ext cx="2743200" cy="64008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of FA frames at threshold 0.57 lie within ±200 ms of a boundary</a:t>
            </a:r>
          </a:p>
        </p:txBody>
      </p:sp>
      <p:sp>
        <p:nvSpPr>
          <p:cNvPr id="75" name="TextBox 74"/>
          <p:cNvSpPr txBox="1"/>
          <p:nvPr/>
        </p:nvSpPr>
        <p:spPr>
          <a:xfrm>
            <a:off x="8915400" y="3520440"/>
            <a:ext cx="2743200" cy="731520"/>
          </a:xfrm>
          <a:prstGeom prst="rect">
            <a:avLst/>
          </a:prstGeom>
          <a:noFill/>
        </p:spPr>
        <p:txBody>
          <a:bodyPr wrap="square" lIns="0" rIns="0" tIns="0" bIns="0" anchor="t">
            <a:spAutoFit/>
          </a:bodyPr>
          <a:lstStyle/>
          <a:p>
            <a:pPr algn="l">
              <a:spcAft>
                <a:spcPts val="0"/>
              </a:spcAft>
            </a:pPr>
            <a:r>
              <a:rPr sz="3000" b="1" i="0">
                <a:solidFill>
                  <a:srgbClr val="0E7C7B"/>
                </a:solidFill>
                <a:latin typeface="Cambria"/>
              </a:rPr>
              <a:t>12.4% → 7.6%</a:t>
            </a:r>
          </a:p>
        </p:txBody>
      </p:sp>
      <p:sp>
        <p:nvSpPr>
          <p:cNvPr id="76" name="TextBox 75"/>
          <p:cNvSpPr txBox="1"/>
          <p:nvPr/>
        </p:nvSpPr>
        <p:spPr>
          <a:xfrm>
            <a:off x="8915400" y="3996690"/>
            <a:ext cx="2743200" cy="64008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FA over all 56 files with boundary errors separated</a:t>
            </a:r>
          </a:p>
        </p:txBody>
      </p:sp>
      <p:sp>
        <p:nvSpPr>
          <p:cNvPr id="77" name="Rounded Rectangle 76"/>
          <p:cNvSpPr/>
          <p:nvPr/>
        </p:nvSpPr>
        <p:spPr>
          <a:xfrm>
            <a:off x="8915400" y="4846320"/>
            <a:ext cx="2724912" cy="13258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8" name="TextBox 77"/>
          <p:cNvSpPr txBox="1"/>
          <p:nvPr/>
        </p:nvSpPr>
        <p:spPr>
          <a:xfrm>
            <a:off x="9098280" y="4892040"/>
            <a:ext cx="2377440" cy="1234440"/>
          </a:xfrm>
          <a:prstGeom prst="rect">
            <a:avLst/>
          </a:prstGeom>
          <a:noFill/>
        </p:spPr>
        <p:txBody>
          <a:bodyPr wrap="square" lIns="0" rIns="0" tIns="0" bIns="0" anchor="ctr">
            <a:spAutoFit/>
          </a:bodyPr>
          <a:lstStyle/>
          <a:p>
            <a:pPr algn="l">
              <a:spcAft>
                <a:spcPts val="0"/>
              </a:spcAft>
            </a:pPr>
            <a:r>
              <a:rPr sz="1300" b="0" i="0">
                <a:solidFill>
                  <a:srgbClr val="16202E"/>
                </a:solidFill>
                <a:latin typeface="Calibri"/>
              </a:rPr>
              <a:t>Boundary errors are fixed with resolution (E1–E3); misclassifications with data (E4).</a:t>
            </a:r>
          </a:p>
        </p:txBody>
      </p:sp>
      <p:sp>
        <p:nvSpPr>
          <p:cNvPr id="79" name="TextBox 78"/>
          <p:cNvSpPr txBox="1"/>
          <p:nvPr/>
        </p:nvSpPr>
        <p:spPr>
          <a:xfrm>
            <a:off x="548640" y="6419088"/>
            <a:ext cx="10241280" cy="274320"/>
          </a:xfrm>
          <a:prstGeom prst="rect">
            <a:avLst/>
          </a:prstGeom>
          <a:noFill/>
        </p:spPr>
        <p:txBody>
          <a:bodyPr wrap="square" lIns="0" rIns="0" tIns="0" bIns="0" anchor="t">
            <a:spAutoFit/>
          </a:bodyPr>
          <a:lstStyle/>
          <a:p>
            <a:pPr algn="l">
              <a:spcAft>
                <a:spcPts val="0"/>
              </a:spcAft>
            </a:pPr>
            <a:r>
              <a:rPr sz="1000" b="0" i="0">
                <a:solidFill>
                  <a:srgbClr val="8A93A0"/>
                </a:solidFill>
                <a:latin typeface="Calibri"/>
              </a:rPr>
              <a:t>Example file: "Crowd" group, threshold 0.57. Boundary error = wrong frame within ±200 ms of a GT transition.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45846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Simulated results</a:t>
            </a:r>
          </a:p>
        </p:txBody>
      </p:sp>
      <p:sp>
        <p:nvSpPr>
          <p:cNvPr id="3" name="Rounded Rectangle 2"/>
          <p:cNvSpPr/>
          <p:nvPr/>
        </p:nvSpPr>
        <p:spPr>
          <a:xfrm>
            <a:off x="10387584" y="384048"/>
            <a:ext cx="1252728" cy="274320"/>
          </a:xfrm>
          <a:prstGeom prst="roundRect">
            <a:avLst>
              <a:gd name="adj" fmla="val 50000"/>
            </a:avLst>
          </a:prstGeom>
          <a:solidFill>
            <a:srgbClr val="FDF3D8"/>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7A5200"/>
                </a:solidFill>
                <a:latin typeface="Calibri"/>
              </a:rPr>
              <a:t>Simulated data</a:t>
            </a:r>
          </a:p>
        </p:txBody>
      </p:sp>
      <p:sp>
        <p:nvSpPr>
          <p:cNvPr id="4" name="TextBox 3"/>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Overall passes, but four slices still fail: fix with data</a:t>
            </a:r>
          </a:p>
        </p:txBody>
      </p:sp>
      <p:sp>
        <p:nvSpPr>
          <p:cNvPr id="5" name="TextBox 4"/>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13 / 15</a:t>
            </a:r>
          </a:p>
        </p:txBody>
      </p:sp>
      <p:graphicFrame>
        <p:nvGraphicFramePr>
          <p:cNvPr id="6" name="Chart 5"/>
          <p:cNvGraphicFramePr>
            <a:graphicFrameLocks noGrp="1"/>
          </p:cNvGraphicFramePr>
          <p:nvPr/>
        </p:nvGraphicFramePr>
        <p:xfrm>
          <a:off x="548640" y="1783080"/>
          <a:ext cx="6949440" cy="4206240"/>
        </p:xfrm>
        <a:graphic>
          <a:graphicData uri="http://schemas.openxmlformats.org/drawingml/2006/chart">
            <c:chart xmlns:c="http://schemas.openxmlformats.org/drawingml/2006/chart" r:id="rId2"/>
          </a:graphicData>
        </a:graphic>
      </p:graphicFrame>
      <p:cxnSp>
        <p:nvCxnSpPr>
          <p:cNvPr id="7" name="Connector 6"/>
          <p:cNvCxnSpPr/>
          <p:nvPr/>
        </p:nvCxnSpPr>
        <p:spPr>
          <a:xfrm>
            <a:off x="3853484" y="1863547"/>
            <a:ext cx="0" cy="3999585"/>
          </a:xfrm>
          <a:prstGeom prst="line">
            <a:avLst/>
          </a:prstGeom>
          <a:ln w="19050">
            <a:solidFill>
              <a:srgbClr val="16202E"/>
            </a:solidFill>
            <a:prstDash val="dash"/>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3030524" y="1508760"/>
            <a:ext cx="1645920" cy="274320"/>
          </a:xfrm>
          <a:prstGeom prst="rect">
            <a:avLst/>
          </a:prstGeom>
          <a:noFill/>
        </p:spPr>
        <p:txBody>
          <a:bodyPr wrap="square" lIns="0" rIns="0" tIns="0" bIns="0" anchor="t">
            <a:spAutoFit/>
          </a:bodyPr>
          <a:lstStyle/>
          <a:p>
            <a:pPr algn="ctr">
              <a:spcAft>
                <a:spcPts val="0"/>
              </a:spcAft>
            </a:pPr>
            <a:r>
              <a:rPr sz="1100" b="1" i="0">
                <a:solidFill>
                  <a:srgbClr val="16202E"/>
                </a:solidFill>
                <a:latin typeface="Calibri"/>
              </a:rPr>
              <a:t>Limit 10%</a:t>
            </a:r>
          </a:p>
        </p:txBody>
      </p:sp>
      <p:sp>
        <p:nvSpPr>
          <p:cNvPr id="9" name="TextBox 8"/>
          <p:cNvSpPr txBox="1"/>
          <p:nvPr/>
        </p:nvSpPr>
        <p:spPr>
          <a:xfrm>
            <a:off x="548640" y="6035040"/>
            <a:ext cx="6949440" cy="320040"/>
          </a:xfrm>
          <a:prstGeom prst="rect">
            <a:avLst/>
          </a:prstGeom>
          <a:noFill/>
        </p:spPr>
        <p:txBody>
          <a:bodyPr wrap="square" lIns="0" rIns="0" tIns="0" bIns="0" anchor="t">
            <a:spAutoFit/>
          </a:bodyPr>
          <a:lstStyle/>
          <a:p>
            <a:pPr algn="l">
              <a:spcAft>
                <a:spcPts val="0"/>
              </a:spcAft>
            </a:pPr>
            <a:r>
              <a:rPr sz="1200" b="0" i="0">
                <a:solidFill>
                  <a:srgbClr val="8A93A0"/>
                </a:solidFill>
                <a:latin typeface="Calibri"/>
              </a:rPr>
              <a:t>Threshold 0.57, boundary errors excluded. Miss on positive slices, FA on negative slices.</a:t>
            </a:r>
          </a:p>
        </p:txBody>
      </p:sp>
      <p:sp>
        <p:nvSpPr>
          <p:cNvPr id="10" name="TextBox 9"/>
          <p:cNvSpPr txBox="1"/>
          <p:nvPr/>
        </p:nvSpPr>
        <p:spPr>
          <a:xfrm>
            <a:off x="7818120" y="1783080"/>
            <a:ext cx="3822191"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Thresholds only move errors</a:t>
            </a:r>
          </a:p>
        </p:txBody>
      </p:sp>
      <p:graphicFrame>
        <p:nvGraphicFramePr>
          <p:cNvPr id="11" name="Table 10"/>
          <p:cNvGraphicFramePr>
            <a:graphicFrameLocks noGrp="1"/>
          </p:cNvGraphicFramePr>
          <p:nvPr/>
        </p:nvGraphicFramePr>
        <p:xfrm>
          <a:off x="7818120" y="2240280"/>
          <a:ext cx="3822192" cy="1828800"/>
        </p:xfrm>
        <a:graphic>
          <a:graphicData uri="http://schemas.openxmlformats.org/drawingml/2006/table">
            <a:tbl>
              <a:tblPr firstRow="1" bandRow="1">
                <a:tableStyleId>{5C22544A-7EE6-4342-B048-85BDC9FD1C3A}</a:tableStyleId>
              </a:tblPr>
              <a:tblGrid>
                <a:gridCol w="868680"/>
                <a:gridCol w="1078992"/>
                <a:gridCol w="868680"/>
                <a:gridCol w="1005840"/>
              </a:tblGrid>
              <a:tr h="457200">
                <a:tc>
                  <a:txBody>
                    <a:bodyPr wrap="square"/>
                    <a:lstStyle/>
                    <a:p>
                      <a:pPr algn="ctr"/>
                      <a:r>
                        <a:rPr sz="1100" b="1">
                          <a:solidFill>
                            <a:srgbClr val="FFFFFF"/>
                          </a:solidFill>
                          <a:latin typeface="Calibri"/>
                        </a:rPr>
                        <a:t>Threshold</a:t>
                      </a:r>
                    </a:p>
                  </a:txBody>
                  <a:tcPr marL="91440" marR="91440" marT="27432" marB="27432" anchor="ctr">
                    <a:solidFill>
                      <a:srgbClr val="16202E"/>
                    </a:solidFill>
                  </a:tcPr>
                </a:tc>
                <a:tc>
                  <a:txBody>
                    <a:bodyPr wrap="square"/>
                    <a:lstStyle/>
                    <a:p>
                      <a:pPr algn="ctr"/>
                      <a:r>
                        <a:rPr sz="1100" b="1">
                          <a:solidFill>
                            <a:srgbClr val="FFFFFF"/>
                          </a:solidFill>
                          <a:latin typeface="Calibri"/>
                        </a:rPr>
                        <a:t>Speech + music (Miss)</a:t>
                      </a:r>
                    </a:p>
                  </a:txBody>
                  <a:tcPr marL="91440" marR="91440" marT="27432" marB="27432" anchor="ctr">
                    <a:solidFill>
                      <a:srgbClr val="16202E"/>
                    </a:solidFill>
                  </a:tcPr>
                </a:tc>
                <a:tc>
                  <a:txBody>
                    <a:bodyPr wrap="square"/>
                    <a:lstStyle/>
                    <a:p>
                      <a:pPr algn="ctr"/>
                      <a:r>
                        <a:rPr sz="1100" b="1">
                          <a:solidFill>
                            <a:srgbClr val="FFFFFF"/>
                          </a:solidFill>
                          <a:latin typeface="Calibri"/>
                        </a:rPr>
                        <a:t>Crowd (FA)</a:t>
                      </a:r>
                    </a:p>
                  </a:txBody>
                  <a:tcPr marL="91440" marR="91440" marT="27432" marB="27432" anchor="ctr">
                    <a:solidFill>
                      <a:srgbClr val="16202E"/>
                    </a:solidFill>
                  </a:tcPr>
                </a:tc>
                <a:tc>
                  <a:txBody>
                    <a:bodyPr wrap="square"/>
                    <a:lstStyle/>
                    <a:p>
                      <a:pPr algn="ctr"/>
                      <a:r>
                        <a:rPr sz="1100" b="1">
                          <a:solidFill>
                            <a:srgbClr val="FFFFFF"/>
                          </a:solidFill>
                          <a:latin typeface="Calibri"/>
                        </a:rPr>
                        <a:t>Laughs/coughs (FA)</a:t>
                      </a:r>
                    </a:p>
                  </a:txBody>
                  <a:tcPr marL="91440" marR="91440" marT="27432" marB="27432" anchor="ctr">
                    <a:solidFill>
                      <a:srgbClr val="16202E"/>
                    </a:solidFill>
                  </a:tcPr>
                </a:tc>
              </a:tr>
              <a:tr h="457200">
                <a:tc>
                  <a:txBody>
                    <a:bodyPr wrap="square"/>
                    <a:lstStyle/>
                    <a:p>
                      <a:pPr algn="ctr"/>
                      <a:r>
                        <a:rPr sz="1300" b="0">
                          <a:solidFill>
                            <a:srgbClr val="16202E"/>
                          </a:solidFill>
                          <a:latin typeface="Calibri"/>
                        </a:rPr>
                        <a:t>0.50</a:t>
                      </a:r>
                    </a:p>
                  </a:txBody>
                  <a:tcPr marL="91440" marR="91440" marT="27432" marB="27432" anchor="ctr">
                    <a:solidFill>
                      <a:srgbClr val="FFFFFF"/>
                    </a:solidFill>
                  </a:tcPr>
                </a:tc>
                <a:tc>
                  <a:txBody>
                    <a:bodyPr wrap="square"/>
                    <a:lstStyle/>
                    <a:p>
                      <a:pPr algn="ctr"/>
                      <a:r>
                        <a:rPr sz="1300" b="0">
                          <a:solidFill>
                            <a:srgbClr val="16202E"/>
                          </a:solidFill>
                          <a:latin typeface="Calibri"/>
                        </a:rPr>
                        <a:t>7%</a:t>
                      </a:r>
                    </a:p>
                  </a:txBody>
                  <a:tcPr marL="91440" marR="91440" marT="27432" marB="27432" anchor="ctr">
                    <a:solidFill>
                      <a:srgbClr val="FFFFFF"/>
                    </a:solidFill>
                  </a:tcPr>
                </a:tc>
                <a:tc>
                  <a:txBody>
                    <a:bodyPr wrap="square"/>
                    <a:lstStyle/>
                    <a:p>
                      <a:pPr algn="ctr"/>
                      <a:r>
                        <a:rPr sz="1300" b="0">
                          <a:solidFill>
                            <a:srgbClr val="D03B3B"/>
                          </a:solidFill>
                          <a:latin typeface="Calibri"/>
                        </a:rPr>
                        <a:t>71%</a:t>
                      </a:r>
                    </a:p>
                  </a:txBody>
                  <a:tcPr marL="91440" marR="91440" marT="27432" marB="27432" anchor="ctr">
                    <a:solidFill>
                      <a:srgbClr val="FFFFFF"/>
                    </a:solidFill>
                  </a:tcPr>
                </a:tc>
                <a:tc>
                  <a:txBody>
                    <a:bodyPr wrap="square"/>
                    <a:lstStyle/>
                    <a:p>
                      <a:pPr algn="ctr"/>
                      <a:r>
                        <a:rPr sz="1300" b="0">
                          <a:solidFill>
                            <a:srgbClr val="D03B3B"/>
                          </a:solidFill>
                          <a:latin typeface="Calibri"/>
                        </a:rPr>
                        <a:t>58%</a:t>
                      </a:r>
                    </a:p>
                  </a:txBody>
                  <a:tcPr marL="91440" marR="91440" marT="27432" marB="27432" anchor="ctr">
                    <a:solidFill>
                      <a:srgbClr val="FFFFFF"/>
                    </a:solidFill>
                  </a:tcPr>
                </a:tc>
              </a:tr>
              <a:tr h="457200">
                <a:tc>
                  <a:txBody>
                    <a:bodyPr wrap="square"/>
                    <a:lstStyle/>
                    <a:p>
                      <a:pPr algn="ctr"/>
                      <a:r>
                        <a:rPr sz="1300" b="0">
                          <a:solidFill>
                            <a:srgbClr val="16202E"/>
                          </a:solidFill>
                          <a:latin typeface="Calibri"/>
                        </a:rPr>
                        <a:t>0.57</a:t>
                      </a:r>
                    </a:p>
                  </a:txBody>
                  <a:tcPr marL="91440" marR="91440" marT="27432" marB="27432" anchor="ctr">
                    <a:solidFill>
                      <a:srgbClr val="F3F5F8"/>
                    </a:solidFill>
                  </a:tcPr>
                </a:tc>
                <a:tc>
                  <a:txBody>
                    <a:bodyPr wrap="square"/>
                    <a:lstStyle/>
                    <a:p>
                      <a:pPr algn="ctr"/>
                      <a:r>
                        <a:rPr sz="1300" b="0">
                          <a:solidFill>
                            <a:srgbClr val="D03B3B"/>
                          </a:solidFill>
                          <a:latin typeface="Calibri"/>
                        </a:rPr>
                        <a:t>18%</a:t>
                      </a:r>
                    </a:p>
                  </a:txBody>
                  <a:tcPr marL="91440" marR="91440" marT="27432" marB="27432" anchor="ctr">
                    <a:solidFill>
                      <a:srgbClr val="F3F5F8"/>
                    </a:solidFill>
                  </a:tcPr>
                </a:tc>
                <a:tc>
                  <a:txBody>
                    <a:bodyPr wrap="square"/>
                    <a:lstStyle/>
                    <a:p>
                      <a:pPr algn="ctr"/>
                      <a:r>
                        <a:rPr sz="1300" b="0">
                          <a:solidFill>
                            <a:srgbClr val="D03B3B"/>
                          </a:solidFill>
                          <a:latin typeface="Calibri"/>
                        </a:rPr>
                        <a:t>34%</a:t>
                      </a:r>
                    </a:p>
                  </a:txBody>
                  <a:tcPr marL="91440" marR="91440" marT="27432" marB="27432" anchor="ctr">
                    <a:solidFill>
                      <a:srgbClr val="F3F5F8"/>
                    </a:solidFill>
                  </a:tcPr>
                </a:tc>
                <a:tc>
                  <a:txBody>
                    <a:bodyPr wrap="square"/>
                    <a:lstStyle/>
                    <a:p>
                      <a:pPr algn="ctr"/>
                      <a:r>
                        <a:rPr sz="1300" b="0">
                          <a:solidFill>
                            <a:srgbClr val="D03B3B"/>
                          </a:solidFill>
                          <a:latin typeface="Calibri"/>
                        </a:rPr>
                        <a:t>34%</a:t>
                      </a:r>
                    </a:p>
                  </a:txBody>
                  <a:tcPr marL="91440" marR="91440" marT="27432" marB="27432" anchor="ctr">
                    <a:solidFill>
                      <a:srgbClr val="F3F5F8"/>
                    </a:solidFill>
                  </a:tcPr>
                </a:tc>
              </a:tr>
              <a:tr h="457200">
                <a:tc>
                  <a:txBody>
                    <a:bodyPr wrap="square"/>
                    <a:lstStyle/>
                    <a:p>
                      <a:pPr algn="ctr"/>
                      <a:r>
                        <a:rPr sz="1300" b="0">
                          <a:solidFill>
                            <a:srgbClr val="16202E"/>
                          </a:solidFill>
                          <a:latin typeface="Calibri"/>
                        </a:rPr>
                        <a:t>0.60</a:t>
                      </a:r>
                    </a:p>
                  </a:txBody>
                  <a:tcPr marL="91440" marR="91440" marT="27432" marB="27432" anchor="ctr">
                    <a:solidFill>
                      <a:srgbClr val="FFFFFF"/>
                    </a:solidFill>
                  </a:tcPr>
                </a:tc>
                <a:tc>
                  <a:txBody>
                    <a:bodyPr wrap="square"/>
                    <a:lstStyle/>
                    <a:p>
                      <a:pPr algn="ctr"/>
                      <a:r>
                        <a:rPr sz="1300" b="0">
                          <a:solidFill>
                            <a:srgbClr val="D03B3B"/>
                          </a:solidFill>
                          <a:latin typeface="Calibri"/>
                        </a:rPr>
                        <a:t>29%</a:t>
                      </a:r>
                    </a:p>
                  </a:txBody>
                  <a:tcPr marL="91440" marR="91440" marT="27432" marB="27432" anchor="ctr">
                    <a:solidFill>
                      <a:srgbClr val="FFFFFF"/>
                    </a:solidFill>
                  </a:tcPr>
                </a:tc>
                <a:tc>
                  <a:txBody>
                    <a:bodyPr wrap="square"/>
                    <a:lstStyle/>
                    <a:p>
                      <a:pPr algn="ctr"/>
                      <a:r>
                        <a:rPr sz="1300" b="0">
                          <a:solidFill>
                            <a:srgbClr val="D03B3B"/>
                          </a:solidFill>
                          <a:latin typeface="Calibri"/>
                        </a:rPr>
                        <a:t>23%</a:t>
                      </a:r>
                    </a:p>
                  </a:txBody>
                  <a:tcPr marL="91440" marR="91440" marT="27432" marB="27432" anchor="ctr">
                    <a:solidFill>
                      <a:srgbClr val="FFFFFF"/>
                    </a:solidFill>
                  </a:tcPr>
                </a:tc>
                <a:tc>
                  <a:txBody>
                    <a:bodyPr wrap="square"/>
                    <a:lstStyle/>
                    <a:p>
                      <a:pPr algn="ctr"/>
                      <a:r>
                        <a:rPr sz="1300" b="0">
                          <a:solidFill>
                            <a:srgbClr val="D03B3B"/>
                          </a:solidFill>
                          <a:latin typeface="Calibri"/>
                        </a:rPr>
                        <a:t>20%</a:t>
                      </a:r>
                    </a:p>
                  </a:txBody>
                  <a:tcPr marL="91440" marR="91440" marT="27432" marB="27432" anchor="ctr">
                    <a:solidFill>
                      <a:srgbClr val="FFFFFF"/>
                    </a:solidFill>
                  </a:tcPr>
                </a:tc>
              </a:tr>
            </a:tbl>
          </a:graphicData>
        </a:graphic>
      </p:graphicFrame>
      <p:sp>
        <p:nvSpPr>
          <p:cNvPr id="12" name="TextBox 11"/>
          <p:cNvSpPr txBox="1"/>
          <p:nvPr/>
        </p:nvSpPr>
        <p:spPr>
          <a:xfrm>
            <a:off x="7818120" y="4206240"/>
            <a:ext cx="3822191" cy="73152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Low threshold: crowd and laughs/coughs get flagged. High threshold: speech over music gets missed.</a:t>
            </a:r>
          </a:p>
        </p:txBody>
      </p:sp>
      <p:sp>
        <p:nvSpPr>
          <p:cNvPr id="13" name="Rounded Rectangle 12"/>
          <p:cNvSpPr/>
          <p:nvPr/>
        </p:nvSpPr>
        <p:spPr>
          <a:xfrm>
            <a:off x="7818120" y="5029200"/>
            <a:ext cx="3822191" cy="1143000"/>
          </a:xfrm>
          <a:prstGeom prst="roundRect">
            <a:avLst>
              <a:gd name="adj" fmla="val 6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TextBox 13"/>
          <p:cNvSpPr txBox="1"/>
          <p:nvPr/>
        </p:nvSpPr>
        <p:spPr>
          <a:xfrm>
            <a:off x="8001000" y="5074920"/>
            <a:ext cx="3456432" cy="1051560"/>
          </a:xfrm>
          <a:prstGeom prst="rect">
            <a:avLst/>
          </a:prstGeom>
          <a:noFill/>
        </p:spPr>
        <p:txBody>
          <a:bodyPr wrap="square" lIns="0" rIns="0" tIns="0" bIns="0" anchor="ctr">
            <a:spAutoFit/>
          </a:bodyPr>
          <a:lstStyle/>
          <a:p>
            <a:pPr algn="l">
              <a:spcAft>
                <a:spcPts val="0"/>
              </a:spcAft>
            </a:pPr>
            <a:r>
              <a:rPr sz="1300" b="1" i="0">
                <a:solidFill>
                  <a:srgbClr val="0A5C5B"/>
                </a:solidFill>
                <a:latin typeface="Calibri"/>
              </a:rPr>
              <a:t>Fix (E4, E5): </a:t>
            </a:r>
            <a:r>
              <a:rPr sz="1300" b="0" i="0">
                <a:solidFill>
                  <a:srgbClr val="0A5C5B"/>
                </a:solidFill>
                <a:latin typeface="Calibri"/>
              </a:rPr>
              <a:t>add crowd, laughs/coughs and instruments as hard negatives; add music-masked speech as positives.</a:t>
            </a:r>
          </a:p>
        </p:txBody>
      </p:sp>
      <p:sp>
        <p:nvSpPr>
          <p:cNvPr id="15" name="TextBox 14"/>
          <p:cNvSpPr txBox="1"/>
          <p:nvPr/>
        </p:nvSpPr>
        <p:spPr>
          <a:xfrm>
            <a:off x="548640" y="6419088"/>
            <a:ext cx="10241280" cy="274320"/>
          </a:xfrm>
          <a:prstGeom prst="rect">
            <a:avLst/>
          </a:prstGeom>
          <a:noFill/>
        </p:spPr>
        <p:txBody>
          <a:bodyPr wrap="square" lIns="0" rIns="0" tIns="0" bIns="0" anchor="t">
            <a:spAutoFit/>
          </a:bodyPr>
          <a:lstStyle/>
          <a:p>
            <a:pPr algn="l">
              <a:spcAft>
                <a:spcPts val="0"/>
              </a:spcAft>
            </a:pPr>
            <a:r>
              <a:rPr sz="1000" b="0" i="0">
                <a:solidFill>
                  <a:srgbClr val="8A93A0"/>
                </a:solidFill>
                <a:latin typeface="Calibri"/>
              </a:rPr>
              <a:t>Simulation: 8 files per group. Each slice is computed on frames of that audio type.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45846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Findings and plan</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Optimize cheap and safe first; keep only changes that pass the gate</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14 / 15</a:t>
            </a:r>
          </a:p>
        </p:txBody>
      </p:sp>
      <p:sp>
        <p:nvSpPr>
          <p:cNvPr id="5" name="TextBox 4"/>
          <p:cNvSpPr txBox="1"/>
          <p:nvPr/>
        </p:nvSpPr>
        <p:spPr>
          <a:xfrm>
            <a:off x="548640" y="1691640"/>
            <a:ext cx="11091672"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Write every finding with the same template</a:t>
            </a:r>
          </a:p>
        </p:txBody>
      </p:sp>
      <p:sp>
        <p:nvSpPr>
          <p:cNvPr id="6" name="Pentagon 5"/>
          <p:cNvSpPr/>
          <p:nvPr/>
        </p:nvSpPr>
        <p:spPr>
          <a:xfrm>
            <a:off x="548640" y="2148840"/>
            <a:ext cx="2788920" cy="960120"/>
          </a:xfrm>
          <a:prstGeom prst="homePlate">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822959" y="2194560"/>
            <a:ext cx="2148840" cy="365760"/>
          </a:xfrm>
          <a:prstGeom prst="rect">
            <a:avLst/>
          </a:prstGeom>
          <a:noFill/>
        </p:spPr>
        <p:txBody>
          <a:bodyPr wrap="square" lIns="0" rIns="0" tIns="0" bIns="0" anchor="t">
            <a:spAutoFit/>
          </a:bodyPr>
          <a:lstStyle/>
          <a:p>
            <a:pPr algn="l">
              <a:spcAft>
                <a:spcPts val="0"/>
              </a:spcAft>
            </a:pPr>
            <a:r>
              <a:rPr sz="1500" b="1" i="0">
                <a:solidFill>
                  <a:srgbClr val="0A5C5B"/>
                </a:solidFill>
                <a:latin typeface="Calibri"/>
              </a:rPr>
              <a:t>Observation</a:t>
            </a:r>
          </a:p>
        </p:txBody>
      </p:sp>
      <p:sp>
        <p:nvSpPr>
          <p:cNvPr id="8" name="TextBox 7"/>
          <p:cNvSpPr txBox="1"/>
          <p:nvPr/>
        </p:nvSpPr>
        <p:spPr>
          <a:xfrm>
            <a:off x="822959" y="2542032"/>
            <a:ext cx="2148840" cy="502920"/>
          </a:xfrm>
          <a:prstGeom prst="rect">
            <a:avLst/>
          </a:prstGeom>
          <a:noFill/>
        </p:spPr>
        <p:txBody>
          <a:bodyPr wrap="square" lIns="0" rIns="0" tIns="0" bIns="0" anchor="t">
            <a:spAutoFit/>
          </a:bodyPr>
          <a:lstStyle/>
          <a:p>
            <a:pPr algn="l">
              <a:spcAft>
                <a:spcPts val="0"/>
              </a:spcAft>
            </a:pPr>
            <a:r>
              <a:rPr sz="1200" b="0" i="0">
                <a:solidFill>
                  <a:srgbClr val="0A5C5B"/>
                </a:solidFill>
                <a:latin typeface="Calibri"/>
              </a:rPr>
              <a:t>High FA</a:t>
            </a:r>
          </a:p>
        </p:txBody>
      </p:sp>
      <p:sp>
        <p:nvSpPr>
          <p:cNvPr id="9" name="Chevron 8"/>
          <p:cNvSpPr/>
          <p:nvPr/>
        </p:nvSpPr>
        <p:spPr>
          <a:xfrm>
            <a:off x="3376879" y="2148840"/>
            <a:ext cx="2788920" cy="960120"/>
          </a:xfrm>
          <a:prstGeom prst="chevron">
            <a:avLst/>
          </a:prstGeom>
          <a:solidFill>
            <a:srgbClr val="B9E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TextBox 9"/>
          <p:cNvSpPr txBox="1"/>
          <p:nvPr/>
        </p:nvSpPr>
        <p:spPr>
          <a:xfrm>
            <a:off x="3943807" y="2194560"/>
            <a:ext cx="1856231" cy="365760"/>
          </a:xfrm>
          <a:prstGeom prst="rect">
            <a:avLst/>
          </a:prstGeom>
          <a:noFill/>
        </p:spPr>
        <p:txBody>
          <a:bodyPr wrap="square" lIns="0" rIns="0" tIns="0" bIns="0" anchor="t">
            <a:spAutoFit/>
          </a:bodyPr>
          <a:lstStyle/>
          <a:p>
            <a:pPr algn="l">
              <a:spcAft>
                <a:spcPts val="0"/>
              </a:spcAft>
            </a:pPr>
            <a:r>
              <a:rPr sz="1500" b="1" i="0">
                <a:solidFill>
                  <a:srgbClr val="0A5C5B"/>
                </a:solidFill>
                <a:latin typeface="Calibri"/>
              </a:rPr>
              <a:t>Cause</a:t>
            </a:r>
          </a:p>
        </p:txBody>
      </p:sp>
      <p:sp>
        <p:nvSpPr>
          <p:cNvPr id="11" name="TextBox 10"/>
          <p:cNvSpPr txBox="1"/>
          <p:nvPr/>
        </p:nvSpPr>
        <p:spPr>
          <a:xfrm>
            <a:off x="3943807" y="2542032"/>
            <a:ext cx="1856231" cy="502920"/>
          </a:xfrm>
          <a:prstGeom prst="rect">
            <a:avLst/>
          </a:prstGeom>
          <a:noFill/>
        </p:spPr>
        <p:txBody>
          <a:bodyPr wrap="square" lIns="0" rIns="0" tIns="0" bIns="0" anchor="t">
            <a:spAutoFit/>
          </a:bodyPr>
          <a:lstStyle/>
          <a:p>
            <a:pPr algn="l">
              <a:spcAft>
                <a:spcPts val="0"/>
              </a:spcAft>
            </a:pPr>
            <a:r>
              <a:rPr sz="1200" b="0" i="0">
                <a:solidFill>
                  <a:srgbClr val="0A5C5B"/>
                </a:solidFill>
                <a:latin typeface="Calibri"/>
              </a:rPr>
              <a:t>39% of FA at boundaries</a:t>
            </a:r>
          </a:p>
        </p:txBody>
      </p:sp>
      <p:sp>
        <p:nvSpPr>
          <p:cNvPr id="12" name="Chevron 11"/>
          <p:cNvSpPr/>
          <p:nvPr/>
        </p:nvSpPr>
        <p:spPr>
          <a:xfrm>
            <a:off x="6205118" y="2148840"/>
            <a:ext cx="2788920" cy="960120"/>
          </a:xfrm>
          <a:prstGeom prst="chevron">
            <a:avLst/>
          </a:prstGeom>
          <a:solidFill>
            <a:srgbClr val="5FB3B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TextBox 12"/>
          <p:cNvSpPr txBox="1"/>
          <p:nvPr/>
        </p:nvSpPr>
        <p:spPr>
          <a:xfrm>
            <a:off x="6772046" y="2194560"/>
            <a:ext cx="1856231" cy="365760"/>
          </a:xfrm>
          <a:prstGeom prst="rect">
            <a:avLst/>
          </a:prstGeom>
          <a:noFill/>
        </p:spPr>
        <p:txBody>
          <a:bodyPr wrap="square" lIns="0" rIns="0" tIns="0" bIns="0" anchor="t">
            <a:spAutoFit/>
          </a:bodyPr>
          <a:lstStyle/>
          <a:p>
            <a:pPr algn="l">
              <a:spcAft>
                <a:spcPts val="0"/>
              </a:spcAft>
            </a:pPr>
            <a:r>
              <a:rPr sz="1500" b="1" i="0">
                <a:solidFill>
                  <a:srgbClr val="FFFFFF"/>
                </a:solidFill>
                <a:latin typeface="Calibri"/>
              </a:rPr>
              <a:t>Evidence</a:t>
            </a:r>
          </a:p>
        </p:txBody>
      </p:sp>
      <p:sp>
        <p:nvSpPr>
          <p:cNvPr id="14" name="TextBox 13"/>
          <p:cNvSpPr txBox="1"/>
          <p:nvPr/>
        </p:nvSpPr>
        <p:spPr>
          <a:xfrm>
            <a:off x="6772046" y="2542032"/>
            <a:ext cx="1856231" cy="502920"/>
          </a:xfrm>
          <a:prstGeom prst="rect">
            <a:avLst/>
          </a:prstGeom>
          <a:noFill/>
        </p:spPr>
        <p:txBody>
          <a:bodyPr wrap="square" lIns="0" rIns="0" tIns="0" bIns="0" anchor="t">
            <a:spAutoFit/>
          </a:bodyPr>
          <a:lstStyle/>
          <a:p>
            <a:pPr algn="l">
              <a:spcAft>
                <a:spcPts val="0"/>
              </a:spcAft>
            </a:pPr>
            <a:r>
              <a:rPr sz="1200" b="0" i="0">
                <a:solidFill>
                  <a:srgbClr val="FFFFFF"/>
                </a:solidFill>
                <a:latin typeface="Calibri"/>
              </a:rPr>
              <a:t>Excl. boundary: FA 12.4% → 7.6%</a:t>
            </a:r>
          </a:p>
        </p:txBody>
      </p:sp>
      <p:sp>
        <p:nvSpPr>
          <p:cNvPr id="15" name="Chevron 14"/>
          <p:cNvSpPr/>
          <p:nvPr/>
        </p:nvSpPr>
        <p:spPr>
          <a:xfrm>
            <a:off x="9033357" y="2148840"/>
            <a:ext cx="2788920" cy="960120"/>
          </a:xfrm>
          <a:prstGeom prst="chevron">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9600285" y="2194560"/>
            <a:ext cx="1856231" cy="365760"/>
          </a:xfrm>
          <a:prstGeom prst="rect">
            <a:avLst/>
          </a:prstGeom>
          <a:noFill/>
        </p:spPr>
        <p:txBody>
          <a:bodyPr wrap="square" lIns="0" rIns="0" tIns="0" bIns="0" anchor="t">
            <a:spAutoFit/>
          </a:bodyPr>
          <a:lstStyle/>
          <a:p>
            <a:pPr algn="l">
              <a:spcAft>
                <a:spcPts val="0"/>
              </a:spcAft>
            </a:pPr>
            <a:r>
              <a:rPr sz="1500" b="1" i="0">
                <a:solidFill>
                  <a:srgbClr val="FFFFFF"/>
                </a:solidFill>
                <a:latin typeface="Calibri"/>
              </a:rPr>
              <a:t>Action</a:t>
            </a:r>
          </a:p>
        </p:txBody>
      </p:sp>
      <p:sp>
        <p:nvSpPr>
          <p:cNvPr id="17" name="TextBox 16"/>
          <p:cNvSpPr txBox="1"/>
          <p:nvPr/>
        </p:nvSpPr>
        <p:spPr>
          <a:xfrm>
            <a:off x="9600285" y="2542032"/>
            <a:ext cx="1856231" cy="502920"/>
          </a:xfrm>
          <a:prstGeom prst="rect">
            <a:avLst/>
          </a:prstGeom>
          <a:noFill/>
        </p:spPr>
        <p:txBody>
          <a:bodyPr wrap="square" lIns="0" rIns="0" tIns="0" bIns="0" anchor="t">
            <a:spAutoFit/>
          </a:bodyPr>
          <a:lstStyle/>
          <a:p>
            <a:pPr algn="l">
              <a:spcAft>
                <a:spcPts val="0"/>
              </a:spcAft>
            </a:pPr>
            <a:r>
              <a:rPr sz="1200" b="0" i="0">
                <a:solidFill>
                  <a:srgbClr val="FFFFFF"/>
                </a:solidFill>
                <a:latin typeface="Calibri"/>
              </a:rPr>
              <a:t>Prioritize E1, E3</a:t>
            </a:r>
          </a:p>
        </p:txBody>
      </p:sp>
      <p:sp>
        <p:nvSpPr>
          <p:cNvPr id="18" name="TextBox 17"/>
          <p:cNvSpPr txBox="1"/>
          <p:nvPr/>
        </p:nvSpPr>
        <p:spPr>
          <a:xfrm>
            <a:off x="548640" y="3182112"/>
            <a:ext cx="11091672" cy="274320"/>
          </a:xfrm>
          <a:prstGeom prst="rect">
            <a:avLst/>
          </a:prstGeom>
          <a:noFill/>
        </p:spPr>
        <p:txBody>
          <a:bodyPr wrap="square" lIns="0" rIns="0" tIns="0" bIns="0" anchor="t">
            <a:spAutoFit/>
          </a:bodyPr>
          <a:lstStyle/>
          <a:p>
            <a:pPr algn="l">
              <a:spcAft>
                <a:spcPts val="0"/>
              </a:spcAft>
            </a:pPr>
            <a:r>
              <a:rPr sz="1100" b="0" i="0">
                <a:solidFill>
                  <a:srgbClr val="8A93A0"/>
                </a:solidFill>
                <a:latin typeface="Calibri"/>
              </a:rPr>
              <a:t>Example taken from the simulation; every piece of evidence needs a 95% CI.</a:t>
            </a:r>
          </a:p>
        </p:txBody>
      </p:sp>
      <p:sp>
        <p:nvSpPr>
          <p:cNvPr id="19" name="Rounded Rectangle 18"/>
          <p:cNvSpPr/>
          <p:nvPr/>
        </p:nvSpPr>
        <p:spPr>
          <a:xfrm>
            <a:off x="548640" y="3611880"/>
            <a:ext cx="2331720" cy="210312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TextBox 19"/>
          <p:cNvSpPr txBox="1"/>
          <p:nvPr/>
        </p:nvSpPr>
        <p:spPr>
          <a:xfrm>
            <a:off x="731520" y="3703320"/>
            <a:ext cx="1965960"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Quick</a:t>
            </a:r>
          </a:p>
        </p:txBody>
      </p:sp>
      <p:sp>
        <p:nvSpPr>
          <p:cNvPr id="21" name="TextBox 20"/>
          <p:cNvSpPr txBox="1"/>
          <p:nvPr/>
        </p:nvSpPr>
        <p:spPr>
          <a:xfrm>
            <a:off x="731520" y="4069080"/>
            <a:ext cx="1965960" cy="274320"/>
          </a:xfrm>
          <a:prstGeom prst="rect">
            <a:avLst/>
          </a:prstGeom>
          <a:noFill/>
        </p:spPr>
        <p:txBody>
          <a:bodyPr wrap="square" lIns="0" rIns="0" tIns="0" bIns="0" anchor="t">
            <a:spAutoFit/>
          </a:bodyPr>
          <a:lstStyle/>
          <a:p>
            <a:pPr algn="l">
              <a:spcAft>
                <a:spcPts val="0"/>
              </a:spcAft>
            </a:pPr>
            <a:r>
              <a:rPr sz="1200" b="1" i="0">
                <a:solidFill>
                  <a:srgbClr val="0A5C5B"/>
                </a:solidFill>
                <a:latin typeface="Calibri"/>
              </a:rPr>
              <a:t>A few days</a:t>
            </a:r>
          </a:p>
        </p:txBody>
      </p:sp>
      <p:sp>
        <p:nvSpPr>
          <p:cNvPr id="22" name="TextBox 21"/>
          <p:cNvSpPr txBox="1"/>
          <p:nvPr/>
        </p:nvSpPr>
        <p:spPr>
          <a:xfrm>
            <a:off x="731520" y="4434840"/>
            <a:ext cx="2011679" cy="1645920"/>
          </a:xfrm>
          <a:prstGeom prst="rect">
            <a:avLst/>
          </a:prstGeom>
          <a:noFill/>
        </p:spPr>
        <p:txBody>
          <a:bodyPr wrap="square" lIns="0" rIns="0" tIns="0" bIns="0" anchor="t">
            <a:spAutoFit/>
          </a:bodyPr>
          <a:lstStyle/>
          <a:p>
            <a:pPr algn="l" marL="201168" indent="-201168">
              <a:spcAft>
                <a:spcPts val="500"/>
              </a:spcAft>
              <a:buFont typeface="Arial"/>
              <a:buChar char="•"/>
            </a:pPr>
            <a:r>
              <a:rPr sz="1300" b="0" i="0">
                <a:solidFill>
                  <a:srgbClr val="16202E"/>
                </a:solidFill>
                <a:latin typeface="Calibri"/>
              </a:rPr>
              <a:t>Boundary-separated evaluation</a:t>
            </a:r>
          </a:p>
          <a:p>
            <a:pPr algn="l" marL="201168" indent="-201168">
              <a:spcAft>
                <a:spcPts val="500"/>
              </a:spcAft>
              <a:buFont typeface="Arial"/>
              <a:buChar char="•"/>
            </a:pPr>
            <a:r>
              <a:rPr sz="1300" b="0" i="0">
                <a:solidFill>
                  <a:srgbClr val="16202E"/>
                </a:solidFill>
                <a:latin typeface="Calibri"/>
              </a:rPr>
              <a:t>E1: tune post-processing on dev</a:t>
            </a:r>
          </a:p>
        </p:txBody>
      </p:sp>
      <p:sp>
        <p:nvSpPr>
          <p:cNvPr id="23" name="Rounded Rectangle 22"/>
          <p:cNvSpPr/>
          <p:nvPr/>
        </p:nvSpPr>
        <p:spPr>
          <a:xfrm>
            <a:off x="3035808" y="3611880"/>
            <a:ext cx="2331720" cy="210312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TextBox 23"/>
          <p:cNvSpPr txBox="1"/>
          <p:nvPr/>
        </p:nvSpPr>
        <p:spPr>
          <a:xfrm>
            <a:off x="3218688" y="3703320"/>
            <a:ext cx="1965960"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Medium</a:t>
            </a:r>
          </a:p>
        </p:txBody>
      </p:sp>
      <p:sp>
        <p:nvSpPr>
          <p:cNvPr id="25" name="TextBox 24"/>
          <p:cNvSpPr txBox="1"/>
          <p:nvPr/>
        </p:nvSpPr>
        <p:spPr>
          <a:xfrm>
            <a:off x="3218688" y="4069080"/>
            <a:ext cx="1965960" cy="274320"/>
          </a:xfrm>
          <a:prstGeom prst="rect">
            <a:avLst/>
          </a:prstGeom>
          <a:noFill/>
        </p:spPr>
        <p:txBody>
          <a:bodyPr wrap="square" lIns="0" rIns="0" tIns="0" bIns="0" anchor="t">
            <a:spAutoFit/>
          </a:bodyPr>
          <a:lstStyle/>
          <a:p>
            <a:pPr algn="l">
              <a:spcAft>
                <a:spcPts val="0"/>
              </a:spcAft>
            </a:pPr>
            <a:r>
              <a:rPr sz="1200" b="1" i="0">
                <a:solidFill>
                  <a:srgbClr val="0A5C5B"/>
                </a:solidFill>
                <a:latin typeface="Calibri"/>
              </a:rPr>
              <a:t>1–2 weeks</a:t>
            </a:r>
          </a:p>
        </p:txBody>
      </p:sp>
      <p:sp>
        <p:nvSpPr>
          <p:cNvPr id="26" name="TextBox 25"/>
          <p:cNvSpPr txBox="1"/>
          <p:nvPr/>
        </p:nvSpPr>
        <p:spPr>
          <a:xfrm>
            <a:off x="3218688" y="4434840"/>
            <a:ext cx="2011679" cy="1645920"/>
          </a:xfrm>
          <a:prstGeom prst="rect">
            <a:avLst/>
          </a:prstGeom>
          <a:noFill/>
        </p:spPr>
        <p:txBody>
          <a:bodyPr wrap="square" lIns="0" rIns="0" tIns="0" bIns="0" anchor="t">
            <a:spAutoFit/>
          </a:bodyPr>
          <a:lstStyle/>
          <a:p>
            <a:pPr algn="l" marL="201168" indent="-201168">
              <a:spcAft>
                <a:spcPts val="500"/>
              </a:spcAft>
              <a:buFont typeface="Arial"/>
              <a:buChar char="•"/>
            </a:pPr>
            <a:r>
              <a:rPr sz="1300" b="0" i="0">
                <a:solidFill>
                  <a:srgbClr val="16202E"/>
                </a:solidFill>
                <a:latin typeface="Calibri"/>
              </a:rPr>
              <a:t>E2: temporal layer</a:t>
            </a:r>
          </a:p>
          <a:p>
            <a:pPr algn="l" marL="201168" indent="-201168">
              <a:spcAft>
                <a:spcPts val="500"/>
              </a:spcAft>
              <a:buFont typeface="Arial"/>
              <a:buChar char="•"/>
            </a:pPr>
            <a:r>
              <a:rPr sz="1300" b="0" i="0">
                <a:solidFill>
                  <a:srgbClr val="16202E"/>
                </a:solidFill>
                <a:latin typeface="Calibri"/>
              </a:rPr>
              <a:t>E4: hard-slice data</a:t>
            </a:r>
          </a:p>
        </p:txBody>
      </p:sp>
      <p:sp>
        <p:nvSpPr>
          <p:cNvPr id="27" name="Rounded Rectangle 26"/>
          <p:cNvSpPr/>
          <p:nvPr/>
        </p:nvSpPr>
        <p:spPr>
          <a:xfrm>
            <a:off x="5522975" y="3611880"/>
            <a:ext cx="2331720" cy="210312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TextBox 27"/>
          <p:cNvSpPr txBox="1"/>
          <p:nvPr/>
        </p:nvSpPr>
        <p:spPr>
          <a:xfrm>
            <a:off x="5705855" y="3703320"/>
            <a:ext cx="1965960"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Large</a:t>
            </a:r>
          </a:p>
        </p:txBody>
      </p:sp>
      <p:sp>
        <p:nvSpPr>
          <p:cNvPr id="29" name="TextBox 28"/>
          <p:cNvSpPr txBox="1"/>
          <p:nvPr/>
        </p:nvSpPr>
        <p:spPr>
          <a:xfrm>
            <a:off x="5705855" y="4069080"/>
            <a:ext cx="1965960" cy="274320"/>
          </a:xfrm>
          <a:prstGeom prst="rect">
            <a:avLst/>
          </a:prstGeom>
          <a:noFill/>
        </p:spPr>
        <p:txBody>
          <a:bodyPr wrap="square" lIns="0" rIns="0" tIns="0" bIns="0" anchor="t">
            <a:spAutoFit/>
          </a:bodyPr>
          <a:lstStyle/>
          <a:p>
            <a:pPr algn="l">
              <a:spcAft>
                <a:spcPts val="0"/>
              </a:spcAft>
            </a:pPr>
            <a:r>
              <a:rPr sz="1200" b="1" i="0">
                <a:solidFill>
                  <a:srgbClr val="0A5C5B"/>
                </a:solidFill>
                <a:latin typeface="Calibri"/>
              </a:rPr>
              <a:t>2–4 weeks</a:t>
            </a:r>
          </a:p>
        </p:txBody>
      </p:sp>
      <p:sp>
        <p:nvSpPr>
          <p:cNvPr id="30" name="TextBox 29"/>
          <p:cNvSpPr txBox="1"/>
          <p:nvPr/>
        </p:nvSpPr>
        <p:spPr>
          <a:xfrm>
            <a:off x="5705855" y="4434840"/>
            <a:ext cx="2011679" cy="1645920"/>
          </a:xfrm>
          <a:prstGeom prst="rect">
            <a:avLst/>
          </a:prstGeom>
          <a:noFill/>
        </p:spPr>
        <p:txBody>
          <a:bodyPr wrap="square" lIns="0" rIns="0" tIns="0" bIns="0" anchor="t">
            <a:spAutoFit/>
          </a:bodyPr>
          <a:lstStyle/>
          <a:p>
            <a:pPr algn="l" marL="201168" indent="-201168">
              <a:spcAft>
                <a:spcPts val="500"/>
              </a:spcAft>
              <a:buFont typeface="Arial"/>
              <a:buChar char="•"/>
            </a:pPr>
            <a:r>
              <a:rPr sz="1300" b="0" i="0">
                <a:solidFill>
                  <a:srgbClr val="16202E"/>
                </a:solidFill>
                <a:latin typeface="Calibri"/>
              </a:rPr>
              <a:t>E3: 10 ms branch</a:t>
            </a:r>
          </a:p>
          <a:p>
            <a:pPr algn="l" marL="201168" indent="-201168">
              <a:spcAft>
                <a:spcPts val="500"/>
              </a:spcAft>
              <a:buFont typeface="Arial"/>
              <a:buChar char="•"/>
            </a:pPr>
            <a:r>
              <a:rPr sz="1300" b="0" i="0">
                <a:solidFill>
                  <a:srgbClr val="16202E"/>
                </a:solidFill>
                <a:latin typeface="Calibri"/>
              </a:rPr>
              <a:t>E5: fine-tuning, Singing logits</a:t>
            </a:r>
          </a:p>
          <a:p>
            <a:pPr algn="l" marL="201168" indent="-201168">
              <a:spcAft>
                <a:spcPts val="500"/>
              </a:spcAft>
              <a:buFont typeface="Arial"/>
              <a:buChar char="•"/>
            </a:pPr>
            <a:r>
              <a:rPr sz="1300" b="0" i="0">
                <a:solidFill>
                  <a:srgbClr val="16202E"/>
                </a:solidFill>
                <a:latin typeface="Calibri"/>
              </a:rPr>
              <a:t>E6: lightweight student</a:t>
            </a:r>
          </a:p>
        </p:txBody>
      </p:sp>
      <p:sp>
        <p:nvSpPr>
          <p:cNvPr id="31" name="Rounded Rectangle 30"/>
          <p:cNvSpPr/>
          <p:nvPr/>
        </p:nvSpPr>
        <p:spPr>
          <a:xfrm>
            <a:off x="8010144" y="3611880"/>
            <a:ext cx="3630168" cy="2103120"/>
          </a:xfrm>
          <a:prstGeom prst="roundRect">
            <a:avLst>
              <a:gd name="adj" fmla="val 6000"/>
            </a:avLst>
          </a:prstGeom>
          <a:solidFill>
            <a:srgbClr val="162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2" name="Oval 31"/>
          <p:cNvSpPr/>
          <p:nvPr/>
        </p:nvSpPr>
        <p:spPr>
          <a:xfrm>
            <a:off x="8238744" y="3794760"/>
            <a:ext cx="502920" cy="502920"/>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3" name="Picture 32" descr="flag_w.png"/>
          <p:cNvPicPr>
            <a:picLocks noChangeAspect="1"/>
          </p:cNvPicPr>
          <p:nvPr/>
        </p:nvPicPr>
        <p:blipFill>
          <a:blip r:embed="rId2"/>
          <a:stretch>
            <a:fillRect/>
          </a:stretch>
        </p:blipFill>
        <p:spPr>
          <a:xfrm>
            <a:off x="8349386" y="3905402"/>
            <a:ext cx="281635" cy="281635"/>
          </a:xfrm>
          <a:prstGeom prst="rect">
            <a:avLst/>
          </a:prstGeom>
        </p:spPr>
      </p:pic>
      <p:sp>
        <p:nvSpPr>
          <p:cNvPr id="34" name="TextBox 33"/>
          <p:cNvSpPr txBox="1"/>
          <p:nvPr/>
        </p:nvSpPr>
        <p:spPr>
          <a:xfrm>
            <a:off x="8878824" y="3840480"/>
            <a:ext cx="2624328" cy="411480"/>
          </a:xfrm>
          <a:prstGeom prst="rect">
            <a:avLst/>
          </a:prstGeom>
          <a:noFill/>
        </p:spPr>
        <p:txBody>
          <a:bodyPr wrap="square" lIns="0" rIns="0" tIns="0" bIns="0" anchor="t">
            <a:spAutoFit/>
          </a:bodyPr>
          <a:lstStyle/>
          <a:p>
            <a:pPr algn="l">
              <a:spcAft>
                <a:spcPts val="0"/>
              </a:spcAft>
            </a:pPr>
            <a:r>
              <a:rPr sz="1700" b="1" i="0">
                <a:solidFill>
                  <a:srgbClr val="FFFFFF"/>
                </a:solidFill>
                <a:latin typeface="Cambria"/>
              </a:rPr>
              <a:t>Acceptance gate</a:t>
            </a:r>
          </a:p>
        </p:txBody>
      </p:sp>
      <p:sp>
        <p:nvSpPr>
          <p:cNvPr id="35" name="TextBox 34"/>
          <p:cNvSpPr txBox="1"/>
          <p:nvPr/>
        </p:nvSpPr>
        <p:spPr>
          <a:xfrm>
            <a:off x="8238744" y="4480560"/>
            <a:ext cx="3218688" cy="1645920"/>
          </a:xfrm>
          <a:prstGeom prst="rect">
            <a:avLst/>
          </a:prstGeom>
          <a:noFill/>
        </p:spPr>
        <p:txBody>
          <a:bodyPr wrap="square" lIns="0" rIns="0" tIns="0" bIns="0" anchor="t">
            <a:spAutoFit/>
          </a:bodyPr>
          <a:lstStyle/>
          <a:p>
            <a:pPr algn="l" marL="201168" indent="-201168">
              <a:spcAft>
                <a:spcPts val="600"/>
              </a:spcAft>
              <a:buFont typeface="Arial"/>
              <a:buChar char="•"/>
            </a:pPr>
            <a:r>
              <a:rPr sz="1300" b="0" i="0">
                <a:solidFill>
                  <a:srgbClr val="C9D3E0"/>
                </a:solidFill>
                <a:latin typeface="Calibri"/>
              </a:rPr>
              <a:t>Scorecard improves beyond the CI</a:t>
            </a:r>
          </a:p>
          <a:p>
            <a:pPr algn="l" marL="201168" indent="-201168">
              <a:spcAft>
                <a:spcPts val="600"/>
              </a:spcAft>
              <a:buFont typeface="Arial"/>
              <a:buChar char="•"/>
            </a:pPr>
            <a:r>
              <a:rPr sz="1300" b="0" i="0">
                <a:solidFill>
                  <a:srgbClr val="C9D3E0"/>
                </a:solidFill>
                <a:latin typeface="Calibri"/>
              </a:rPr>
              <a:t>No slice gets worse</a:t>
            </a:r>
          </a:p>
          <a:p>
            <a:pPr algn="l" marL="201168" indent="-201168">
              <a:spcAft>
                <a:spcPts val="600"/>
              </a:spcAft>
              <a:buFont typeface="Arial"/>
              <a:buChar char="•"/>
            </a:pPr>
            <a:r>
              <a:rPr sz="1300" b="0" i="0">
                <a:solidFill>
                  <a:srgbClr val="C9D3E0"/>
                </a:solidFill>
                <a:latin typeface="Calibri"/>
              </a:rPr>
              <a:t>RTF, RAM within the lib.so budget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 name="TextBox 2"/>
          <p:cNvSpPr txBox="1"/>
          <p:nvPr/>
        </p:nvSpPr>
        <p:spPr>
          <a:xfrm>
            <a:off x="731520" y="685800"/>
            <a:ext cx="10698480" cy="365760"/>
          </a:xfrm>
          <a:prstGeom prst="rect">
            <a:avLst/>
          </a:prstGeom>
          <a:noFill/>
        </p:spPr>
        <p:txBody>
          <a:bodyPr wrap="square" lIns="0" rIns="0" tIns="0" bIns="0" anchor="t">
            <a:spAutoFit/>
          </a:bodyPr>
          <a:lstStyle/>
          <a:p>
            <a:pPr algn="l">
              <a:spcAft>
                <a:spcPts val="0"/>
              </a:spcAft>
            </a:pPr>
            <a:r>
              <a:rPr sz="1400" b="1" i="0">
                <a:solidFill>
                  <a:srgbClr val="8FD3D1"/>
                </a:solidFill>
                <a:latin typeface="Calibri"/>
              </a:rPr>
              <a:t>Next steps</a:t>
            </a:r>
          </a:p>
        </p:txBody>
      </p:sp>
      <p:sp>
        <p:nvSpPr>
          <p:cNvPr id="4" name="TextBox 3"/>
          <p:cNvSpPr txBox="1"/>
          <p:nvPr/>
        </p:nvSpPr>
        <p:spPr>
          <a:xfrm>
            <a:off x="731520" y="1051560"/>
            <a:ext cx="10698480" cy="914400"/>
          </a:xfrm>
          <a:prstGeom prst="rect">
            <a:avLst/>
          </a:prstGeom>
          <a:noFill/>
        </p:spPr>
        <p:txBody>
          <a:bodyPr wrap="square" lIns="0" rIns="0" tIns="0" bIns="0" anchor="t">
            <a:spAutoFit/>
          </a:bodyPr>
          <a:lstStyle/>
          <a:p>
            <a:pPr algn="l">
              <a:spcAft>
                <a:spcPts val="0"/>
              </a:spcAft>
            </a:pPr>
            <a:r>
              <a:rPr sz="3200" b="1" i="0">
                <a:solidFill>
                  <a:srgbClr val="FFFFFF"/>
                </a:solidFill>
                <a:latin typeface="Cambria"/>
              </a:rPr>
              <a:t>6-week roadmap: measure first, fix cheap first, scale later</a:t>
            </a:r>
          </a:p>
        </p:txBody>
      </p:sp>
      <p:cxnSp>
        <p:nvCxnSpPr>
          <p:cNvPr id="5" name="Connector 4"/>
          <p:cNvCxnSpPr/>
          <p:nvPr/>
        </p:nvCxnSpPr>
        <p:spPr>
          <a:xfrm>
            <a:off x="1143000" y="2971800"/>
            <a:ext cx="9921240" cy="0"/>
          </a:xfrm>
          <a:prstGeom prst="line">
            <a:avLst/>
          </a:prstGeom>
          <a:ln w="31750">
            <a:solidFill>
              <a:srgbClr val="46536A"/>
            </a:solidFill>
          </a:ln>
        </p:spPr>
        <p:style>
          <a:lnRef idx="2">
            <a:schemeClr val="accent1"/>
          </a:lnRef>
          <a:fillRef idx="0">
            <a:schemeClr val="accent1"/>
          </a:fillRef>
          <a:effectRef idx="0">
            <a:schemeClr val="accent1"/>
          </a:effectRef>
          <a:fontRef idx="minor">
            <a:schemeClr val="tx1"/>
          </a:fontRef>
        </p:style>
      </p:cxnSp>
      <p:sp>
        <p:nvSpPr>
          <p:cNvPr id="6" name="Oval 5"/>
          <p:cNvSpPr/>
          <p:nvPr/>
        </p:nvSpPr>
        <p:spPr>
          <a:xfrm>
            <a:off x="777240" y="2587752"/>
            <a:ext cx="768096" cy="768096"/>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7" name="Picture 6" descr="insights_w.png"/>
          <p:cNvPicPr>
            <a:picLocks noChangeAspect="1"/>
          </p:cNvPicPr>
          <p:nvPr/>
        </p:nvPicPr>
        <p:blipFill>
          <a:blip r:embed="rId2"/>
          <a:stretch>
            <a:fillRect/>
          </a:stretch>
        </p:blipFill>
        <p:spPr>
          <a:xfrm>
            <a:off x="946221" y="2756733"/>
            <a:ext cx="430133" cy="430133"/>
          </a:xfrm>
          <a:prstGeom prst="rect">
            <a:avLst/>
          </a:prstGeom>
        </p:spPr>
      </p:pic>
      <p:sp>
        <p:nvSpPr>
          <p:cNvPr id="8" name="TextBox 7"/>
          <p:cNvSpPr txBox="1"/>
          <p:nvPr/>
        </p:nvSpPr>
        <p:spPr>
          <a:xfrm>
            <a:off x="731520" y="3566160"/>
            <a:ext cx="2514600" cy="320040"/>
          </a:xfrm>
          <a:prstGeom prst="rect">
            <a:avLst/>
          </a:prstGeom>
          <a:noFill/>
        </p:spPr>
        <p:txBody>
          <a:bodyPr wrap="square" lIns="0" rIns="0" tIns="0" bIns="0" anchor="t">
            <a:spAutoFit/>
          </a:bodyPr>
          <a:lstStyle/>
          <a:p>
            <a:pPr algn="l">
              <a:spcAft>
                <a:spcPts val="0"/>
              </a:spcAft>
            </a:pPr>
            <a:r>
              <a:rPr sz="1300" b="1" i="0">
                <a:solidFill>
                  <a:srgbClr val="8FD3D1"/>
                </a:solidFill>
                <a:latin typeface="Calibri"/>
              </a:rPr>
              <a:t>Week 1</a:t>
            </a:r>
          </a:p>
        </p:txBody>
      </p:sp>
      <p:sp>
        <p:nvSpPr>
          <p:cNvPr id="9" name="TextBox 8"/>
          <p:cNvSpPr txBox="1"/>
          <p:nvPr/>
        </p:nvSpPr>
        <p:spPr>
          <a:xfrm>
            <a:off x="731520" y="3886200"/>
            <a:ext cx="2514600" cy="457200"/>
          </a:xfrm>
          <a:prstGeom prst="rect">
            <a:avLst/>
          </a:prstGeom>
          <a:noFill/>
        </p:spPr>
        <p:txBody>
          <a:bodyPr wrap="square" lIns="0" rIns="0" tIns="0" bIns="0" anchor="t">
            <a:spAutoFit/>
          </a:bodyPr>
          <a:lstStyle/>
          <a:p>
            <a:pPr algn="l">
              <a:spcAft>
                <a:spcPts val="0"/>
              </a:spcAft>
            </a:pPr>
            <a:r>
              <a:rPr sz="2000" b="1" i="0">
                <a:solidFill>
                  <a:srgbClr val="FFFFFF"/>
                </a:solidFill>
                <a:latin typeface="Cambria"/>
              </a:rPr>
              <a:t>Measure</a:t>
            </a:r>
          </a:p>
        </p:txBody>
      </p:sp>
      <p:sp>
        <p:nvSpPr>
          <p:cNvPr id="10" name="TextBox 9"/>
          <p:cNvSpPr txBox="1"/>
          <p:nvPr/>
        </p:nvSpPr>
        <p:spPr>
          <a:xfrm>
            <a:off x="731520" y="4389120"/>
            <a:ext cx="2423160" cy="1280160"/>
          </a:xfrm>
          <a:prstGeom prst="rect">
            <a:avLst/>
          </a:prstGeom>
          <a:noFill/>
        </p:spPr>
        <p:txBody>
          <a:bodyPr wrap="square" lIns="0" rIns="0" tIns="0" bIns="0" anchor="t">
            <a:spAutoFit/>
          </a:bodyPr>
          <a:lstStyle/>
          <a:p>
            <a:pPr algn="l">
              <a:spcAft>
                <a:spcPts val="0"/>
              </a:spcAft>
            </a:pPr>
            <a:r>
              <a:rPr sz="1400" b="0" i="0">
                <a:solidFill>
                  <a:srgbClr val="C9D3E0"/>
                </a:solidFill>
                <a:latin typeface="Calibri"/>
              </a:rPr>
              <a:t>Re-audit labels for the new definition; run baselines; build the per-slice scorecard.</a:t>
            </a:r>
          </a:p>
        </p:txBody>
      </p:sp>
      <p:sp>
        <p:nvSpPr>
          <p:cNvPr id="11" name="Oval 10"/>
          <p:cNvSpPr/>
          <p:nvPr/>
        </p:nvSpPr>
        <p:spPr>
          <a:xfrm>
            <a:off x="3630168" y="2587752"/>
            <a:ext cx="768096" cy="768096"/>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2" name="Picture 11" descr="tune_w.png"/>
          <p:cNvPicPr>
            <a:picLocks noChangeAspect="1"/>
          </p:cNvPicPr>
          <p:nvPr/>
        </p:nvPicPr>
        <p:blipFill>
          <a:blip r:embed="rId3"/>
          <a:stretch>
            <a:fillRect/>
          </a:stretch>
        </p:blipFill>
        <p:spPr>
          <a:xfrm>
            <a:off x="3799149" y="2756733"/>
            <a:ext cx="430133" cy="430133"/>
          </a:xfrm>
          <a:prstGeom prst="rect">
            <a:avLst/>
          </a:prstGeom>
        </p:spPr>
      </p:pic>
      <p:sp>
        <p:nvSpPr>
          <p:cNvPr id="13" name="TextBox 12"/>
          <p:cNvSpPr txBox="1"/>
          <p:nvPr/>
        </p:nvSpPr>
        <p:spPr>
          <a:xfrm>
            <a:off x="3584448" y="3566160"/>
            <a:ext cx="2514600" cy="320040"/>
          </a:xfrm>
          <a:prstGeom prst="rect">
            <a:avLst/>
          </a:prstGeom>
          <a:noFill/>
        </p:spPr>
        <p:txBody>
          <a:bodyPr wrap="square" lIns="0" rIns="0" tIns="0" bIns="0" anchor="t">
            <a:spAutoFit/>
          </a:bodyPr>
          <a:lstStyle/>
          <a:p>
            <a:pPr algn="l">
              <a:spcAft>
                <a:spcPts val="0"/>
              </a:spcAft>
            </a:pPr>
            <a:r>
              <a:rPr sz="1300" b="1" i="0">
                <a:solidFill>
                  <a:srgbClr val="8FD3D1"/>
                </a:solidFill>
                <a:latin typeface="Calibri"/>
              </a:rPr>
              <a:t>Week 2</a:t>
            </a:r>
          </a:p>
        </p:txBody>
      </p:sp>
      <p:sp>
        <p:nvSpPr>
          <p:cNvPr id="14" name="TextBox 13"/>
          <p:cNvSpPr txBox="1"/>
          <p:nvPr/>
        </p:nvSpPr>
        <p:spPr>
          <a:xfrm>
            <a:off x="3584448" y="3886200"/>
            <a:ext cx="2514600" cy="457200"/>
          </a:xfrm>
          <a:prstGeom prst="rect">
            <a:avLst/>
          </a:prstGeom>
          <a:noFill/>
        </p:spPr>
        <p:txBody>
          <a:bodyPr wrap="square" lIns="0" rIns="0" tIns="0" bIns="0" anchor="t">
            <a:spAutoFit/>
          </a:bodyPr>
          <a:lstStyle/>
          <a:p>
            <a:pPr algn="l">
              <a:spcAft>
                <a:spcPts val="0"/>
              </a:spcAft>
            </a:pPr>
            <a:r>
              <a:rPr sz="2000" b="1" i="0">
                <a:solidFill>
                  <a:srgbClr val="FFFFFF"/>
                </a:solidFill>
                <a:latin typeface="Cambria"/>
              </a:rPr>
              <a:t>Cheapest fixes</a:t>
            </a:r>
          </a:p>
        </p:txBody>
      </p:sp>
      <p:sp>
        <p:nvSpPr>
          <p:cNvPr id="15" name="TextBox 14"/>
          <p:cNvSpPr txBox="1"/>
          <p:nvPr/>
        </p:nvSpPr>
        <p:spPr>
          <a:xfrm>
            <a:off x="3584448" y="4389120"/>
            <a:ext cx="2423160" cy="1280160"/>
          </a:xfrm>
          <a:prstGeom prst="rect">
            <a:avLst/>
          </a:prstGeom>
          <a:noFill/>
        </p:spPr>
        <p:txBody>
          <a:bodyPr wrap="square" lIns="0" rIns="0" tIns="0" bIns="0" anchor="t">
            <a:spAutoFit/>
          </a:bodyPr>
          <a:lstStyle/>
          <a:p>
            <a:pPr algn="l">
              <a:spcAft>
                <a:spcPts val="0"/>
              </a:spcAft>
            </a:pPr>
            <a:r>
              <a:rPr sz="1400" b="0" i="0">
                <a:solidFill>
                  <a:srgbClr val="C9D3E0"/>
                </a:solidFill>
                <a:latin typeface="Calibri"/>
              </a:rPr>
              <a:t>Tune post-processing on dev; add a BiGRU over the embedding sequence.</a:t>
            </a:r>
          </a:p>
        </p:txBody>
      </p:sp>
      <p:sp>
        <p:nvSpPr>
          <p:cNvPr id="16" name="Oval 15"/>
          <p:cNvSpPr/>
          <p:nvPr/>
        </p:nvSpPr>
        <p:spPr>
          <a:xfrm>
            <a:off x="6483096" y="2587752"/>
            <a:ext cx="768096" cy="768096"/>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7" name="Picture 16" descr="wave_w.png"/>
          <p:cNvPicPr>
            <a:picLocks noChangeAspect="1"/>
          </p:cNvPicPr>
          <p:nvPr/>
        </p:nvPicPr>
        <p:blipFill>
          <a:blip r:embed="rId4"/>
          <a:stretch>
            <a:fillRect/>
          </a:stretch>
        </p:blipFill>
        <p:spPr>
          <a:xfrm>
            <a:off x="6652077" y="2756733"/>
            <a:ext cx="430133" cy="430133"/>
          </a:xfrm>
          <a:prstGeom prst="rect">
            <a:avLst/>
          </a:prstGeom>
        </p:spPr>
      </p:pic>
      <p:sp>
        <p:nvSpPr>
          <p:cNvPr id="18" name="TextBox 17"/>
          <p:cNvSpPr txBox="1"/>
          <p:nvPr/>
        </p:nvSpPr>
        <p:spPr>
          <a:xfrm>
            <a:off x="6437376" y="3566160"/>
            <a:ext cx="2514600" cy="320040"/>
          </a:xfrm>
          <a:prstGeom prst="rect">
            <a:avLst/>
          </a:prstGeom>
          <a:noFill/>
        </p:spPr>
        <p:txBody>
          <a:bodyPr wrap="square" lIns="0" rIns="0" tIns="0" bIns="0" anchor="t">
            <a:spAutoFit/>
          </a:bodyPr>
          <a:lstStyle/>
          <a:p>
            <a:pPr algn="l">
              <a:spcAft>
                <a:spcPts val="0"/>
              </a:spcAft>
            </a:pPr>
            <a:r>
              <a:rPr sz="1300" b="1" i="0">
                <a:solidFill>
                  <a:srgbClr val="8FD3D1"/>
                </a:solidFill>
                <a:latin typeface="Calibri"/>
              </a:rPr>
              <a:t>Weeks 3–4</a:t>
            </a:r>
          </a:p>
        </p:txBody>
      </p:sp>
      <p:sp>
        <p:nvSpPr>
          <p:cNvPr id="19" name="TextBox 18"/>
          <p:cNvSpPr txBox="1"/>
          <p:nvPr/>
        </p:nvSpPr>
        <p:spPr>
          <a:xfrm>
            <a:off x="6437376" y="3886200"/>
            <a:ext cx="2514600" cy="457200"/>
          </a:xfrm>
          <a:prstGeom prst="rect">
            <a:avLst/>
          </a:prstGeom>
          <a:noFill/>
        </p:spPr>
        <p:txBody>
          <a:bodyPr wrap="square" lIns="0" rIns="0" tIns="0" bIns="0" anchor="t">
            <a:spAutoFit/>
          </a:bodyPr>
          <a:lstStyle/>
          <a:p>
            <a:pPr algn="l">
              <a:spcAft>
                <a:spcPts val="0"/>
              </a:spcAft>
            </a:pPr>
            <a:r>
              <a:rPr sz="2000" b="1" i="0">
                <a:solidFill>
                  <a:srgbClr val="FFFFFF"/>
                </a:solidFill>
                <a:latin typeface="Cambria"/>
              </a:rPr>
              <a:t>Hard slices</a:t>
            </a:r>
          </a:p>
        </p:txBody>
      </p:sp>
      <p:sp>
        <p:nvSpPr>
          <p:cNvPr id="20" name="TextBox 19"/>
          <p:cNvSpPr txBox="1"/>
          <p:nvPr/>
        </p:nvSpPr>
        <p:spPr>
          <a:xfrm>
            <a:off x="6437376" y="4389120"/>
            <a:ext cx="2423160" cy="1280160"/>
          </a:xfrm>
          <a:prstGeom prst="rect">
            <a:avLst/>
          </a:prstGeom>
          <a:noFill/>
        </p:spPr>
        <p:txBody>
          <a:bodyPr wrap="square" lIns="0" rIns="0" tIns="0" bIns="0" anchor="t">
            <a:spAutoFit/>
          </a:bodyPr>
          <a:lstStyle/>
          <a:p>
            <a:pPr algn="l">
              <a:spcAft>
                <a:spcPts val="0"/>
              </a:spcAft>
            </a:pPr>
            <a:r>
              <a:rPr sz="1400" b="0" i="0">
                <a:solidFill>
                  <a:srgbClr val="C9D3E0"/>
                </a:solidFill>
                <a:latin typeface="Calibri"/>
              </a:rPr>
              <a:t>Add crowd, laughs/coughs, instruments and masked-voice data; 10 ms branch.</a:t>
            </a:r>
          </a:p>
        </p:txBody>
      </p:sp>
      <p:sp>
        <p:nvSpPr>
          <p:cNvPr id="21" name="Oval 20"/>
          <p:cNvSpPr/>
          <p:nvPr/>
        </p:nvSpPr>
        <p:spPr>
          <a:xfrm>
            <a:off x="9336024" y="2587752"/>
            <a:ext cx="768096" cy="768096"/>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22" name="Picture 21" descr="model_w.png"/>
          <p:cNvPicPr>
            <a:picLocks noChangeAspect="1"/>
          </p:cNvPicPr>
          <p:nvPr/>
        </p:nvPicPr>
        <p:blipFill>
          <a:blip r:embed="rId5"/>
          <a:stretch>
            <a:fillRect/>
          </a:stretch>
        </p:blipFill>
        <p:spPr>
          <a:xfrm>
            <a:off x="9505005" y="2756733"/>
            <a:ext cx="430133" cy="430133"/>
          </a:xfrm>
          <a:prstGeom prst="rect">
            <a:avLst/>
          </a:prstGeom>
        </p:spPr>
      </p:pic>
      <p:sp>
        <p:nvSpPr>
          <p:cNvPr id="23" name="TextBox 22"/>
          <p:cNvSpPr txBox="1"/>
          <p:nvPr/>
        </p:nvSpPr>
        <p:spPr>
          <a:xfrm>
            <a:off x="9290304" y="3566160"/>
            <a:ext cx="2514600" cy="320040"/>
          </a:xfrm>
          <a:prstGeom prst="rect">
            <a:avLst/>
          </a:prstGeom>
          <a:noFill/>
        </p:spPr>
        <p:txBody>
          <a:bodyPr wrap="square" lIns="0" rIns="0" tIns="0" bIns="0" anchor="t">
            <a:spAutoFit/>
          </a:bodyPr>
          <a:lstStyle/>
          <a:p>
            <a:pPr algn="l">
              <a:spcAft>
                <a:spcPts val="0"/>
              </a:spcAft>
            </a:pPr>
            <a:r>
              <a:rPr sz="1300" b="1" i="0">
                <a:solidFill>
                  <a:srgbClr val="8FD3D1"/>
                </a:solidFill>
                <a:latin typeface="Calibri"/>
              </a:rPr>
              <a:t>Weeks 5–6</a:t>
            </a:r>
          </a:p>
        </p:txBody>
      </p:sp>
      <p:sp>
        <p:nvSpPr>
          <p:cNvPr id="24" name="TextBox 23"/>
          <p:cNvSpPr txBox="1"/>
          <p:nvPr/>
        </p:nvSpPr>
        <p:spPr>
          <a:xfrm>
            <a:off x="9290304" y="3886200"/>
            <a:ext cx="2514600" cy="457200"/>
          </a:xfrm>
          <a:prstGeom prst="rect">
            <a:avLst/>
          </a:prstGeom>
          <a:noFill/>
        </p:spPr>
        <p:txBody>
          <a:bodyPr wrap="square" lIns="0" rIns="0" tIns="0" bIns="0" anchor="t">
            <a:spAutoFit/>
          </a:bodyPr>
          <a:lstStyle/>
          <a:p>
            <a:pPr algn="l">
              <a:spcAft>
                <a:spcPts val="0"/>
              </a:spcAft>
            </a:pPr>
            <a:r>
              <a:rPr sz="2000" b="1" i="0">
                <a:solidFill>
                  <a:srgbClr val="FFFFFF"/>
                </a:solidFill>
                <a:latin typeface="Cambria"/>
              </a:rPr>
              <a:t>Slim down</a:t>
            </a:r>
          </a:p>
        </p:txBody>
      </p:sp>
      <p:sp>
        <p:nvSpPr>
          <p:cNvPr id="25" name="TextBox 24"/>
          <p:cNvSpPr txBox="1"/>
          <p:nvPr/>
        </p:nvSpPr>
        <p:spPr>
          <a:xfrm>
            <a:off x="9290304" y="4389120"/>
            <a:ext cx="2423160" cy="1280160"/>
          </a:xfrm>
          <a:prstGeom prst="rect">
            <a:avLst/>
          </a:prstGeom>
          <a:noFill/>
        </p:spPr>
        <p:txBody>
          <a:bodyPr wrap="square" lIns="0" rIns="0" tIns="0" bIns="0" anchor="t">
            <a:spAutoFit/>
          </a:bodyPr>
          <a:lstStyle/>
          <a:p>
            <a:pPr algn="l">
              <a:spcAft>
                <a:spcPts val="0"/>
              </a:spcAft>
            </a:pPr>
            <a:r>
              <a:rPr sz="1400" b="0" i="0">
                <a:solidFill>
                  <a:srgbClr val="C9D3E0"/>
                </a:solidFill>
                <a:latin typeface="Calibri"/>
              </a:rPr>
              <a:t>Distill into a lightweight student in lib.so; measure RTF, RAM, power.</a:t>
            </a:r>
          </a:p>
        </p:txBody>
      </p:sp>
      <p:sp>
        <p:nvSpPr>
          <p:cNvPr id="26" name="TextBox 25"/>
          <p:cNvSpPr txBox="1"/>
          <p:nvPr/>
        </p:nvSpPr>
        <p:spPr>
          <a:xfrm>
            <a:off x="731520" y="5989320"/>
            <a:ext cx="10698480" cy="365760"/>
          </a:xfrm>
          <a:prstGeom prst="rect">
            <a:avLst/>
          </a:prstGeom>
          <a:noFill/>
        </p:spPr>
        <p:txBody>
          <a:bodyPr wrap="square" lIns="0" rIns="0" tIns="0" bIns="0" anchor="t">
            <a:spAutoFit/>
          </a:bodyPr>
          <a:lstStyle/>
          <a:p>
            <a:pPr algn="l">
              <a:spcAft>
                <a:spcPts val="0"/>
              </a:spcAft>
            </a:pPr>
            <a:r>
              <a:rPr sz="1400" b="0" i="0">
                <a:solidFill>
                  <a:srgbClr val="8A93A0"/>
                </a:solidFill>
                <a:latin typeface="Calibri"/>
              </a:rPr>
              <a:t>Every step is scored with the same scorecard and passes the same gate.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