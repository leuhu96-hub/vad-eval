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Mô hình khác</c:v>
                </c:pt>
              </c:strCache>
            </c:strRef>
          </c:tx>
          <c:spPr>
            <a:ln w="47625">
              <a:noFill/>
            </a:ln>
          </c:spPr>
          <c:marker>
            <c:symbol val="circle"/>
            <c:size val="10"/>
            <c:spPr>
              <a:solidFill>
                <a:srgbClr val="A0A8B4"/>
              </a:solidFill>
              <a:ln w="19050">
                <a:solidFill>
                  <a:srgbClr val="FFFFFF"/>
                </a:solidFill>
              </a:ln>
            </c:spPr>
          </c:marker>
          <c:dLbls>
            <c:dLbl>
              <c:idx val="0"/>
              <c:tx>
                <c:rich>
                  <a:bodyPr/>
                  <a:lstStyle/>
                  <a:p>
                    <a:r>
                      <a:rPr sz="1100" b="0">
                        <a:solidFill>
                          <a:srgbClr val="5B6472"/>
                        </a:solidFill>
                        <a:latin typeface="Calibri"/>
                      </a:rPr>
                      <a:t>WebRTC (≈0 tham số)</a:t>
                    </a:r>
                  </a:p>
                </c:rich>
              </c:tx>
              <c:dLblPos val="r"/>
              <c:showLegendKey val="0"/>
              <c:showVal val="1"/>
              <c:showCatName val="0"/>
              <c:showSerName val="0"/>
              <c:showPercent val="0"/>
              <c:showBubbleSize val="0"/>
            </c:dLbl>
            <c:dLbl>
              <c:idx val="1"/>
              <c:tx>
                <c:rich>
                  <a:bodyPr/>
                  <a:lstStyle/>
                  <a:p>
                    <a:r>
                      <a:rPr sz="1100" b="0">
                        <a:solidFill>
                          <a:srgbClr val="5B6472"/>
                        </a:solidFill>
                        <a:latin typeface="Calibri"/>
                      </a:rPr>
                      <a:t>AtomicVAD</a:t>
                    </a:r>
                  </a:p>
                </c:rich>
              </c:tx>
              <c:dLblPos val="r"/>
              <c:showLegendKey val="0"/>
              <c:showVal val="1"/>
              <c:showCatName val="0"/>
              <c:showSerName val="0"/>
              <c:showPercent val="0"/>
              <c:showBubbleSize val="0"/>
            </c:dLbl>
            <c:dLbl>
              <c:idx val="2"/>
              <c:tx>
                <c:rich>
                  <a:bodyPr/>
                  <a:lstStyle/>
                  <a:p>
                    <a:r>
                      <a:rPr sz="1100" b="0">
                        <a:solidFill>
                          <a:srgbClr val="5B6472"/>
                        </a:solidFill>
                        <a:latin typeface="Calibri"/>
                      </a:rPr>
                      <a:t>SincQDR</a:t>
                    </a:r>
                  </a:p>
                </c:rich>
              </c:tx>
              <c:dLblPos val="l"/>
              <c:showLegendKey val="0"/>
              <c:showVal val="1"/>
              <c:showCatName val="0"/>
              <c:showSerName val="0"/>
              <c:showPercent val="0"/>
              <c:showBubbleSize val="0"/>
            </c:dLbl>
            <c:dLbl>
              <c:idx val="3"/>
              <c:tx>
                <c:rich>
                  <a:bodyPr/>
                  <a:lstStyle/>
                  <a:p>
                    <a:r>
                      <a:rPr sz="1100" b="0">
                        <a:solidFill>
                          <a:srgbClr val="5B6472"/>
                        </a:solidFill>
                        <a:latin typeface="Calibri"/>
                      </a:rPr>
                      <a:t>TinyVAD</a:t>
                    </a:r>
                  </a:p>
                </c:rich>
              </c:tx>
              <c:dLblPos val="r"/>
              <c:showLegendKey val="0"/>
              <c:showVal val="1"/>
              <c:showCatName val="0"/>
              <c:showSerName val="0"/>
              <c:showPercent val="0"/>
              <c:showBubbleSize val="0"/>
            </c:dLbl>
            <c:dLbl>
              <c:idx val="4"/>
              <c:tx>
                <c:rich>
                  <a:bodyPr/>
                  <a:lstStyle/>
                  <a:p>
                    <a:r>
                      <a:rPr sz="1100" b="0">
                        <a:solidFill>
                          <a:srgbClr val="5B6472"/>
                        </a:solidFill>
                        <a:latin typeface="Calibri"/>
                      </a:rPr>
                      <a:t>MarbleNet</a:t>
                    </a:r>
                  </a:p>
                </c:rich>
              </c:tx>
              <c:dLblPos val="r"/>
              <c:showLegendKey val="0"/>
              <c:showVal val="1"/>
              <c:showCatName val="0"/>
              <c:showSerName val="0"/>
              <c:showPercent val="0"/>
              <c:showBubbleSize val="0"/>
            </c:dLbl>
            <c:dLbl>
              <c:idx val="5"/>
              <c:tx>
                <c:rich>
                  <a:bodyPr/>
                  <a:lstStyle/>
                  <a:p>
                    <a:r>
                      <a:rPr sz="1100" b="0">
                        <a:solidFill>
                          <a:srgbClr val="5B6472"/>
                        </a:solidFill>
                        <a:latin typeface="Calibri"/>
                      </a:rPr>
                      <a:t>Silero</a:t>
                    </a:r>
                  </a:p>
                </c:rich>
              </c:tx>
              <c:dLblPos val="r"/>
              <c:showLegendKey val="0"/>
              <c:showVal val="1"/>
              <c:showCatName val="0"/>
              <c:showSerName val="0"/>
              <c:showPercent val="0"/>
              <c:showBubbleSize val="0"/>
            </c:dLbl>
            <c:dLbl>
              <c:idx val="6"/>
              <c:tx>
                <c:rich>
                  <a:bodyPr/>
                  <a:lstStyle/>
                  <a:p>
                    <a:r>
                      <a:rPr sz="1100" b="0">
                        <a:solidFill>
                          <a:srgbClr val="5B6472"/>
                        </a:solidFill>
                        <a:latin typeface="Calibri"/>
                      </a:rPr>
                      <a:t>pyannote</a:t>
                    </a:r>
                  </a:p>
                </c:rich>
              </c:tx>
              <c:dLblPos val="r"/>
              <c:showLegendKey val="0"/>
              <c:showVal val="1"/>
              <c:showCatName val="0"/>
              <c:showSerName val="0"/>
              <c:showPercent val="0"/>
              <c:showBubbleSize val="0"/>
            </c:dLbl>
            <c:dLbl>
              <c:idx val="7"/>
              <c:tx>
                <c:rich>
                  <a:bodyPr/>
                  <a:lstStyle/>
                  <a:p>
                    <a:r>
                      <a:rPr sz="1100" b="0">
                        <a:solidFill>
                          <a:srgbClr val="5B6472"/>
                        </a:solidFill>
                        <a:latin typeface="Calibri"/>
                      </a:rPr>
                      <a:t>WavLM / Whisper</a:t>
                    </a:r>
                  </a:p>
                </c:rich>
              </c:tx>
              <c:dLblPos val="l"/>
              <c:showLegendKey val="0"/>
              <c:showVal val="1"/>
              <c:showCatName val="0"/>
              <c:showSerName val="0"/>
              <c:showPercent val="0"/>
              <c:showBubbleSize val="0"/>
            </c:dLbl>
            <c:dLbl>
              <c:idx val="8"/>
              <c:tx>
                <c:rich>
                  <a:bodyPr/>
                  <a:lstStyle/>
                  <a:p>
                    <a:r>
                      <a:rPr sz="1100" b="0">
                        <a:solidFill>
                          <a:srgbClr val="5B6472"/>
                        </a:solidFill>
                        <a:latin typeface="Calibri"/>
                      </a:rPr>
                      <a:t>BEATs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Sheet1!$A$2:$A$10</c:f>
              <c:numCache>
                <c:formatCode>General</c:formatCode>
                <c:ptCount val="9"/>
                <c:pt idx="0">
                  <c:v>10</c:v>
                </c:pt>
                <c:pt idx="1">
                  <c:v>11</c:v>
                </c:pt>
                <c:pt idx="2">
                  <c:v>9</c:v>
                </c:pt>
                <c:pt idx="3">
                  <c:v>11.5</c:v>
                </c:pt>
                <c:pt idx="4">
                  <c:v>10</c:v>
                </c:pt>
                <c:pt idx="5">
                  <c:v>32</c:v>
                </c:pt>
                <c:pt idx="6">
                  <c:v>17</c:v>
                </c:pt>
                <c:pt idx="7">
                  <c:v>20</c:v>
                </c:pt>
                <c:pt idx="8">
                  <c:v>40</c:v>
                </c:pt>
              </c:numCache>
            </c:numRef>
          </c:xVal>
          <c:yVal>
            <c:numRef>
              <c:f>Sheet1!$B$2:$B$10</c:f>
              <c:numCache>
                <c:formatCode>General</c:formatCode>
                <c:ptCount val="9"/>
                <c:pt idx="0">
                  <c:v>20</c:v>
                </c:pt>
                <c:pt idx="1">
                  <c:v>300</c:v>
                </c:pt>
                <c:pt idx="2">
                  <c:v>8000</c:v>
                </c:pt>
                <c:pt idx="3">
                  <c:v>11600</c:v>
                </c:pt>
                <c:pt idx="4">
                  <c:v>88900</c:v>
                </c:pt>
                <c:pt idx="5">
                  <c:v>260000</c:v>
                </c:pt>
                <c:pt idx="6">
                  <c:v>1490000</c:v>
                </c:pt>
                <c:pt idx="7">
                  <c:v>95000000.0</c:v>
                </c:pt>
                <c:pt idx="8">
                  <c:v>90000000.0</c:v>
                </c:pt>
              </c:numCache>
            </c:numRef>
          </c:yVal>
          <c:smooth val="0"/>
        </c:ser>
        <c:ser>
          <c:idx val="1"/>
          <c:order val="1"/>
          <c:tx>
            <c:strRef>
              <c:f>Sheet1!$B$12</c:f>
              <c:strCache>
                <c:ptCount val="1"/>
                <c:pt idx="0">
                  <c:v>YAMNet</c:v>
                </c:pt>
              </c:strCache>
            </c:strRef>
          </c:tx>
          <c:spPr>
            <a:ln w="47625">
              <a:noFill/>
            </a:ln>
          </c:spPr>
          <c:marker>
            <c:symbol val="circle"/>
            <c:size val="14"/>
            <c:spPr>
              <a:solidFill>
                <a:srgbClr val="D9622B"/>
              </a:solidFill>
              <a:ln w="19050">
                <a:solidFill>
                  <a:srgbClr val="FFFFFF"/>
                </a:solidFill>
              </a:ln>
            </c:spPr>
          </c:marker>
          <c:dLbls>
            <c:dLbl>
              <c:idx val="0"/>
              <c:tx>
                <c:rich>
                  <a:bodyPr/>
                  <a:lstStyle/>
                  <a:p>
                    <a:r>
                      <a:rPr sz="1200" b="1">
                        <a:solidFill>
                          <a:srgbClr val="D9622B"/>
                        </a:solidFill>
                        <a:latin typeface="Calibri"/>
                      </a:rPr>
                      <a:t>YAMNet (hop mặc định)</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Sheet1!$A$13:$A$13</c:f>
              <c:numCache>
                <c:formatCode>General</c:formatCode>
                <c:ptCount val="1"/>
                <c:pt idx="0">
                  <c:v>480</c:v>
                </c:pt>
              </c:numCache>
            </c:numRef>
          </c:xVal>
          <c:yVal>
            <c:numRef>
              <c:f>Sheet1!$B$13:$B$13</c:f>
              <c:numCache>
                <c:formatCode>General</c:formatCode>
                <c:ptCount val="1"/>
                <c:pt idx="0">
                  <c:v>3200000.0</c:v>
                </c:pt>
              </c:numCache>
            </c:numRef>
          </c:yVal>
          <c:smooth val="0"/>
        </c:ser>
        <c:axId val="-2128940872"/>
        <c:axId val="-2129643912"/>
      </c:scatterChart>
      <c:valAx>
        <c:axId val="-2128940872"/>
        <c:scaling>
          <c:logBase val="10"/>
          <c:orientation val="minMax"/>
          <c:max val="1000.0"/>
          <c:min val="1.0"/>
        </c:scaling>
        <c:delete val="0"/>
        <c:axPos val="b"/>
        <c:majorGridlines>
          <c:spPr>
            <a:ln w="9525">
              <a:solidFill>
                <a:srgbClr val="E8EBEF"/>
              </a:solidFill>
            </a:ln>
          </c:spPr>
        </c:majorGridlines>
        <c:title>
          <c:tx>
            <c:rich>
              <a:bodyPr/>
              <a:lstStyle/>
              <a:p>
                <a:r>
                  <a:rPr sz="1100" b="0">
                    <a:solidFill>
                      <a:srgbClr val="5B6472"/>
                    </a:solidFill>
                    <a:latin typeface="Calibri"/>
                  </a:rPr>
                  <a:t>Bước quyết định (ms, thang log)</a:t>
                </a:r>
              </a:p>
            </c:rich>
          </c:tx>
          <c:layout/>
          <c:overlay val="0"/>
        </c:title>
        <c:numFmt formatCode="0" sourceLinked="0"/>
        <c:majorTickMark val="out"/>
        <c:minorTickMark val="none"/>
        <c:tickLblPos val="nextTo"/>
        <c:spPr>
          <a:ln>
            <a:solidFill>
              <a:srgbClr val="DDE2E8"/>
            </a:solidFill>
          </a:ln>
        </c:spPr>
        <c:txPr>
          <a:bodyPr/>
          <a:lstStyle/>
          <a:p>
            <a:pPr>
              <a:defRPr sz="1100">
                <a:solidFill>
                  <a:srgbClr val="5B6472"/>
                </a:solidFill>
                <a:latin typeface="Calibri"/>
              </a:defRPr>
            </a:pPr>
          </a:p>
        </c:txPr>
        <c:crossAx val="-2129643912"/>
        <c:crosses val="autoZero"/>
        <c:crossBetween val="midCat"/>
      </c:valAx>
      <c:valAx>
        <c:axId val="-2129643912"/>
        <c:scaling>
          <c:logBase val="10"/>
          <c:orientation val="minMax"/>
          <c:max val="500000000.0"/>
          <c:min val="10.0"/>
        </c:scaling>
        <c:delete val="0"/>
        <c:axPos val="l"/>
        <c:majorGridlines>
          <c:spPr>
            <a:ln w="9525">
              <a:solidFill>
                <a:srgbClr val="E8EBEF"/>
              </a:solidFill>
            </a:ln>
          </c:spPr>
        </c:majorGridlines>
        <c:title>
          <c:tx>
            <c:rich>
              <a:bodyPr/>
              <a:lstStyle/>
              <a:p>
                <a:r>
                  <a:rPr sz="1100" b="0">
                    <a:solidFill>
                      <a:srgbClr val="5B6472"/>
                    </a:solidFill>
                    <a:latin typeface="Calibri"/>
                  </a:rPr>
                  <a:t>Số tham số (thang log)</a:t>
                </a:r>
              </a:p>
            </c:rich>
          </c:tx>
          <c:layout/>
          <c:overlay val="0"/>
        </c:title>
        <c:numFmt formatCode="[&gt;=1000000]0,,&quot;M&quot;;[&gt;=1000]0,&quot;k&quot;;0" sourceLinked="0"/>
        <c:majorTickMark val="out"/>
        <c:minorTickMark val="none"/>
        <c:tickLblPos val="nextTo"/>
        <c:spPr>
          <a:ln>
            <a:solidFill>
              <a:srgbClr val="DDE2E8"/>
            </a:solidFill>
          </a:ln>
        </c:spPr>
        <c:txPr>
          <a:bodyPr/>
          <a:lstStyle/>
          <a:p>
            <a:pPr>
              <a:defRPr sz="1100">
                <a:solidFill>
                  <a:srgbClr val="5B6472"/>
                </a:solidFill>
                <a:latin typeface="Calibri"/>
              </a:defRPr>
            </a:pPr>
          </a:p>
        </c:txPr>
        <c:crossAx val="-2128940872"/>
        <c:crosses val="autoZero"/>
        <c:crossBetween val="midCat"/>
      </c:valAx>
    </c:plotArea>
    <c:plotVisOnly val="1"/>
    <c:dispBlanksAs val="gap"/>
    <c:showDLblsOverMax val="0"/>
  </c:chart>
  <c:txPr>
    <a:bodyPr/>
    <a:lstStyle/>
    <a:p>
      <a:pPr>
        <a:defRPr sz="1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Tính chung</c:v>
                </c:pt>
              </c:strCache>
            </c:strRef>
          </c:tx>
          <c:spPr>
            <a:ln w="31750">
              <a:solidFill>
                <a:srgbClr val="2A78D6"/>
              </a:solidFill>
            </a:ln>
          </c:spPr>
          <c:marker>
            <c:symbol val="none"/>
          </c:marker>
          <c:xVal>
            <c:numRef>
              <c:f>Sheet1!$A$2:$A$52</c:f>
              <c:numCache>
                <c:formatCode>General</c:formatCode>
                <c:ptCount val="51"/>
                <c:pt idx="0">
                  <c:v>67.73530620632964</c:v>
                </c:pt>
                <c:pt idx="1">
                  <c:v>66.00904233456639</c:v>
                </c:pt>
                <c:pt idx="2">
                  <c:v>63.871763255240445</c:v>
                </c:pt>
                <c:pt idx="3">
                  <c:v>62.59761611179614</c:v>
                </c:pt>
                <c:pt idx="4">
                  <c:v>61.159062885326755</c:v>
                </c:pt>
                <c:pt idx="5">
                  <c:v>59.92601726263872</c:v>
                </c:pt>
                <c:pt idx="6">
                  <c:v>57.91204274558158</c:v>
                </c:pt>
                <c:pt idx="7">
                  <c:v>55.692560624743116</c:v>
                </c:pt>
                <c:pt idx="8">
                  <c:v>54.29510891903</c:v>
                </c:pt>
                <c:pt idx="9">
                  <c:v>52.40443896424167</c:v>
                </c:pt>
                <c:pt idx="10">
                  <c:v>50.67817509247842</c:v>
                </c:pt>
                <c:pt idx="11">
                  <c:v>49.239621866009045</c:v>
                </c:pt>
                <c:pt idx="12">
                  <c:v>47.348951911220716</c:v>
                </c:pt>
                <c:pt idx="13">
                  <c:v>45.58158651870119</c:v>
                </c:pt>
                <c:pt idx="14">
                  <c:v>43.97862720920674</c:v>
                </c:pt>
                <c:pt idx="15">
                  <c:v>42.457870941224826</c:v>
                </c:pt>
                <c:pt idx="16">
                  <c:v>40.97821619399918</c:v>
                </c:pt>
                <c:pt idx="17">
                  <c:v>39.457459926017265</c:v>
                </c:pt>
                <c:pt idx="18">
                  <c:v>37.6078914919852</c:v>
                </c:pt>
                <c:pt idx="19">
                  <c:v>36.128236744759555</c:v>
                </c:pt>
                <c:pt idx="20">
                  <c:v>34.07316070694616</c:v>
                </c:pt>
                <c:pt idx="21">
                  <c:v>32.3468968351829</c:v>
                </c:pt>
                <c:pt idx="22">
                  <c:v>31.524866420057542</c:v>
                </c:pt>
                <c:pt idx="23">
                  <c:v>28.812166050143855</c:v>
                </c:pt>
                <c:pt idx="24">
                  <c:v>27.25030826140567</c:v>
                </c:pt>
                <c:pt idx="25">
                  <c:v>25.318536785861077</c:v>
                </c:pt>
                <c:pt idx="26">
                  <c:v>24.085491163173035</c:v>
                </c:pt>
                <c:pt idx="27">
                  <c:v>22.277024249897245</c:v>
                </c:pt>
                <c:pt idx="28">
                  <c:v>19.52322235922729</c:v>
                </c:pt>
                <c:pt idx="29">
                  <c:v>17.057131113851213</c:v>
                </c:pt>
                <c:pt idx="30">
                  <c:v>15.741882449650637</c:v>
                </c:pt>
                <c:pt idx="31">
                  <c:v>14.508836826962598</c:v>
                </c:pt>
                <c:pt idx="32">
                  <c:v>12.41265926839293</c:v>
                </c:pt>
                <c:pt idx="33">
                  <c:v>11.38512124948623</c:v>
                </c:pt>
                <c:pt idx="34">
                  <c:v>9.98766954377312</c:v>
                </c:pt>
                <c:pt idx="35">
                  <c:v>8.590217838060008</c:v>
                </c:pt>
                <c:pt idx="36">
                  <c:v>7.603781339909577</c:v>
                </c:pt>
                <c:pt idx="37">
                  <c:v>6.863953966296752</c:v>
                </c:pt>
                <c:pt idx="38">
                  <c:v>5.713111385121249</c:v>
                </c:pt>
                <c:pt idx="39">
                  <c:v>4.48006576243321</c:v>
                </c:pt>
                <c:pt idx="40">
                  <c:v>3.6991368680641186</c:v>
                </c:pt>
                <c:pt idx="41">
                  <c:v>2.5893958076448826</c:v>
                </c:pt>
                <c:pt idx="42">
                  <c:v>2.3016851623510073</c:v>
                </c:pt>
                <c:pt idx="43">
                  <c:v>1.685162351006987</c:v>
                </c:pt>
                <c:pt idx="44">
                  <c:v>1.5207562679819153</c:v>
                </c:pt>
                <c:pt idx="45">
                  <c:v>1.3152486642005754</c:v>
                </c:pt>
                <c:pt idx="46">
                  <c:v>1.0275380189066996</c:v>
                </c:pt>
                <c:pt idx="47">
                  <c:v>0.7809288943690916</c:v>
                </c:pt>
                <c:pt idx="48">
                  <c:v>0.4932182490752158</c:v>
                </c:pt>
                <c:pt idx="49">
                  <c:v>0.45211672831894784</c:v>
                </c:pt>
                <c:pt idx="50">
                  <c:v>0.36991368680641185</c:v>
                </c:pt>
              </c:numCache>
            </c:numRef>
          </c:xVal>
          <c:yVal>
            <c:numRef>
              <c:f>Sheet1!$B$2:$B$52</c:f>
              <c:numCache>
                <c:formatCode>General</c:formatCode>
                <c:ptCount val="51"/>
                <c:pt idx="0">
                  <c:v>0.1</c:v>
                </c:pt>
                <c:pt idx="1">
                  <c:v>0.1</c:v>
                </c:pt>
                <c:pt idx="2">
                  <c:v>0.1</c:v>
                </c:pt>
                <c:pt idx="3">
                  <c:v>0.1</c:v>
                </c:pt>
                <c:pt idx="4">
                  <c:v>0.1</c:v>
                </c:pt>
                <c:pt idx="5">
                  <c:v>0.1</c:v>
                </c:pt>
                <c:pt idx="6">
                  <c:v>0.1</c:v>
                </c:pt>
                <c:pt idx="7">
                  <c:v>0.1</c:v>
                </c:pt>
                <c:pt idx="8">
                  <c:v>0.1</c:v>
                </c:pt>
                <c:pt idx="9">
                  <c:v>0.1</c:v>
                </c:pt>
                <c:pt idx="10">
                  <c:v>0.1</c:v>
                </c:pt>
                <c:pt idx="11">
                  <c:v>0.1</c:v>
                </c:pt>
                <c:pt idx="12">
                  <c:v>0.15787811809283234</c:v>
                </c:pt>
                <c:pt idx="13">
                  <c:v>0.1894537417113988</c:v>
                </c:pt>
                <c:pt idx="14">
                  <c:v>0.34733185980423115</c:v>
                </c:pt>
                <c:pt idx="15">
                  <c:v>0.34733185980423115</c:v>
                </c:pt>
                <c:pt idx="16">
                  <c:v>0.5052099778970635</c:v>
                </c:pt>
                <c:pt idx="17">
                  <c:v>0.7262393432270287</c:v>
                </c:pt>
                <c:pt idx="18">
                  <c:v>0.7578149668455952</c:v>
                </c:pt>
                <c:pt idx="19">
                  <c:v>0.8525418377012947</c:v>
                </c:pt>
                <c:pt idx="20">
                  <c:v>0.9156930849384275</c:v>
                </c:pt>
                <c:pt idx="21">
                  <c:v>0.9788443321755604</c:v>
                </c:pt>
                <c:pt idx="22">
                  <c:v>1.2946005683612252</c:v>
                </c:pt>
                <c:pt idx="23">
                  <c:v>1.7366592990211556</c:v>
                </c:pt>
                <c:pt idx="24">
                  <c:v>2.3050205241553523</c:v>
                </c:pt>
                <c:pt idx="25">
                  <c:v>2.841806125670982</c:v>
                </c:pt>
                <c:pt idx="26">
                  <c:v>3.315440479949479</c:v>
                </c:pt>
                <c:pt idx="27">
                  <c:v>3.7890748342279763</c:v>
                </c:pt>
                <c:pt idx="28">
                  <c:v>4.231133564887907</c:v>
                </c:pt>
                <c:pt idx="29">
                  <c:v>4.83107041364067</c:v>
                </c:pt>
                <c:pt idx="30">
                  <c:v>5.494158509630565</c:v>
                </c:pt>
                <c:pt idx="31">
                  <c:v>6.694032207136091</c:v>
                </c:pt>
                <c:pt idx="32">
                  <c:v>7.32554467950742</c:v>
                </c:pt>
                <c:pt idx="33">
                  <c:v>8.272813388064414</c:v>
                </c:pt>
                <c:pt idx="34">
                  <c:v>9.472687085569941</c:v>
                </c:pt>
                <c:pt idx="35">
                  <c:v>10.704136406694033</c:v>
                </c:pt>
                <c:pt idx="36">
                  <c:v>11.777707609725292</c:v>
                </c:pt>
                <c:pt idx="37">
                  <c:v>13.640669403220715</c:v>
                </c:pt>
                <c:pt idx="38">
                  <c:v>15.061572466056205</c:v>
                </c:pt>
                <c:pt idx="39">
                  <c:v>16.45089990527313</c:v>
                </c:pt>
                <c:pt idx="40">
                  <c:v>17.871802968108618</c:v>
                </c:pt>
                <c:pt idx="41">
                  <c:v>19.608462267129774</c:v>
                </c:pt>
                <c:pt idx="42">
                  <c:v>21.787180296810863</c:v>
                </c:pt>
                <c:pt idx="43">
                  <c:v>23.997473950110514</c:v>
                </c:pt>
                <c:pt idx="44">
                  <c:v>26.176191979791604</c:v>
                </c:pt>
                <c:pt idx="45">
                  <c:v>28.639090622039788</c:v>
                </c:pt>
                <c:pt idx="46">
                  <c:v>30.849384275339435</c:v>
                </c:pt>
                <c:pt idx="47">
                  <c:v>33.72276602462899</c:v>
                </c:pt>
                <c:pt idx="48">
                  <c:v>36.627723397537096</c:v>
                </c:pt>
                <c:pt idx="49">
                  <c:v>39.46952952320809</c:v>
                </c:pt>
                <c:pt idx="50">
                  <c:v>41.93242816545627</c:v>
                </c:pt>
              </c:numCache>
            </c:numRef>
          </c:yVal>
          <c:smooth val="0"/>
        </c:ser>
        <c:ser>
          <c:idx val="1"/>
          <c:order val="1"/>
          <c:tx>
            <c:strRef>
              <c:f>Sheet1!$B$54</c:f>
              <c:strCache>
                <c:ptCount val="1"/>
                <c:pt idx="0">
                  <c:v>Trừ lỗi biên</c:v>
                </c:pt>
              </c:strCache>
            </c:strRef>
          </c:tx>
          <c:spPr>
            <a:ln w="31750">
              <a:solidFill>
                <a:srgbClr val="0E7C7B"/>
              </a:solidFill>
              <a:prstDash val="dash"/>
            </a:ln>
          </c:spPr>
          <c:marker>
            <c:symbol val="none"/>
          </c:marker>
          <c:xVal>
            <c:numRef>
              <c:f>Sheet1!$A$55:$A$105</c:f>
              <c:numCache>
                <c:formatCode>General</c:formatCode>
                <c:ptCount val="51"/>
                <c:pt idx="0">
                  <c:v>47.7599671187834</c:v>
                </c:pt>
                <c:pt idx="1">
                  <c:v>46.526921496095355</c:v>
                </c:pt>
                <c:pt idx="2">
                  <c:v>44.8006576243321</c:v>
                </c:pt>
                <c:pt idx="3">
                  <c:v>43.855322646937935</c:v>
                </c:pt>
                <c:pt idx="4">
                  <c:v>42.745581586518696</c:v>
                </c:pt>
                <c:pt idx="5">
                  <c:v>41.75914508836827</c:v>
                </c:pt>
                <c:pt idx="6">
                  <c:v>40.197287299630084</c:v>
                </c:pt>
                <c:pt idx="7">
                  <c:v>38.59432799013563</c:v>
                </c:pt>
                <c:pt idx="8">
                  <c:v>37.731196054254006</c:v>
                </c:pt>
                <c:pt idx="9">
                  <c:v>36.16933826551582</c:v>
                </c:pt>
                <c:pt idx="10">
                  <c:v>35.182901767365394</c:v>
                </c:pt>
                <c:pt idx="11">
                  <c:v>34.1553637484587</c:v>
                </c:pt>
                <c:pt idx="12">
                  <c:v>33.004521167283194</c:v>
                </c:pt>
                <c:pt idx="13">
                  <c:v>31.648170982326345</c:v>
                </c:pt>
                <c:pt idx="14">
                  <c:v>30.579531442663377</c:v>
                </c:pt>
                <c:pt idx="15">
                  <c:v>29.510891903000413</c:v>
                </c:pt>
                <c:pt idx="16">
                  <c:v>28.277846280312374</c:v>
                </c:pt>
                <c:pt idx="17">
                  <c:v>27.209206740649407</c:v>
                </c:pt>
                <c:pt idx="18">
                  <c:v>25.893958076448833</c:v>
                </c:pt>
                <c:pt idx="19">
                  <c:v>24.86642005754213</c:v>
                </c:pt>
                <c:pt idx="20">
                  <c:v>23.304562268803945</c:v>
                </c:pt>
                <c:pt idx="21">
                  <c:v>22.112618166872174</c:v>
                </c:pt>
                <c:pt idx="22">
                  <c:v>21.372790793259348</c:v>
                </c:pt>
                <c:pt idx="23">
                  <c:v>19.482120838471022</c:v>
                </c:pt>
                <c:pt idx="24">
                  <c:v>18.372379778051787</c:v>
                </c:pt>
                <c:pt idx="25">
                  <c:v>17.09823263460748</c:v>
                </c:pt>
                <c:pt idx="26">
                  <c:v>16.48170982326346</c:v>
                </c:pt>
                <c:pt idx="27">
                  <c:v>15.125359638306618</c:v>
                </c:pt>
                <c:pt idx="28">
                  <c:v>12.946979038224416</c:v>
                </c:pt>
                <c:pt idx="29">
                  <c:v>11.056309083436087</c:v>
                </c:pt>
                <c:pt idx="30">
                  <c:v>9.946568023016852</c:v>
                </c:pt>
                <c:pt idx="31">
                  <c:v>8.96013152486642</c:v>
                </c:pt>
                <c:pt idx="32">
                  <c:v>7.603781339909577</c:v>
                </c:pt>
                <c:pt idx="33">
                  <c:v>6.987258528565557</c:v>
                </c:pt>
                <c:pt idx="34">
                  <c:v>6.12412659268393</c:v>
                </c:pt>
                <c:pt idx="35">
                  <c:v>5.260994656802302</c:v>
                </c:pt>
                <c:pt idx="36">
                  <c:v>4.521167283189477</c:v>
                </c:pt>
                <c:pt idx="37">
                  <c:v>4.069050554870531</c:v>
                </c:pt>
                <c:pt idx="38">
                  <c:v>3.3292231812577064</c:v>
                </c:pt>
                <c:pt idx="39">
                  <c:v>2.424989724619811</c:v>
                </c:pt>
                <c:pt idx="40">
                  <c:v>2.013974517057131</c:v>
                </c:pt>
                <c:pt idx="41">
                  <c:v>1.3152486642005754</c:v>
                </c:pt>
                <c:pt idx="42">
                  <c:v>1.0686395396629675</c:v>
                </c:pt>
                <c:pt idx="43">
                  <c:v>0.6576243321002877</c:v>
                </c:pt>
                <c:pt idx="44">
                  <c:v>0.6576243321002877</c:v>
                </c:pt>
                <c:pt idx="45">
                  <c:v>0.5754212905877518</c:v>
                </c:pt>
                <c:pt idx="46">
                  <c:v>0.4932182490752158</c:v>
                </c:pt>
                <c:pt idx="47">
                  <c:v>0.36991368680641185</c:v>
                </c:pt>
                <c:pt idx="48">
                  <c:v>0.2</c:v>
                </c:pt>
                <c:pt idx="49">
                  <c:v>0.2</c:v>
                </c:pt>
                <c:pt idx="50">
                  <c:v>0.2</c:v>
                </c:pt>
              </c:numCache>
            </c:numRef>
          </c:xVal>
          <c:yVal>
            <c:numRef>
              <c:f>Sheet1!$B$55:$B$105</c:f>
              <c:numCache>
                <c:formatCode>General</c:formatCode>
                <c:ptCount val="51"/>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0.12630249447426586</c:v>
                </c:pt>
                <c:pt idx="18">
                  <c:v>0.12630249447426586</c:v>
                </c:pt>
                <c:pt idx="19">
                  <c:v>0.12630249447426586</c:v>
                </c:pt>
                <c:pt idx="20">
                  <c:v>0.15787811809283234</c:v>
                </c:pt>
                <c:pt idx="21">
                  <c:v>0.15787811809283234</c:v>
                </c:pt>
                <c:pt idx="22">
                  <c:v>0.34733185980423115</c:v>
                </c:pt>
                <c:pt idx="23">
                  <c:v>0.5367856015156299</c:v>
                </c:pt>
                <c:pt idx="24">
                  <c:v>0.5999368487527629</c:v>
                </c:pt>
                <c:pt idx="25">
                  <c:v>0.884117461319861</c:v>
                </c:pt>
                <c:pt idx="26">
                  <c:v>1.1051468266498263</c:v>
                </c:pt>
                <c:pt idx="27">
                  <c:v>1.2946005683612252</c:v>
                </c:pt>
                <c:pt idx="28">
                  <c:v>1.4524786864540573</c:v>
                </c:pt>
                <c:pt idx="29">
                  <c:v>1.831386169876855</c:v>
                </c:pt>
                <c:pt idx="30">
                  <c:v>2.0524155352068205</c:v>
                </c:pt>
                <c:pt idx="31">
                  <c:v>2.5576255131038836</c:v>
                </c:pt>
                <c:pt idx="32">
                  <c:v>2.841806125670982</c:v>
                </c:pt>
                <c:pt idx="33">
                  <c:v>3.2838648563309127</c:v>
                </c:pt>
                <c:pt idx="34">
                  <c:v>3.9153773287022418</c:v>
                </c:pt>
                <c:pt idx="35">
                  <c:v>4.515314177455005</c:v>
                </c:pt>
                <c:pt idx="36">
                  <c:v>5.241553520682034</c:v>
                </c:pt>
                <c:pt idx="37">
                  <c:v>6.5677297126618255</c:v>
                </c:pt>
                <c:pt idx="38">
                  <c:v>7.32554467950742</c:v>
                </c:pt>
                <c:pt idx="39">
                  <c:v>8.083359646353015</c:v>
                </c:pt>
                <c:pt idx="40">
                  <c:v>9.03062835491001</c:v>
                </c:pt>
                <c:pt idx="41">
                  <c:v>10.167350805178401</c:v>
                </c:pt>
                <c:pt idx="42">
                  <c:v>11.935585727818124</c:v>
                </c:pt>
                <c:pt idx="43">
                  <c:v>13.514366908746448</c:v>
                </c:pt>
                <c:pt idx="44">
                  <c:v>15.345753078623304</c:v>
                </c:pt>
                <c:pt idx="45">
                  <c:v>17.303441742974424</c:v>
                </c:pt>
                <c:pt idx="46">
                  <c:v>18.945374171139882</c:v>
                </c:pt>
                <c:pt idx="47">
                  <c:v>21.218819071676663</c:v>
                </c:pt>
                <c:pt idx="48">
                  <c:v>23.49226397221345</c:v>
                </c:pt>
                <c:pt idx="49">
                  <c:v>25.892011367224505</c:v>
                </c:pt>
                <c:pt idx="50">
                  <c:v>27.723397537101356</c:v>
                </c:pt>
              </c:numCache>
            </c:numRef>
          </c:yVal>
          <c:smooth val="0"/>
        </c:ser>
        <c:ser>
          <c:idx val="2"/>
          <c:order val="2"/>
          <c:tx>
            <c:strRef>
              <c:f>Sheet1!$B$107</c:f>
              <c:strCache>
                <c:ptCount val="1"/>
                <c:pt idx="0">
                  <c:v>Vùng đạt</c:v>
                </c:pt>
              </c:strCache>
            </c:strRef>
          </c:tx>
          <c:spPr>
            <a:ln w="22225">
              <a:solidFill>
                <a:srgbClr val="1E8E3E"/>
              </a:solidFill>
              <a:prstDash val="sysDash"/>
            </a:ln>
          </c:spPr>
          <c:marker>
            <c:symbol val="none"/>
          </c:marker>
          <c:dLbls>
            <c:dLbl>
              <c:idx val="3"/>
              <c:tx>
                <c:rich>
                  <a:bodyPr/>
                  <a:lstStyle/>
                  <a:p>
                    <a:r>
                      <a:rPr sz="1100" b="1">
                        <a:solidFill>
                          <a:srgbClr val="1E8E3E"/>
                        </a:solidFill>
                        <a:latin typeface="Calibri"/>
                      </a:rPr>
                      <a:t>Vùng đạt</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Sheet1!$A$108:$A$112</c:f>
              <c:numCache>
                <c:formatCode>General</c:formatCode>
                <c:ptCount val="5"/>
                <c:pt idx="0">
                  <c:v>0.2</c:v>
                </c:pt>
                <c:pt idx="1">
                  <c:v>8</c:v>
                </c:pt>
                <c:pt idx="2">
                  <c:v>8</c:v>
                </c:pt>
                <c:pt idx="3">
                  <c:v>0.2</c:v>
                </c:pt>
                <c:pt idx="4">
                  <c:v>0.2</c:v>
                </c:pt>
              </c:numCache>
            </c:numRef>
          </c:xVal>
          <c:yVal>
            <c:numRef>
              <c:f>Sheet1!$B$108:$B$112</c:f>
              <c:numCache>
                <c:formatCode>General</c:formatCode>
                <c:ptCount val="5"/>
                <c:pt idx="0">
                  <c:v>0.1</c:v>
                </c:pt>
                <c:pt idx="1">
                  <c:v>0.1</c:v>
                </c:pt>
                <c:pt idx="2">
                  <c:v>3</c:v>
                </c:pt>
                <c:pt idx="3">
                  <c:v>3</c:v>
                </c:pt>
                <c:pt idx="4">
                  <c:v>0.1</c:v>
                </c:pt>
              </c:numCache>
            </c:numRef>
          </c:yVal>
          <c:smooth val="0"/>
        </c:ser>
        <c:ser>
          <c:idx val="3"/>
          <c:order val="3"/>
          <c:tx>
            <c:strRef>
              <c:f>Sheet1!$B$114</c:f>
              <c:strCache>
                <c:ptCount val="1"/>
                <c:pt idx="0">
                  <c:v>Ngưỡng</c:v>
                </c:pt>
              </c:strCache>
            </c:strRef>
          </c:tx>
          <c:spPr>
            <a:ln>
              <a:noFill/>
            </a:ln>
          </c:spPr>
          <c:marker>
            <c:symbol val="circle"/>
            <c:size val="11"/>
            <c:spPr>
              <a:solidFill>
                <a:srgbClr val="2A78D6"/>
              </a:solidFill>
              <a:ln w="19050">
                <a:solidFill>
                  <a:srgbClr val="FFFFFF"/>
                </a:solidFill>
              </a:ln>
            </c:spPr>
          </c:marker>
          <c:dLbls>
            <c:dLbl>
              <c:idx val="0"/>
              <c:tx>
                <c:rich>
                  <a:bodyPr/>
                  <a:lstStyle/>
                  <a:p>
                    <a:r>
                      <a:rPr sz="1100" b="1">
                        <a:solidFill>
                          <a:srgbClr val="2A78D6"/>
                        </a:solidFill>
                        <a:latin typeface="Calibri"/>
                      </a:rPr>
                      <a:t>t = 0,45</a:t>
                    </a:r>
                  </a:p>
                </c:rich>
              </c:tx>
              <c:dLblPos val="r"/>
              <c:showLegendKey val="0"/>
              <c:showVal val="1"/>
              <c:showCatName val="0"/>
              <c:showSerName val="0"/>
              <c:showPercent val="0"/>
              <c:showBubbleSize val="0"/>
            </c:dLbl>
            <c:dLbl>
              <c:idx val="1"/>
              <c:tx>
                <c:rich>
                  <a:bodyPr/>
                  <a:lstStyle/>
                  <a:p>
                    <a:r>
                      <a:rPr sz="1100" b="1">
                        <a:solidFill>
                          <a:srgbClr val="2A78D6"/>
                        </a:solidFill>
                        <a:latin typeface="Calibri"/>
                      </a:rPr>
                      <a:t>t = 0,55</a:t>
                    </a:r>
                  </a:p>
                </c:rich>
              </c:tx>
              <c:dLblPos val="r"/>
              <c:showLegendKey val="0"/>
              <c:showVal val="1"/>
              <c:showCatName val="0"/>
              <c:showSerName val="0"/>
              <c:showPercent val="0"/>
              <c:showBubbleSize val="0"/>
            </c:dLbl>
            <c:dLbl>
              <c:idx val="2"/>
              <c:tx>
                <c:rich>
                  <a:bodyPr/>
                  <a:lstStyle/>
                  <a:p>
                    <a:r>
                      <a:rPr sz="1100" b="1">
                        <a:solidFill>
                          <a:srgbClr val="2A78D6"/>
                        </a:solidFill>
                        <a:latin typeface="Calibri"/>
                      </a:rPr>
                      <a:t>t = 0,65</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Sheet1!$A$115:$A$117</c:f>
              <c:numCache>
                <c:formatCode>General</c:formatCode>
                <c:ptCount val="3"/>
                <c:pt idx="0">
                  <c:v>34.07316070694616</c:v>
                </c:pt>
                <c:pt idx="1">
                  <c:v>15.741882449650637</c:v>
                </c:pt>
                <c:pt idx="2">
                  <c:v>3.6991368680641186</c:v>
                </c:pt>
              </c:numCache>
            </c:numRef>
          </c:xVal>
          <c:yVal>
            <c:numRef>
              <c:f>Sheet1!$B$115:$B$117</c:f>
              <c:numCache>
                <c:formatCode>General</c:formatCode>
                <c:ptCount val="3"/>
                <c:pt idx="0">
                  <c:v>0.9156930849384275</c:v>
                </c:pt>
                <c:pt idx="1">
                  <c:v>5.494158509630565</c:v>
                </c:pt>
                <c:pt idx="2">
                  <c:v>17.871802968108618</c:v>
                </c:pt>
              </c:numCache>
            </c:numRef>
          </c:yVal>
          <c:smooth val="0"/>
        </c:ser>
        <c:ser>
          <c:idx val="4"/>
          <c:order val="4"/>
          <c:tx>
            <c:strRef>
              <c:f>Sheet1!$B$119</c:f>
              <c:strCache>
                <c:ptCount val="1"/>
                <c:pt idx="0">
                  <c:v>Ngưỡng trừ biên</c:v>
                </c:pt>
              </c:strCache>
            </c:strRef>
          </c:tx>
          <c:spPr>
            <a:ln>
              <a:noFill/>
            </a:ln>
          </c:spPr>
          <c:marker>
            <c:symbol val="circle"/>
            <c:size val="11"/>
            <c:spPr>
              <a:solidFill>
                <a:srgbClr val="0E7C7B"/>
              </a:solidFill>
              <a:ln w="19050">
                <a:solidFill>
                  <a:srgbClr val="FFFFFF"/>
                </a:solidFill>
              </a:ln>
            </c:spPr>
          </c:marker>
          <c:dLbls>
            <c:dLbl>
              <c:idx val="0"/>
              <c:tx>
                <c:rich>
                  <a:bodyPr/>
                  <a:lstStyle/>
                  <a:p>
                    <a:r>
                      <a:rPr sz="1100" b="1">
                        <a:solidFill>
                          <a:srgbClr val="0A5C5B"/>
                        </a:solidFill>
                        <a:latin typeface="Calibri"/>
                      </a:rPr>
                      <a:t>t = 0,57</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Sheet1!$A$120:$A$120</c:f>
              <c:numCache>
                <c:formatCode>General</c:formatCode>
                <c:ptCount val="1"/>
                <c:pt idx="0">
                  <c:v>7.603781339909577</c:v>
                </c:pt>
              </c:numCache>
            </c:numRef>
          </c:xVal>
          <c:yVal>
            <c:numRef>
              <c:f>Sheet1!$B$120:$B$120</c:f>
              <c:numCache>
                <c:formatCode>General</c:formatCode>
                <c:ptCount val="1"/>
                <c:pt idx="0">
                  <c:v>2.841806125670982</c:v>
                </c:pt>
              </c:numCache>
            </c:numRef>
          </c:yVal>
          <c:smooth val="0"/>
        </c:ser>
        <c:axId val="-2128940872"/>
        <c:axId val="-2129643912"/>
      </c:scatterChart>
      <c:valAx>
        <c:axId val="-2128940872"/>
        <c:scaling>
          <c:logBase val="10"/>
          <c:orientation val="minMax"/>
          <c:max val="100.0"/>
          <c:min val="0.2"/>
        </c:scaling>
        <c:delete val="0"/>
        <c:axPos val="b"/>
        <c:majorGridlines>
          <c:spPr>
            <a:ln w="9525">
              <a:solidFill>
                <a:srgbClr val="E8EBEF"/>
              </a:solidFill>
            </a:ln>
          </c:spPr>
        </c:majorGridlines>
        <c:title>
          <c:tx>
            <c:rich>
              <a:bodyPr/>
              <a:lstStyle/>
              <a:p>
                <a:r>
                  <a:rPr sz="1100" b="0">
                    <a:solidFill>
                      <a:srgbClr val="5B6472"/>
                    </a:solidFill>
                    <a:latin typeface="Calibri"/>
                  </a:rPr>
                  <a:t>FA rate (%, thang log)</a:t>
                </a:r>
              </a:p>
            </c:rich>
          </c:tx>
          <c:layout/>
          <c:overlay val="0"/>
        </c:title>
        <c:numFmt formatCode="0.#" sourceLinked="0"/>
        <c:majorTickMark val="out"/>
        <c:minorTickMark val="none"/>
        <c:tickLblPos val="nextTo"/>
        <c:spPr>
          <a:ln>
            <a:solidFill>
              <a:srgbClr val="DDE2E8"/>
            </a:solidFill>
          </a:ln>
        </c:spPr>
        <c:txPr>
          <a:bodyPr/>
          <a:lstStyle/>
          <a:p>
            <a:pPr>
              <a:defRPr sz="1100">
                <a:solidFill>
                  <a:srgbClr val="5B6472"/>
                </a:solidFill>
                <a:latin typeface="Calibri"/>
              </a:defRPr>
            </a:pPr>
          </a:p>
        </c:txPr>
        <c:crossAx val="-2129643912"/>
        <c:crosses val="autoZero"/>
        <c:crossBetween val="midCat"/>
      </c:valAx>
      <c:valAx>
        <c:axId val="-2129643912"/>
        <c:scaling>
          <c:logBase val="10"/>
          <c:orientation val="minMax"/>
          <c:max val="50.0"/>
          <c:min val="0.1"/>
        </c:scaling>
        <c:delete val="0"/>
        <c:axPos val="l"/>
        <c:majorGridlines>
          <c:spPr>
            <a:ln w="9525">
              <a:solidFill>
                <a:srgbClr val="E8EBEF"/>
              </a:solidFill>
            </a:ln>
          </c:spPr>
        </c:majorGridlines>
        <c:title>
          <c:tx>
            <c:rich>
              <a:bodyPr/>
              <a:lstStyle/>
              <a:p>
                <a:r>
                  <a:rPr sz="1100" b="0">
                    <a:solidFill>
                      <a:srgbClr val="5B6472"/>
                    </a:solidFill>
                    <a:latin typeface="Calibri"/>
                  </a:rPr>
                  <a:t>Miss rate (%, thang log)</a:t>
                </a:r>
              </a:p>
            </c:rich>
          </c:tx>
          <c:layout/>
          <c:overlay val="0"/>
        </c:title>
        <c:numFmt formatCode="0.#" sourceLinked="0"/>
        <c:majorTickMark val="out"/>
        <c:minorTickMark val="none"/>
        <c:tickLblPos val="nextTo"/>
        <c:spPr>
          <a:ln>
            <a:solidFill>
              <a:srgbClr val="DDE2E8"/>
            </a:solidFill>
          </a:ln>
        </c:spPr>
        <c:txPr>
          <a:bodyPr/>
          <a:lstStyle/>
          <a:p>
            <a:pPr>
              <a:defRPr sz="1100">
                <a:solidFill>
                  <a:srgbClr val="5B6472"/>
                </a:solidFill>
                <a:latin typeface="Calibri"/>
              </a:defRPr>
            </a:pPr>
          </a:p>
        </c:txPr>
        <c:crossAx val="-2128940872"/>
        <c:crosses val="autoZero"/>
        <c:crossBetween val="midCat"/>
      </c:valAx>
    </c:plotArea>
    <c:plotVisOnly val="1"/>
    <c:dispBlanksAs val="gap"/>
    <c:showDLblsOverMax val="0"/>
  </c:chart>
  <c:txPr>
    <a:bodyPr/>
    <a:lstStyle/>
    <a:p>
      <a:pPr>
        <a:defRPr sz="18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6"/>
          <c:y val="0.03"/>
          <c:w val="0.52"/>
          <c:h val="0.94"/>
        </c:manualLayout>
      </c:layout>
      <c:barChart>
        <c:barDir val="bar"/>
        <c:grouping val="clustered"/>
        <c:ser>
          <c:idx val="0"/>
          <c:order val="0"/>
          <c:tx>
            <c:strRef>
              <c:f>Sheet1!$B$1</c:f>
              <c:strCache>
                <c:ptCount val="1"/>
                <c:pt idx="0">
                  <c:v>Tỉ lệ lỗi</c:v>
                </c:pt>
              </c:strCache>
            </c:strRef>
          </c:tx>
          <c:dPt>
            <c:idx val="0"/>
            <c:spPr>
              <a:solidFill>
                <a:srgbClr val="A0A8B4"/>
              </a:solidFill>
            </c:spPr>
          </c:dPt>
          <c:dPt>
            <c:idx val="1"/>
            <c:spPr>
              <a:solidFill>
                <a:srgbClr val="A0A8B4"/>
              </a:solidFill>
            </c:spPr>
          </c:dPt>
          <c:dPt>
            <c:idx val="2"/>
            <c:spPr>
              <a:solidFill>
                <a:srgbClr val="A0A8B4"/>
              </a:solidFill>
            </c:spPr>
          </c:dPt>
          <c:dPt>
            <c:idx val="3"/>
            <c:spPr>
              <a:solidFill>
                <a:srgbClr val="A0A8B4"/>
              </a:solidFill>
            </c:spPr>
          </c:dPt>
          <c:dPt>
            <c:idx val="4"/>
            <c:spPr>
              <a:solidFill>
                <a:srgbClr val="D03B3B"/>
              </a:solidFill>
            </c:spPr>
          </c:dPt>
          <c:dPt>
            <c:idx val="5"/>
            <c:spPr>
              <a:solidFill>
                <a:srgbClr val="A0A8B4"/>
              </a:solidFill>
            </c:spPr>
          </c:dPt>
          <c:dPt>
            <c:idx val="6"/>
            <c:spPr>
              <a:solidFill>
                <a:srgbClr val="C98A00"/>
              </a:solidFill>
            </c:spPr>
          </c:dPt>
          <c:dPt>
            <c:idx val="7"/>
            <c:spPr>
              <a:solidFill>
                <a:srgbClr val="C98A00"/>
              </a:solidFill>
            </c:spPr>
          </c:dPt>
          <c:dPt>
            <c:idx val="8"/>
            <c:spPr>
              <a:solidFill>
                <a:srgbClr val="C98A00"/>
              </a:solidFill>
            </c:spPr>
          </c:dPt>
          <c:cat>
            <c:strRef>
              <c:f>Sheet1!$A$2:$A$10</c:f>
              <c:strCache>
                <c:ptCount val="9"/>
                <c:pt idx="0">
                  <c:v>Miss · Nói sạch</c:v>
                </c:pt>
                <c:pt idx="1">
                  <c:v>Miss · Hội thoại</c:v>
                </c:pt>
                <c:pt idx="2">
                  <c:v>Miss · Hát có nhạc đệm</c:v>
                </c:pt>
                <c:pt idx="3">
                  <c:v>Miss · Nói giữa đám đông</c:v>
                </c:pt>
                <c:pt idx="4">
                  <c:v>Miss · Nói + nhạc nền</c:v>
                </c:pt>
                <c:pt idx="5">
                  <c:v>FA · Nhạc dạo</c:v>
                </c:pt>
                <c:pt idx="6">
                  <c:v>FA · Nhạc cụ giống giọng</c:v>
                </c:pt>
                <c:pt idx="7">
                  <c:v>FA · Cười, ho, khóc</c:v>
                </c:pt>
                <c:pt idx="8">
                  <c:v>FA · Đám đông rì rầm</c:v>
                </c:pt>
              </c:strCache>
            </c:strRef>
          </c:cat>
          <c:val>
            <c:numRef>
              <c:f>Sheet1!$B$2:$B$10</c:f>
              <c:numCache>
                <c:formatCode>General</c:formatCode>
                <c:ptCount val="9"/>
                <c:pt idx="0">
                  <c:v>0</c:v>
                </c:pt>
                <c:pt idx="1">
                  <c:v>0</c:v>
                </c:pt>
                <c:pt idx="2">
                  <c:v>0.0022172949002217295</c:v>
                </c:pt>
                <c:pt idx="3">
                  <c:v>0.03553299492385787</c:v>
                </c:pt>
                <c:pt idx="4">
                  <c:v>0.18427518427518427</c:v>
                </c:pt>
                <c:pt idx="5">
                  <c:v>0.005649717514124294</c:v>
                </c:pt>
                <c:pt idx="6">
                  <c:v>0.16783216783216784</c:v>
                </c:pt>
                <c:pt idx="7">
                  <c:v>0.3402061855670103</c:v>
                </c:pt>
                <c:pt idx="8">
                  <c:v>0.34347826086956523</c:v>
                </c:pt>
              </c:numCache>
            </c:numRef>
          </c:val>
        </c:ser>
        <c:dLbls>
          <c:numFmt formatCode="0.0%" sourceLinked="0"/>
          <c:txPr>
            <a:bodyPr/>
            <a:lstStyle/>
            <a:p>
              <a:pPr>
                <a:defRPr sz="1200" b="1">
                  <a:solidFill>
                    <a:srgbClr val="16202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DE2E8"/>
            </a:solidFill>
          </a:ln>
        </c:spPr>
        <c:txPr>
          <a:bodyPr/>
          <a:lstStyle/>
          <a:p>
            <a:pPr>
              <a:defRPr sz="1200">
                <a:solidFill>
                  <a:srgbClr val="16202E"/>
                </a:solidFill>
                <a:latin typeface="Calibri"/>
              </a:defRPr>
            </a:pPr>
          </a:p>
        </c:txPr>
        <c:crossAx val="-2113994440"/>
        <c:crosses val="autoZero"/>
        <c:auto val="1"/>
        <c:lblAlgn val="ctr"/>
        <c:lblOffset val="100"/>
        <c:noMultiLvlLbl val="0"/>
      </c:catAx>
      <c:valAx>
        <c:axId val="-2113994440"/>
        <c:scaling>
          <c:max val="0.45"/>
          <c:min val="0.0"/>
        </c:scaling>
        <c:delete val="0"/>
        <c:axPos val="b"/>
        <c:majorTickMark val="out"/>
        <c:minorTickMark val="none"/>
        <c:tickLblPos val="none"/>
        <c:spPr>
          <a:ln>
            <a:noFill/>
          </a:ln>
        </c:spPr>
        <c:crossAx val="-2068027336"/>
        <c:crosses val="autoZero"/>
      </c:valAx>
    </c:plotArea>
    <c:dispBlanksAs val="gap"/>
  </c:chart>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phần: bài toán và bối cảnh, cách đánh giá và tiêu chí thành công, xây dựng dữ liệu, các thử nghiệm, và kế hoạch tối ưu.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hiện tại xử lý offline cả file, đầu vào thực tế khoảng 10 s. Con số AUC hiện có là trên dữ liệu thiết kế nên chưa nói được gì về dữ liệu thật. Câu hỏi về mục đích dùng đầu ra cần trả lời trước khi chốt ngưỡng Miss/FA.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quyết định gán nhãn đều suy ra từ một tiêu chí: có giọng người nổi bật và theo dõi được. Ngâm nga không có lời nhưng vẫn là một giọng theo dõi được. Đám đông rì rầm có giọng người nhưng không theo dõi được giọng nào. Mốc biên: bắt đầu ở âm đầu tiên nghe được, kết thúc ở âm cuối; không tính hơi thở trước câu.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Góc dưới trái là các mô hình nhỏ chuyên VAD. YAMNet lệch hẳn sang phải: mỗi embedding nhìn 0,96 s âm thanh. Hop 0,08 s trong pipeline làm lưới thời gian dày hơn, nhưng mỗi quyết định vẫn trải trên gần 1 giây.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hát được tính là speech, cặp khó nói và hát biến mất. Ranh giới khó chuyển sang hai phía: giọng thật bị nhạc hoặc đám đông che (dễ miss) và các âm thanh giống giọng nhưng không phải speech theo định nghĩa (dễ FA). Mỗi nhóm cần một lát riêng trong tập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Tầng 1 để chọn model. Tầng 2 là con số người dùng trải nghiệm. Tầng 3 bắt lỗi biên do cửa sổ 0,96 s. Tầng 4 tránh việc trung bình che mất một loại âm thanh đang hỏng.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đầu: lấy khoảng 200 file ngẫu nhiên từ dữ liệu thật, gắn tag theo hai trục để ước lượng tỉ lệ thực tế. Sau đó bổ sung mẫu cho các ô quan trọng còn ít, ưu tiên dữ liệu thật trước dữ liệu trộn, đến khi CI của từng lát đủ hẹp.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Trần: nếu consensus và label2 chỉ khớp 95% thì đặt mục tiêu 99% là vô nghĩa. Lát tệ nhất được đo bằng Miss với lát positive (nói trên nhạc, hát, nói giữa đám đông) và FA với lát negative (đám đông rì rầm, nhạc cụ, cười/ho).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MUSDB18 có stem giọng hát và stem nhạc đệm tách riêng: stem giọng cho nhãn speech theo frame gần như tự động, stem nhạc đệm là negative "cùng bài" rất khó. Ngưỡng tỉ lệ giọng/nhạc đệm để gán speech nên hiệu chỉnh bằng phép thử nghe với 2–3 người.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Thứ tự trong bảng không phải thứ tự thực hiện: E0 và E1 trước, sau đó E2 và E4, cuối cùng E3, E5, E6. Mỗi thử nghiệm ghi rõ giả thuyết trước khi chạy để tránh diễn giải sau.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chung, không ngưỡng nào vào ô xanh. Bỏ các frame sai trong ±200 ms quanh biên, ngưỡng 0,57 lọt vào vùng đạt về tổng thể. Slide 13 cho thấy ở chính ngưỡng này, bốn lát vẫn trượt.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một file, hai cách tô. Đoạn đám đông rì rầm (màu cam nhạt ở hàng GT) bị dự đoán là speech: đó là lỗi phân loại thật, không mất đi khi tách biên. Phần xám mới là lỗi do cửa sổ dài và nhãn 0,5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lý do scorecard phải có tiêu chí "lát tệ nhất": con số tổng ở ngưỡng 0,57 đạt, nhưng đám đông rì rầm và cười/ho bị báo nhầm khoảng một phần ba thời lượng, còn lời nói trên nền nhạc bị bỏ sót gần một phần năm. Hát không còn là vấn đề sau khi được tính là speech.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thay đổi chỉ được merge khi qua cổng. Làm như vậy để tránh tối ưu con số tổng mà làm hỏng một loại âm thanh, và để hiệu năng trên thiết bị không bị trôi dần sau nhiều lần cải tiến.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Tuần 1 quan trọng nhất: nếu nhãn cũ chưa theo định nghĩa mới (hát, đám đông, cười/ho) thì mọi con số sau đó đều lệch.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31520" y="1005840"/>
            <a:ext cx="10515600" cy="365760"/>
          </a:xfrm>
          <a:prstGeom prst="rect">
            <a:avLst/>
          </a:prstGeom>
          <a:noFill/>
        </p:spPr>
        <p:txBody>
          <a:bodyPr wrap="square" lIns="0" rIns="0" tIns="0" bIns="0" anchor="t">
            <a:spAutoFit/>
          </a:bodyPr>
          <a:lstStyle/>
          <a:p>
            <a:pPr algn="l">
              <a:spcAft>
                <a:spcPts val="0"/>
              </a:spcAft>
            </a:pPr>
            <a:r>
              <a:rPr sz="1400" b="1" i="0">
                <a:solidFill>
                  <a:srgbClr val="8FD3D1"/>
                </a:solidFill>
                <a:latin typeface="Calibri"/>
              </a:rPr>
              <a:t>Dự án VAD · YAMNet transfer learning</a:t>
            </a:r>
          </a:p>
        </p:txBody>
      </p:sp>
      <p:sp>
        <p:nvSpPr>
          <p:cNvPr id="4" name="TextBox 3"/>
          <p:cNvSpPr txBox="1"/>
          <p:nvPr/>
        </p:nvSpPr>
        <p:spPr>
          <a:xfrm>
            <a:off x="731520" y="1417320"/>
            <a:ext cx="10515600" cy="1463040"/>
          </a:xfrm>
          <a:prstGeom prst="rect">
            <a:avLst/>
          </a:prstGeom>
          <a:noFill/>
        </p:spPr>
        <p:txBody>
          <a:bodyPr wrap="square" lIns="0" rIns="0" tIns="0" bIns="0" anchor="t">
            <a:spAutoFit/>
          </a:bodyPr>
          <a:lstStyle/>
          <a:p>
            <a:pPr algn="l">
              <a:spcAft>
                <a:spcPts val="0"/>
              </a:spcAft>
            </a:pPr>
            <a:r>
              <a:rPr sz="4600" b="1" i="0">
                <a:solidFill>
                  <a:srgbClr val="FFFFFF"/>
                </a:solidFill>
                <a:latin typeface="Cambria"/>
              </a:rPr>
              <a:t>Phát hiện giọng người (VAD)</a:t>
            </a:r>
          </a:p>
        </p:txBody>
      </p:sp>
      <p:sp>
        <p:nvSpPr>
          <p:cNvPr id="5" name="TextBox 4"/>
          <p:cNvSpPr txBox="1"/>
          <p:nvPr/>
        </p:nvSpPr>
        <p:spPr>
          <a:xfrm>
            <a:off x="731520" y="2286000"/>
            <a:ext cx="10058400" cy="914400"/>
          </a:xfrm>
          <a:prstGeom prst="rect">
            <a:avLst/>
          </a:prstGeom>
          <a:noFill/>
        </p:spPr>
        <p:txBody>
          <a:bodyPr wrap="square" lIns="0" rIns="0" tIns="0" bIns="0" anchor="t">
            <a:spAutoFit/>
          </a:bodyPr>
          <a:lstStyle/>
          <a:p>
            <a:pPr algn="l">
              <a:spcAft>
                <a:spcPts val="0"/>
              </a:spcAft>
            </a:pPr>
            <a:r>
              <a:rPr sz="2000" b="0" i="0">
                <a:solidFill>
                  <a:srgbClr val="C9D3E0"/>
                </a:solidFill>
                <a:latin typeface="Calibri"/>
              </a:rPr>
              <a:t>Bài toán, đánh giá, dữ liệu, thử nghiệm và kế hoạch tối ưu cho VAD chạy trên thiết bị</a:t>
            </a:r>
          </a:p>
        </p:txBody>
      </p:sp>
      <p:sp>
        <p:nvSpPr>
          <p:cNvPr id="6" name="Rounded Rectangle 5"/>
          <p:cNvSpPr/>
          <p:nvPr/>
        </p:nvSpPr>
        <p:spPr>
          <a:xfrm>
            <a:off x="731520" y="4817750"/>
            <a:ext cx="109728" cy="148579"/>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Rounded Rectangle 6"/>
          <p:cNvSpPr/>
          <p:nvPr/>
        </p:nvSpPr>
        <p:spPr>
          <a:xfrm>
            <a:off x="896112" y="4828685"/>
            <a:ext cx="109728" cy="126708"/>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8" name="Rounded Rectangle 7"/>
          <p:cNvSpPr/>
          <p:nvPr/>
        </p:nvSpPr>
        <p:spPr>
          <a:xfrm>
            <a:off x="1060704" y="4804581"/>
            <a:ext cx="109728" cy="174916"/>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Rounded Rectangle 8"/>
          <p:cNvSpPr/>
          <p:nvPr/>
        </p:nvSpPr>
        <p:spPr>
          <a:xfrm>
            <a:off x="1225295" y="4824422"/>
            <a:ext cx="109728" cy="135235"/>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Rounded Rectangle 9"/>
          <p:cNvSpPr/>
          <p:nvPr/>
        </p:nvSpPr>
        <p:spPr>
          <a:xfrm>
            <a:off x="1389887" y="4831702"/>
            <a:ext cx="109728" cy="120675"/>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Rounded Rectangle 10"/>
          <p:cNvSpPr/>
          <p:nvPr/>
        </p:nvSpPr>
        <p:spPr>
          <a:xfrm>
            <a:off x="1554479" y="4804126"/>
            <a:ext cx="109728" cy="175826"/>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Rounded Rectangle 11"/>
          <p:cNvSpPr/>
          <p:nvPr/>
        </p:nvSpPr>
        <p:spPr>
          <a:xfrm>
            <a:off x="1719071" y="4761631"/>
            <a:ext cx="109728" cy="260816"/>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Rounded Rectangle 12"/>
          <p:cNvSpPr/>
          <p:nvPr/>
        </p:nvSpPr>
        <p:spPr>
          <a:xfrm>
            <a:off x="1883663" y="4771301"/>
            <a:ext cx="109728" cy="241476"/>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Rounded Rectangle 13"/>
          <p:cNvSpPr/>
          <p:nvPr/>
        </p:nvSpPr>
        <p:spPr>
          <a:xfrm>
            <a:off x="2048255" y="4360166"/>
            <a:ext cx="109728" cy="1063747"/>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Rounded Rectangle 14"/>
          <p:cNvSpPr/>
          <p:nvPr/>
        </p:nvSpPr>
        <p:spPr>
          <a:xfrm>
            <a:off x="2212848" y="4193956"/>
            <a:ext cx="109728" cy="139616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Rounded Rectangle 15"/>
          <p:cNvSpPr/>
          <p:nvPr/>
        </p:nvSpPr>
        <p:spPr>
          <a:xfrm>
            <a:off x="2377440" y="4276620"/>
            <a:ext cx="109728" cy="1230838"/>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Rounded Rectangle 16"/>
          <p:cNvSpPr/>
          <p:nvPr/>
        </p:nvSpPr>
        <p:spPr>
          <a:xfrm>
            <a:off x="2542032" y="4549170"/>
            <a:ext cx="109728" cy="685739"/>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Rounded Rectangle 17"/>
          <p:cNvSpPr/>
          <p:nvPr/>
        </p:nvSpPr>
        <p:spPr>
          <a:xfrm>
            <a:off x="2706624" y="4061151"/>
            <a:ext cx="109728" cy="1661777"/>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9" name="Rounded Rectangle 18"/>
          <p:cNvSpPr/>
          <p:nvPr/>
        </p:nvSpPr>
        <p:spPr>
          <a:xfrm>
            <a:off x="2871216" y="4296883"/>
            <a:ext cx="109728" cy="1190312"/>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Rounded Rectangle 19"/>
          <p:cNvSpPr/>
          <p:nvPr/>
        </p:nvSpPr>
        <p:spPr>
          <a:xfrm>
            <a:off x="3035808" y="4371563"/>
            <a:ext cx="109728" cy="1040953"/>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Rounded Rectangle 20"/>
          <p:cNvSpPr/>
          <p:nvPr/>
        </p:nvSpPr>
        <p:spPr>
          <a:xfrm>
            <a:off x="3200400" y="4240169"/>
            <a:ext cx="109728" cy="1303741"/>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Rounded Rectangle 21"/>
          <p:cNvSpPr/>
          <p:nvPr/>
        </p:nvSpPr>
        <p:spPr>
          <a:xfrm>
            <a:off x="3364992" y="4256687"/>
            <a:ext cx="109728" cy="127070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Rounded Rectangle 22"/>
          <p:cNvSpPr/>
          <p:nvPr/>
        </p:nvSpPr>
        <p:spPr>
          <a:xfrm>
            <a:off x="3529584" y="4290662"/>
            <a:ext cx="109728" cy="1202754"/>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Rounded Rectangle 23"/>
          <p:cNvSpPr/>
          <p:nvPr/>
        </p:nvSpPr>
        <p:spPr>
          <a:xfrm>
            <a:off x="3694176" y="4669351"/>
            <a:ext cx="109728" cy="44537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Rounded Rectangle 24"/>
          <p:cNvSpPr/>
          <p:nvPr/>
        </p:nvSpPr>
        <p:spPr>
          <a:xfrm>
            <a:off x="3858768" y="4331198"/>
            <a:ext cx="109728" cy="1121682"/>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Rounded Rectangle 25"/>
          <p:cNvSpPr/>
          <p:nvPr/>
        </p:nvSpPr>
        <p:spPr>
          <a:xfrm>
            <a:off x="4023360" y="4197562"/>
            <a:ext cx="109728" cy="138895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Rounded Rectangle 26"/>
          <p:cNvSpPr/>
          <p:nvPr/>
        </p:nvSpPr>
        <p:spPr>
          <a:xfrm>
            <a:off x="4187952" y="4544091"/>
            <a:ext cx="109728" cy="695897"/>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Rounded Rectangle 27"/>
          <p:cNvSpPr/>
          <p:nvPr/>
        </p:nvSpPr>
        <p:spPr>
          <a:xfrm>
            <a:off x="4352544" y="4762379"/>
            <a:ext cx="109728" cy="259320"/>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Rounded Rectangle 28"/>
          <p:cNvSpPr/>
          <p:nvPr/>
        </p:nvSpPr>
        <p:spPr>
          <a:xfrm>
            <a:off x="4517136" y="4790072"/>
            <a:ext cx="109728" cy="203934"/>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Rounded Rectangle 29"/>
          <p:cNvSpPr/>
          <p:nvPr/>
        </p:nvSpPr>
        <p:spPr>
          <a:xfrm>
            <a:off x="4681727" y="4764564"/>
            <a:ext cx="109728" cy="254950"/>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1" name="Rounded Rectangle 30"/>
          <p:cNvSpPr/>
          <p:nvPr/>
        </p:nvSpPr>
        <p:spPr>
          <a:xfrm>
            <a:off x="4846319" y="4767385"/>
            <a:ext cx="109728" cy="249309"/>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2" name="Rounded Rectangle 31"/>
          <p:cNvSpPr/>
          <p:nvPr/>
        </p:nvSpPr>
        <p:spPr>
          <a:xfrm>
            <a:off x="5010911" y="4795338"/>
            <a:ext cx="109728" cy="193402"/>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3" name="Rounded Rectangle 32"/>
          <p:cNvSpPr/>
          <p:nvPr/>
        </p:nvSpPr>
        <p:spPr>
          <a:xfrm>
            <a:off x="5175503" y="4462129"/>
            <a:ext cx="109728" cy="859820"/>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4" name="Rounded Rectangle 33"/>
          <p:cNvSpPr/>
          <p:nvPr/>
        </p:nvSpPr>
        <p:spPr>
          <a:xfrm>
            <a:off x="5340095" y="4236948"/>
            <a:ext cx="109728" cy="1310182"/>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5" name="Rounded Rectangle 34"/>
          <p:cNvSpPr/>
          <p:nvPr/>
        </p:nvSpPr>
        <p:spPr>
          <a:xfrm>
            <a:off x="5504687" y="4126794"/>
            <a:ext cx="109728" cy="1530490"/>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Rounded Rectangle 35"/>
          <p:cNvSpPr/>
          <p:nvPr/>
        </p:nvSpPr>
        <p:spPr>
          <a:xfrm>
            <a:off x="5669279" y="4533647"/>
            <a:ext cx="109728" cy="71678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Rounded Rectangle 36"/>
          <p:cNvSpPr/>
          <p:nvPr/>
        </p:nvSpPr>
        <p:spPr>
          <a:xfrm>
            <a:off x="5833871" y="4248524"/>
            <a:ext cx="109728" cy="1287031"/>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Rounded Rectangle 37"/>
          <p:cNvSpPr/>
          <p:nvPr/>
        </p:nvSpPr>
        <p:spPr>
          <a:xfrm>
            <a:off x="5998463" y="4162046"/>
            <a:ext cx="109728" cy="145998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9" name="Rounded Rectangle 38"/>
          <p:cNvSpPr/>
          <p:nvPr/>
        </p:nvSpPr>
        <p:spPr>
          <a:xfrm>
            <a:off x="6163055" y="4333254"/>
            <a:ext cx="109728" cy="1117571"/>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0" name="Rounded Rectangle 39"/>
          <p:cNvSpPr/>
          <p:nvPr/>
        </p:nvSpPr>
        <p:spPr>
          <a:xfrm>
            <a:off x="6327647" y="4591178"/>
            <a:ext cx="109728" cy="601723"/>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Rounded Rectangle 40"/>
          <p:cNvSpPr/>
          <p:nvPr/>
        </p:nvSpPr>
        <p:spPr>
          <a:xfrm>
            <a:off x="6492239" y="4147605"/>
            <a:ext cx="109728" cy="1488868"/>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Rounded Rectangle 41"/>
          <p:cNvSpPr/>
          <p:nvPr/>
        </p:nvSpPr>
        <p:spPr>
          <a:xfrm>
            <a:off x="6656831" y="4238535"/>
            <a:ext cx="109728" cy="1307009"/>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3" name="Rounded Rectangle 42"/>
          <p:cNvSpPr/>
          <p:nvPr/>
        </p:nvSpPr>
        <p:spPr>
          <a:xfrm>
            <a:off x="6821423" y="4480559"/>
            <a:ext cx="109728" cy="822960"/>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4" name="Rounded Rectangle 43"/>
          <p:cNvSpPr/>
          <p:nvPr/>
        </p:nvSpPr>
        <p:spPr>
          <a:xfrm>
            <a:off x="6986015" y="4385687"/>
            <a:ext cx="109728" cy="1012705"/>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Rounded Rectangle 44"/>
          <p:cNvSpPr/>
          <p:nvPr/>
        </p:nvSpPr>
        <p:spPr>
          <a:xfrm>
            <a:off x="7150607" y="4258563"/>
            <a:ext cx="109728" cy="1266952"/>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6" name="Rounded Rectangle 45"/>
          <p:cNvSpPr/>
          <p:nvPr/>
        </p:nvSpPr>
        <p:spPr>
          <a:xfrm>
            <a:off x="7315199" y="4310223"/>
            <a:ext cx="109728" cy="1163633"/>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7" name="Rounded Rectangle 46"/>
          <p:cNvSpPr/>
          <p:nvPr/>
        </p:nvSpPr>
        <p:spPr>
          <a:xfrm>
            <a:off x="7479791" y="4454907"/>
            <a:ext cx="109728" cy="874265"/>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8" name="Rounded Rectangle 47"/>
          <p:cNvSpPr/>
          <p:nvPr/>
        </p:nvSpPr>
        <p:spPr>
          <a:xfrm>
            <a:off x="7644383" y="4452431"/>
            <a:ext cx="109728" cy="879217"/>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9" name="Rounded Rectangle 48"/>
          <p:cNvSpPr/>
          <p:nvPr/>
        </p:nvSpPr>
        <p:spPr>
          <a:xfrm>
            <a:off x="7808975" y="4306905"/>
            <a:ext cx="109728" cy="1170269"/>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0" name="Rounded Rectangle 49"/>
          <p:cNvSpPr/>
          <p:nvPr/>
        </p:nvSpPr>
        <p:spPr>
          <a:xfrm>
            <a:off x="7973567" y="4259912"/>
            <a:ext cx="109728" cy="1264255"/>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1" name="Rounded Rectangle 50"/>
          <p:cNvSpPr/>
          <p:nvPr/>
        </p:nvSpPr>
        <p:spPr>
          <a:xfrm>
            <a:off x="8138159" y="4389463"/>
            <a:ext cx="109728" cy="1005153"/>
          </a:xfrm>
          <a:prstGeom prst="roundRect">
            <a:avLst>
              <a:gd name="adj" fmla="val 50000"/>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Rounded Rectangle 51"/>
          <p:cNvSpPr/>
          <p:nvPr/>
        </p:nvSpPr>
        <p:spPr>
          <a:xfrm>
            <a:off x="8302751" y="4775705"/>
            <a:ext cx="109728" cy="232668"/>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3" name="Rounded Rectangle 52"/>
          <p:cNvSpPr/>
          <p:nvPr/>
        </p:nvSpPr>
        <p:spPr>
          <a:xfrm>
            <a:off x="8467343" y="4810786"/>
            <a:ext cx="109728" cy="162507"/>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4" name="Rounded Rectangle 53"/>
          <p:cNvSpPr/>
          <p:nvPr/>
        </p:nvSpPr>
        <p:spPr>
          <a:xfrm>
            <a:off x="8631935" y="4791211"/>
            <a:ext cx="109728" cy="201657"/>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5" name="Rounded Rectangle 54"/>
          <p:cNvSpPr/>
          <p:nvPr/>
        </p:nvSpPr>
        <p:spPr>
          <a:xfrm>
            <a:off x="8796527" y="4762754"/>
            <a:ext cx="109728" cy="258571"/>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6" name="Rounded Rectangle 55"/>
          <p:cNvSpPr/>
          <p:nvPr/>
        </p:nvSpPr>
        <p:spPr>
          <a:xfrm>
            <a:off x="8961119" y="4663096"/>
            <a:ext cx="109728" cy="45788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7" name="Rounded Rectangle 56"/>
          <p:cNvSpPr/>
          <p:nvPr/>
        </p:nvSpPr>
        <p:spPr>
          <a:xfrm>
            <a:off x="9125711" y="4110031"/>
            <a:ext cx="109728" cy="1564016"/>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8" name="Rounded Rectangle 57"/>
          <p:cNvSpPr/>
          <p:nvPr/>
        </p:nvSpPr>
        <p:spPr>
          <a:xfrm>
            <a:off x="9290303" y="4371592"/>
            <a:ext cx="109728" cy="104089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9" name="Rounded Rectangle 58"/>
          <p:cNvSpPr/>
          <p:nvPr/>
        </p:nvSpPr>
        <p:spPr>
          <a:xfrm>
            <a:off x="9454895" y="4655017"/>
            <a:ext cx="109728" cy="474044"/>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0" name="Rounded Rectangle 59"/>
          <p:cNvSpPr/>
          <p:nvPr/>
        </p:nvSpPr>
        <p:spPr>
          <a:xfrm>
            <a:off x="9619487" y="4350699"/>
            <a:ext cx="109728" cy="1082680"/>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1" name="Rounded Rectangle 60"/>
          <p:cNvSpPr/>
          <p:nvPr/>
        </p:nvSpPr>
        <p:spPr>
          <a:xfrm>
            <a:off x="9784079" y="4088911"/>
            <a:ext cx="109728" cy="1606257"/>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2" name="Rounded Rectangle 61"/>
          <p:cNvSpPr/>
          <p:nvPr/>
        </p:nvSpPr>
        <p:spPr>
          <a:xfrm>
            <a:off x="9948671" y="4662408"/>
            <a:ext cx="109728" cy="459262"/>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3" name="Rounded Rectangle 62"/>
          <p:cNvSpPr/>
          <p:nvPr/>
        </p:nvSpPr>
        <p:spPr>
          <a:xfrm>
            <a:off x="10113263" y="4341047"/>
            <a:ext cx="109728" cy="1101984"/>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4" name="Rounded Rectangle 63"/>
          <p:cNvSpPr/>
          <p:nvPr/>
        </p:nvSpPr>
        <p:spPr>
          <a:xfrm>
            <a:off x="10277855" y="4035117"/>
            <a:ext cx="109728" cy="1713845"/>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5" name="Rounded Rectangle 64"/>
          <p:cNvSpPr/>
          <p:nvPr/>
        </p:nvSpPr>
        <p:spPr>
          <a:xfrm>
            <a:off x="10442447" y="4417194"/>
            <a:ext cx="109728" cy="949691"/>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6" name="Rounded Rectangle 65"/>
          <p:cNvSpPr/>
          <p:nvPr/>
        </p:nvSpPr>
        <p:spPr>
          <a:xfrm>
            <a:off x="10607039" y="4401648"/>
            <a:ext cx="109728" cy="980783"/>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7" name="Rounded Rectangle 66"/>
          <p:cNvSpPr/>
          <p:nvPr/>
        </p:nvSpPr>
        <p:spPr>
          <a:xfrm>
            <a:off x="10771631" y="4204490"/>
            <a:ext cx="109728" cy="1375098"/>
          </a:xfrm>
          <a:prstGeom prst="roundRect">
            <a:avLst>
              <a:gd name="adj" fmla="val 50000"/>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8" name="Rounded Rectangle 67"/>
          <p:cNvSpPr/>
          <p:nvPr/>
        </p:nvSpPr>
        <p:spPr>
          <a:xfrm>
            <a:off x="10936223" y="4821423"/>
            <a:ext cx="109728" cy="141233"/>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9" name="Rounded Rectangle 68"/>
          <p:cNvSpPr/>
          <p:nvPr/>
        </p:nvSpPr>
        <p:spPr>
          <a:xfrm>
            <a:off x="11100815" y="4800624"/>
            <a:ext cx="109728" cy="182830"/>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0" name="Rounded Rectangle 69"/>
          <p:cNvSpPr/>
          <p:nvPr/>
        </p:nvSpPr>
        <p:spPr>
          <a:xfrm>
            <a:off x="11265407" y="4825947"/>
            <a:ext cx="109728" cy="132184"/>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1" name="Rounded Rectangle 70"/>
          <p:cNvSpPr/>
          <p:nvPr/>
        </p:nvSpPr>
        <p:spPr>
          <a:xfrm>
            <a:off x="11429999" y="4805768"/>
            <a:ext cx="109728" cy="172542"/>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2" name="Rounded Rectangle 71"/>
          <p:cNvSpPr/>
          <p:nvPr/>
        </p:nvSpPr>
        <p:spPr>
          <a:xfrm>
            <a:off x="11594591" y="4758022"/>
            <a:ext cx="109728" cy="268034"/>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3" name="Rounded Rectangle 72"/>
          <p:cNvSpPr/>
          <p:nvPr/>
        </p:nvSpPr>
        <p:spPr>
          <a:xfrm>
            <a:off x="11759183" y="4809910"/>
            <a:ext cx="109728" cy="164258"/>
          </a:xfrm>
          <a:prstGeom prst="roundRect">
            <a:avLst>
              <a:gd name="adj" fmla="val 50000"/>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4" name="Rectangle 73"/>
          <p:cNvSpPr/>
          <p:nvPr/>
        </p:nvSpPr>
        <p:spPr>
          <a:xfrm>
            <a:off x="731520" y="6144768"/>
            <a:ext cx="146304" cy="146304"/>
          </a:xfrm>
          <a:prstGeom prst="rect">
            <a:avLst/>
          </a:prstGeom>
          <a:solidFill>
            <a:srgbClr val="5B9C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5" name="TextBox 74"/>
          <p:cNvSpPr txBox="1"/>
          <p:nvPr/>
        </p:nvSpPr>
        <p:spPr>
          <a:xfrm>
            <a:off x="950976" y="6080760"/>
            <a:ext cx="1828800" cy="2743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Nói</a:t>
            </a:r>
          </a:p>
        </p:txBody>
      </p:sp>
      <p:sp>
        <p:nvSpPr>
          <p:cNvPr id="76" name="Rectangle 75"/>
          <p:cNvSpPr/>
          <p:nvPr/>
        </p:nvSpPr>
        <p:spPr>
          <a:xfrm>
            <a:off x="2834639" y="6144768"/>
            <a:ext cx="146304" cy="146304"/>
          </a:xfrm>
          <a:prstGeom prst="rect">
            <a:avLst/>
          </a:prstGeom>
          <a:solidFill>
            <a:srgbClr val="9B8C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7" name="TextBox 76"/>
          <p:cNvSpPr txBox="1"/>
          <p:nvPr/>
        </p:nvSpPr>
        <p:spPr>
          <a:xfrm>
            <a:off x="3054096" y="6080760"/>
            <a:ext cx="1828800" cy="2743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Hát (cũng là speech)</a:t>
            </a:r>
          </a:p>
        </p:txBody>
      </p:sp>
      <p:sp>
        <p:nvSpPr>
          <p:cNvPr id="78" name="Rectangle 77"/>
          <p:cNvSpPr/>
          <p:nvPr/>
        </p:nvSpPr>
        <p:spPr>
          <a:xfrm>
            <a:off x="4937759" y="6144768"/>
            <a:ext cx="146304" cy="146304"/>
          </a:xfrm>
          <a:prstGeom prst="rect">
            <a:avLst/>
          </a:prstGeom>
          <a:solidFill>
            <a:srgbClr val="4653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9" name="TextBox 78"/>
          <p:cNvSpPr txBox="1"/>
          <p:nvPr/>
        </p:nvSpPr>
        <p:spPr>
          <a:xfrm>
            <a:off x="5157216" y="6080760"/>
            <a:ext cx="1828800" cy="274320"/>
          </a:xfrm>
          <a:prstGeom prst="rect">
            <a:avLst/>
          </a:prstGeom>
          <a:noFill/>
        </p:spPr>
        <p:txBody>
          <a:bodyPr wrap="square" lIns="0" rIns="0" tIns="0" bIns="0" anchor="t">
            <a:spAutoFit/>
          </a:bodyPr>
          <a:lstStyle/>
          <a:p>
            <a:pPr algn="l">
              <a:spcAft>
                <a:spcPts val="0"/>
              </a:spcAft>
            </a:pPr>
            <a:r>
              <a:rPr sz="1200" b="0" i="0">
                <a:solidFill>
                  <a:srgbClr val="C9D3E0"/>
                </a:solidFill>
                <a:latin typeface="Calibri"/>
              </a:rPr>
              <a:t>Non-speech</a:t>
            </a:r>
          </a:p>
        </p:txBody>
      </p:sp>
      <p:sp>
        <p:nvSpPr>
          <p:cNvPr id="80" name="TextBox 79"/>
          <p:cNvSpPr txBox="1"/>
          <p:nvPr/>
        </p:nvSpPr>
        <p:spPr>
          <a:xfrm>
            <a:off x="8686800" y="6080760"/>
            <a:ext cx="2770632" cy="274320"/>
          </a:xfrm>
          <a:prstGeom prst="rect">
            <a:avLst/>
          </a:prstGeom>
          <a:noFill/>
        </p:spPr>
        <p:txBody>
          <a:bodyPr wrap="square" lIns="0" rIns="0" tIns="0" bIns="0" anchor="t">
            <a:spAutoFit/>
          </a:bodyPr>
          <a:lstStyle/>
          <a:p>
            <a:pPr algn="r">
              <a:spcAft>
                <a:spcPts val="0"/>
              </a:spcAft>
            </a:pPr>
            <a:r>
              <a:rPr sz="1200" b="0" i="0">
                <a:solidFill>
                  <a:srgbClr val="8A93A0"/>
                </a:solidFill>
                <a:latin typeface="Calibri"/>
              </a:rPr>
              <a:t>Tháng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841247"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Bài toán</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Tìm đúng các đoạn có giọng người, chạy ngay trên thiết bị</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2 / 15</a:t>
            </a:r>
          </a:p>
        </p:txBody>
      </p:sp>
      <p:sp>
        <p:nvSpPr>
          <p:cNvPr id="5" name="Rounded Rectangle 4"/>
          <p:cNvSpPr/>
          <p:nvPr/>
        </p:nvSpPr>
        <p:spPr>
          <a:xfrm>
            <a:off x="548640" y="2011680"/>
            <a:ext cx="1417320" cy="8686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685800" y="2075688"/>
            <a:ext cx="1143000" cy="320040"/>
          </a:xfrm>
          <a:prstGeom prst="rect">
            <a:avLst/>
          </a:prstGeom>
          <a:noFill/>
        </p:spPr>
        <p:txBody>
          <a:bodyPr wrap="square" lIns="0" rIns="0" tIns="0" bIns="0" anchor="t">
            <a:spAutoFit/>
          </a:bodyPr>
          <a:lstStyle/>
          <a:p>
            <a:pPr algn="ctr">
              <a:spcAft>
                <a:spcPts val="0"/>
              </a:spcAft>
            </a:pPr>
            <a:r>
              <a:rPr sz="1400" b="1" i="0">
                <a:solidFill>
                  <a:srgbClr val="16202E"/>
                </a:solidFill>
                <a:latin typeface="Calibri"/>
              </a:rPr>
              <a:t>Đầu vào</a:t>
            </a:r>
          </a:p>
        </p:txBody>
      </p:sp>
      <p:sp>
        <p:nvSpPr>
          <p:cNvPr id="7" name="TextBox 6"/>
          <p:cNvSpPr txBox="1"/>
          <p:nvPr/>
        </p:nvSpPr>
        <p:spPr>
          <a:xfrm>
            <a:off x="685800" y="2386584"/>
            <a:ext cx="1143000" cy="45720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File mp3 / mp4</a:t>
            </a:r>
          </a:p>
        </p:txBody>
      </p:sp>
      <p:sp>
        <p:nvSpPr>
          <p:cNvPr id="8" name="Rounded Rectangle 7"/>
          <p:cNvSpPr/>
          <p:nvPr/>
        </p:nvSpPr>
        <p:spPr>
          <a:xfrm>
            <a:off x="2286000" y="2011680"/>
            <a:ext cx="1417320" cy="8686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TextBox 8"/>
          <p:cNvSpPr txBox="1"/>
          <p:nvPr/>
        </p:nvSpPr>
        <p:spPr>
          <a:xfrm>
            <a:off x="2423160" y="2075688"/>
            <a:ext cx="1143000" cy="320040"/>
          </a:xfrm>
          <a:prstGeom prst="rect">
            <a:avLst/>
          </a:prstGeom>
          <a:noFill/>
        </p:spPr>
        <p:txBody>
          <a:bodyPr wrap="square" lIns="0" rIns="0" tIns="0" bIns="0" anchor="t">
            <a:spAutoFit/>
          </a:bodyPr>
          <a:lstStyle/>
          <a:p>
            <a:pPr algn="ctr">
              <a:spcAft>
                <a:spcPts val="0"/>
              </a:spcAft>
            </a:pPr>
            <a:r>
              <a:rPr sz="1400" b="1" i="0">
                <a:solidFill>
                  <a:srgbClr val="16202E"/>
                </a:solidFill>
                <a:latin typeface="Calibri"/>
              </a:rPr>
              <a:t>App</a:t>
            </a:r>
          </a:p>
        </p:txBody>
      </p:sp>
      <p:sp>
        <p:nvSpPr>
          <p:cNvPr id="10" name="TextBox 9"/>
          <p:cNvSpPr txBox="1"/>
          <p:nvPr/>
        </p:nvSpPr>
        <p:spPr>
          <a:xfrm>
            <a:off x="2423160" y="2386584"/>
            <a:ext cx="1143000" cy="45720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Decode audio</a:t>
            </a:r>
          </a:p>
        </p:txBody>
      </p:sp>
      <p:sp>
        <p:nvSpPr>
          <p:cNvPr id="11" name="Rounded Rectangle 10"/>
          <p:cNvSpPr/>
          <p:nvPr/>
        </p:nvSpPr>
        <p:spPr>
          <a:xfrm>
            <a:off x="4023360" y="1783080"/>
            <a:ext cx="5532120" cy="1325880"/>
          </a:xfrm>
          <a:prstGeom prst="roundRect">
            <a:avLst>
              <a:gd name="adj" fmla="val 8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TextBox 11"/>
          <p:cNvSpPr txBox="1"/>
          <p:nvPr/>
        </p:nvSpPr>
        <p:spPr>
          <a:xfrm>
            <a:off x="4160520" y="1819656"/>
            <a:ext cx="1828800" cy="228600"/>
          </a:xfrm>
          <a:prstGeom prst="rect">
            <a:avLst/>
          </a:prstGeom>
          <a:noFill/>
        </p:spPr>
        <p:txBody>
          <a:bodyPr wrap="square" lIns="0" rIns="0" tIns="0" bIns="0" anchor="t">
            <a:spAutoFit/>
          </a:bodyPr>
          <a:lstStyle/>
          <a:p>
            <a:pPr algn="l">
              <a:spcAft>
                <a:spcPts val="0"/>
              </a:spcAft>
            </a:pPr>
            <a:r>
              <a:rPr sz="1100" b="1" i="0">
                <a:solidFill>
                  <a:srgbClr val="0A5C5B"/>
                </a:solidFill>
                <a:latin typeface="Calibri"/>
              </a:rPr>
              <a:t>lib.so (trên thiết bị)</a:t>
            </a:r>
          </a:p>
        </p:txBody>
      </p:sp>
      <p:sp>
        <p:nvSpPr>
          <p:cNvPr id="13" name="Rounded Rectangle 12"/>
          <p:cNvSpPr/>
          <p:nvPr/>
        </p:nvSpPr>
        <p:spPr>
          <a:xfrm>
            <a:off x="4206240" y="2075688"/>
            <a:ext cx="1600200" cy="89611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4297679" y="2130552"/>
            <a:ext cx="1417320" cy="274320"/>
          </a:xfrm>
          <a:prstGeom prst="rect">
            <a:avLst/>
          </a:prstGeom>
          <a:noFill/>
        </p:spPr>
        <p:txBody>
          <a:bodyPr wrap="square" lIns="0" rIns="0" tIns="0" bIns="0" anchor="t">
            <a:spAutoFit/>
          </a:bodyPr>
          <a:lstStyle/>
          <a:p>
            <a:pPr algn="ctr">
              <a:spcAft>
                <a:spcPts val="0"/>
              </a:spcAft>
            </a:pPr>
            <a:r>
              <a:rPr sz="1300" b="1" i="0">
                <a:solidFill>
                  <a:srgbClr val="0A5C5B"/>
                </a:solidFill>
                <a:latin typeface="Calibri"/>
              </a:rPr>
              <a:t>Tiền xử lý</a:t>
            </a:r>
          </a:p>
        </p:txBody>
      </p:sp>
      <p:sp>
        <p:nvSpPr>
          <p:cNvPr id="15" name="TextBox 14"/>
          <p:cNvSpPr txBox="1"/>
          <p:nvPr/>
        </p:nvSpPr>
        <p:spPr>
          <a:xfrm>
            <a:off x="4297679" y="2423160"/>
            <a:ext cx="1417320" cy="50292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Resample, downmix</a:t>
            </a:r>
          </a:p>
        </p:txBody>
      </p:sp>
      <p:sp>
        <p:nvSpPr>
          <p:cNvPr id="16" name="Rounded Rectangle 15"/>
          <p:cNvSpPr/>
          <p:nvPr/>
        </p:nvSpPr>
        <p:spPr>
          <a:xfrm>
            <a:off x="5989320" y="2075688"/>
            <a:ext cx="1600200" cy="89611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TextBox 16"/>
          <p:cNvSpPr txBox="1"/>
          <p:nvPr/>
        </p:nvSpPr>
        <p:spPr>
          <a:xfrm>
            <a:off x="6080759" y="2130552"/>
            <a:ext cx="1417320" cy="274320"/>
          </a:xfrm>
          <a:prstGeom prst="rect">
            <a:avLst/>
          </a:prstGeom>
          <a:noFill/>
        </p:spPr>
        <p:txBody>
          <a:bodyPr wrap="square" lIns="0" rIns="0" tIns="0" bIns="0" anchor="t">
            <a:spAutoFit/>
          </a:bodyPr>
          <a:lstStyle/>
          <a:p>
            <a:pPr algn="ctr">
              <a:spcAft>
                <a:spcPts val="0"/>
              </a:spcAft>
            </a:pPr>
            <a:r>
              <a:rPr sz="1300" b="1" i="0">
                <a:solidFill>
                  <a:srgbClr val="0A5C5B"/>
                </a:solidFill>
                <a:latin typeface="Calibri"/>
              </a:rPr>
              <a:t>YAMNet</a:t>
            </a:r>
          </a:p>
        </p:txBody>
      </p:sp>
      <p:sp>
        <p:nvSpPr>
          <p:cNvPr id="18" name="TextBox 17"/>
          <p:cNvSpPr txBox="1"/>
          <p:nvPr/>
        </p:nvSpPr>
        <p:spPr>
          <a:xfrm>
            <a:off x="6080759" y="2423160"/>
            <a:ext cx="1417320" cy="50292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Cửa sổ 0,96 s, hop 0,08 s</a:t>
            </a:r>
          </a:p>
        </p:txBody>
      </p:sp>
      <p:sp>
        <p:nvSpPr>
          <p:cNvPr id="19" name="Rounded Rectangle 18"/>
          <p:cNvSpPr/>
          <p:nvPr/>
        </p:nvSpPr>
        <p:spPr>
          <a:xfrm>
            <a:off x="7772400" y="2075688"/>
            <a:ext cx="1600200" cy="89611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7863840" y="2130552"/>
            <a:ext cx="1417320" cy="274320"/>
          </a:xfrm>
          <a:prstGeom prst="rect">
            <a:avLst/>
          </a:prstGeom>
          <a:noFill/>
        </p:spPr>
        <p:txBody>
          <a:bodyPr wrap="square" lIns="0" rIns="0" tIns="0" bIns="0" anchor="t">
            <a:spAutoFit/>
          </a:bodyPr>
          <a:lstStyle/>
          <a:p>
            <a:pPr algn="ctr">
              <a:spcAft>
                <a:spcPts val="0"/>
              </a:spcAft>
            </a:pPr>
            <a:r>
              <a:rPr sz="1300" b="1" i="0">
                <a:solidFill>
                  <a:srgbClr val="0A5C5B"/>
                </a:solidFill>
                <a:latin typeface="Calibri"/>
              </a:rPr>
              <a:t>Hậu xử lý</a:t>
            </a:r>
          </a:p>
        </p:txBody>
      </p:sp>
      <p:sp>
        <p:nvSpPr>
          <p:cNvPr id="21" name="TextBox 20"/>
          <p:cNvSpPr txBox="1"/>
          <p:nvPr/>
        </p:nvSpPr>
        <p:spPr>
          <a:xfrm>
            <a:off x="7863840" y="2423160"/>
            <a:ext cx="1417320" cy="50292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Pad, bỏ đoạn ngắn, gộp</a:t>
            </a:r>
          </a:p>
        </p:txBody>
      </p:sp>
      <p:sp>
        <p:nvSpPr>
          <p:cNvPr id="22" name="Rounded Rectangle 21"/>
          <p:cNvSpPr/>
          <p:nvPr/>
        </p:nvSpPr>
        <p:spPr>
          <a:xfrm>
            <a:off x="9875520" y="2011680"/>
            <a:ext cx="1764792" cy="868680"/>
          </a:xfrm>
          <a:prstGeom prst="roundRect">
            <a:avLst>
              <a:gd name="adj" fmla="val 6000"/>
            </a:avLst>
          </a:prstGeom>
          <a:solidFill>
            <a:srgbClr val="E3EE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TextBox 22"/>
          <p:cNvSpPr txBox="1"/>
          <p:nvPr/>
        </p:nvSpPr>
        <p:spPr>
          <a:xfrm>
            <a:off x="10012680" y="2075688"/>
            <a:ext cx="1490472" cy="320040"/>
          </a:xfrm>
          <a:prstGeom prst="rect">
            <a:avLst/>
          </a:prstGeom>
          <a:noFill/>
        </p:spPr>
        <p:txBody>
          <a:bodyPr wrap="square" lIns="0" rIns="0" tIns="0" bIns="0" anchor="t">
            <a:spAutoFit/>
          </a:bodyPr>
          <a:lstStyle/>
          <a:p>
            <a:pPr algn="ctr">
              <a:spcAft>
                <a:spcPts val="0"/>
              </a:spcAft>
            </a:pPr>
            <a:r>
              <a:rPr sz="1400" b="1" i="0">
                <a:solidFill>
                  <a:srgbClr val="0C447C"/>
                </a:solidFill>
                <a:latin typeface="Calibri"/>
              </a:rPr>
              <a:t>Đầu ra</a:t>
            </a:r>
          </a:p>
        </p:txBody>
      </p:sp>
      <p:sp>
        <p:nvSpPr>
          <p:cNvPr id="24" name="TextBox 23"/>
          <p:cNvSpPr txBox="1"/>
          <p:nvPr/>
        </p:nvSpPr>
        <p:spPr>
          <a:xfrm>
            <a:off x="10012680" y="2386584"/>
            <a:ext cx="1490472" cy="45720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Danh sách đoạn speech (start, end)</a:t>
            </a:r>
          </a:p>
        </p:txBody>
      </p:sp>
      <p:sp>
        <p:nvSpPr>
          <p:cNvPr id="25" name="Chevron 24"/>
          <p:cNvSpPr/>
          <p:nvPr/>
        </p:nvSpPr>
        <p:spPr>
          <a:xfrm>
            <a:off x="1993392" y="2308860"/>
            <a:ext cx="182880" cy="274320"/>
          </a:xfrm>
          <a:prstGeom prst="chevron">
            <a:avLst/>
          </a:prstGeom>
          <a:solidFill>
            <a:srgbClr val="B8C2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Chevron 25"/>
          <p:cNvSpPr/>
          <p:nvPr/>
        </p:nvSpPr>
        <p:spPr>
          <a:xfrm>
            <a:off x="3730752" y="2308860"/>
            <a:ext cx="182880" cy="274320"/>
          </a:xfrm>
          <a:prstGeom prst="chevron">
            <a:avLst/>
          </a:prstGeom>
          <a:solidFill>
            <a:srgbClr val="B8C2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Chevron 26"/>
          <p:cNvSpPr/>
          <p:nvPr/>
        </p:nvSpPr>
        <p:spPr>
          <a:xfrm>
            <a:off x="9582912" y="2308860"/>
            <a:ext cx="182880" cy="274320"/>
          </a:xfrm>
          <a:prstGeom prst="chevron">
            <a:avLst/>
          </a:prstGeom>
          <a:solidFill>
            <a:srgbClr val="B8C2C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Rounded Rectangle 27"/>
          <p:cNvSpPr/>
          <p:nvPr/>
        </p:nvSpPr>
        <p:spPr>
          <a:xfrm>
            <a:off x="548640" y="3291840"/>
            <a:ext cx="3593592" cy="196596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TextBox 28"/>
          <p:cNvSpPr txBox="1"/>
          <p:nvPr/>
        </p:nvSpPr>
        <p:spPr>
          <a:xfrm>
            <a:off x="777240" y="3401568"/>
            <a:ext cx="313639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Hiện trạng</a:t>
            </a:r>
          </a:p>
        </p:txBody>
      </p:sp>
      <p:sp>
        <p:nvSpPr>
          <p:cNvPr id="30" name="TextBox 29"/>
          <p:cNvSpPr txBox="1"/>
          <p:nvPr/>
        </p:nvSpPr>
        <p:spPr>
          <a:xfrm>
            <a:off x="777240" y="3794760"/>
            <a:ext cx="3182112" cy="1417320"/>
          </a:xfrm>
          <a:prstGeom prst="rect">
            <a:avLst/>
          </a:prstGeom>
          <a:noFill/>
        </p:spPr>
        <p:txBody>
          <a:bodyPr wrap="square" lIns="0" rIns="0" tIns="0" bIns="0" anchor="t">
            <a:spAutoFit/>
          </a:bodyPr>
          <a:lstStyle/>
          <a:p>
            <a:pPr algn="l" marL="201168" indent="-201168">
              <a:spcAft>
                <a:spcPts val="400"/>
              </a:spcAft>
              <a:buFont typeface="Arial"/>
              <a:buChar char="•"/>
            </a:pPr>
            <a:r>
              <a:rPr sz="1300" b="0" i="0">
                <a:solidFill>
                  <a:srgbClr val="5B6472"/>
                </a:solidFill>
                <a:latin typeface="Calibri"/>
              </a:rPr>
              <a:t>AUC 0,9995 trên dữ liệu thiết kế; chưa có số trên dữ liệu thật</a:t>
            </a:r>
          </a:p>
          <a:p>
            <a:pPr algn="l" marL="201168" indent="-201168">
              <a:spcAft>
                <a:spcPts val="400"/>
              </a:spcAft>
              <a:buFont typeface="Arial"/>
              <a:buChar char="•"/>
            </a:pPr>
            <a:r>
              <a:rPr sz="1300" b="0" i="0">
                <a:solidFill>
                  <a:srgbClr val="5B6472"/>
                </a:solidFill>
                <a:latin typeface="Calibri"/>
              </a:rPr>
              <a:t>Ngưỡng 0,6026 chọn trên chính tập đánh giá</a:t>
            </a:r>
          </a:p>
          <a:p>
            <a:pPr algn="l" marL="201168" indent="-201168">
              <a:spcAft>
                <a:spcPts val="400"/>
              </a:spcAft>
              <a:buFont typeface="Arial"/>
              <a:buChar char="•"/>
            </a:pPr>
            <a:r>
              <a:rPr sz="1300" b="0" i="0">
                <a:solidFill>
                  <a:srgbClr val="5B6472"/>
                </a:solidFill>
                <a:latin typeface="Calibri"/>
              </a:rPr>
              <a:t>GT chia ô 0,5 s; lỗi biên lẫn với lỗi thật</a:t>
            </a:r>
          </a:p>
        </p:txBody>
      </p:sp>
      <p:sp>
        <p:nvSpPr>
          <p:cNvPr id="31" name="Rounded Rectangle 30"/>
          <p:cNvSpPr/>
          <p:nvPr/>
        </p:nvSpPr>
        <p:spPr>
          <a:xfrm>
            <a:off x="4297680" y="3291840"/>
            <a:ext cx="3593592" cy="196596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2" name="TextBox 31"/>
          <p:cNvSpPr txBox="1"/>
          <p:nvPr/>
        </p:nvSpPr>
        <p:spPr>
          <a:xfrm>
            <a:off x="4526280" y="3401568"/>
            <a:ext cx="313639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Mục tiêu</a:t>
            </a:r>
          </a:p>
        </p:txBody>
      </p:sp>
      <p:sp>
        <p:nvSpPr>
          <p:cNvPr id="33" name="TextBox 32"/>
          <p:cNvSpPr txBox="1"/>
          <p:nvPr/>
        </p:nvSpPr>
        <p:spPr>
          <a:xfrm>
            <a:off x="4526280" y="3794760"/>
            <a:ext cx="3182112" cy="1417320"/>
          </a:xfrm>
          <a:prstGeom prst="rect">
            <a:avLst/>
          </a:prstGeom>
          <a:noFill/>
        </p:spPr>
        <p:txBody>
          <a:bodyPr wrap="square" lIns="0" rIns="0" tIns="0" bIns="0" anchor="t">
            <a:spAutoFit/>
          </a:bodyPr>
          <a:lstStyle/>
          <a:p>
            <a:pPr algn="l" marL="201168" indent="-201168">
              <a:spcAft>
                <a:spcPts val="400"/>
              </a:spcAft>
              <a:buFont typeface="Arial"/>
              <a:buChar char="•"/>
            </a:pPr>
            <a:r>
              <a:rPr sz="1300" b="0" i="0">
                <a:solidFill>
                  <a:srgbClr val="5B6472"/>
                </a:solidFill>
                <a:latin typeface="Calibri"/>
              </a:rPr>
              <a:t>Tăng chất lượng: đúng đoạn, đúng biên</a:t>
            </a:r>
          </a:p>
          <a:p>
            <a:pPr algn="l" marL="201168" indent="-201168">
              <a:spcAft>
                <a:spcPts val="400"/>
              </a:spcAft>
              <a:buFont typeface="Arial"/>
              <a:buChar char="•"/>
            </a:pPr>
            <a:r>
              <a:rPr sz="1300" b="0" i="0">
                <a:solidFill>
                  <a:srgbClr val="5B6472"/>
                </a:solidFill>
                <a:latin typeface="Calibri"/>
              </a:rPr>
              <a:t>Không tệ hơn về RTF, CPU, điện năng, bộ nhớ</a:t>
            </a:r>
          </a:p>
          <a:p>
            <a:pPr algn="l" marL="201168" indent="-201168">
              <a:spcAft>
                <a:spcPts val="400"/>
              </a:spcAft>
              <a:buFont typeface="Arial"/>
              <a:buChar char="•"/>
            </a:pPr>
            <a:r>
              <a:rPr sz="1300" b="0" i="0">
                <a:solidFill>
                  <a:srgbClr val="5B6472"/>
                </a:solidFill>
                <a:latin typeface="Calibri"/>
              </a:rPr>
              <a:t>Đúng trên mọi loại âm thanh model nhận</a:t>
            </a:r>
          </a:p>
        </p:txBody>
      </p:sp>
      <p:sp>
        <p:nvSpPr>
          <p:cNvPr id="34" name="Rounded Rectangle 33"/>
          <p:cNvSpPr/>
          <p:nvPr/>
        </p:nvSpPr>
        <p:spPr>
          <a:xfrm>
            <a:off x="8046720" y="3291840"/>
            <a:ext cx="3593592" cy="196596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5" name="TextBox 34"/>
          <p:cNvSpPr txBox="1"/>
          <p:nvPr/>
        </p:nvSpPr>
        <p:spPr>
          <a:xfrm>
            <a:off x="8275320" y="3401568"/>
            <a:ext cx="313639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Phạm vi</a:t>
            </a:r>
          </a:p>
        </p:txBody>
      </p:sp>
      <p:sp>
        <p:nvSpPr>
          <p:cNvPr id="36" name="TextBox 35"/>
          <p:cNvSpPr txBox="1"/>
          <p:nvPr/>
        </p:nvSpPr>
        <p:spPr>
          <a:xfrm>
            <a:off x="8275320" y="3794760"/>
            <a:ext cx="3182112" cy="1417320"/>
          </a:xfrm>
          <a:prstGeom prst="rect">
            <a:avLst/>
          </a:prstGeom>
          <a:noFill/>
        </p:spPr>
        <p:txBody>
          <a:bodyPr wrap="square" lIns="0" rIns="0" tIns="0" bIns="0" anchor="t">
            <a:spAutoFit/>
          </a:bodyPr>
          <a:lstStyle/>
          <a:p>
            <a:pPr algn="l" marL="201168" indent="-201168">
              <a:spcAft>
                <a:spcPts val="400"/>
              </a:spcAft>
              <a:buFont typeface="Arial"/>
              <a:buChar char="•"/>
            </a:pPr>
            <a:r>
              <a:rPr sz="1300" b="0" i="0">
                <a:solidFill>
                  <a:srgbClr val="5B6472"/>
                </a:solidFill>
                <a:latin typeface="Calibri"/>
              </a:rPr>
              <a:t>Trong: nhãn, dữ liệu, đánh giá, model và hậu xử lý</a:t>
            </a:r>
          </a:p>
          <a:p>
            <a:pPr algn="l" marL="201168" indent="-201168">
              <a:spcAft>
                <a:spcPts val="400"/>
              </a:spcAft>
              <a:buFont typeface="Arial"/>
              <a:buChar char="•"/>
            </a:pPr>
            <a:r>
              <a:rPr sz="1300" b="0" i="0">
                <a:solidFill>
                  <a:srgbClr val="5B6472"/>
                </a:solidFill>
                <a:latin typeface="Calibri"/>
              </a:rPr>
              <a:t>Ngoài: ASR, phân biệt người nói, streaming, decode trong app</a:t>
            </a:r>
          </a:p>
        </p:txBody>
      </p:sp>
      <p:sp>
        <p:nvSpPr>
          <p:cNvPr id="37" name="Rounded Rectangle 36"/>
          <p:cNvSpPr/>
          <p:nvPr/>
        </p:nvSpPr>
        <p:spPr>
          <a:xfrm>
            <a:off x="548640" y="5413248"/>
            <a:ext cx="11091672" cy="777240"/>
          </a:xfrm>
          <a:prstGeom prst="roundRect">
            <a:avLst>
              <a:gd name="adj" fmla="val 6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Oval 37"/>
          <p:cNvSpPr/>
          <p:nvPr/>
        </p:nvSpPr>
        <p:spPr>
          <a:xfrm>
            <a:off x="731520" y="5550408"/>
            <a:ext cx="502920" cy="502920"/>
          </a:xfrm>
          <a:prstGeom prst="ellipse">
            <a:avLst/>
          </a:prstGeom>
          <a:solidFill>
            <a:srgbClr val="B779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9" name="Picture 38" descr="warn_w.png"/>
          <p:cNvPicPr>
            <a:picLocks noChangeAspect="1"/>
          </p:cNvPicPr>
          <p:nvPr/>
        </p:nvPicPr>
        <p:blipFill>
          <a:blip r:embed="rId2"/>
          <a:stretch>
            <a:fillRect/>
          </a:stretch>
        </p:blipFill>
        <p:spPr>
          <a:xfrm>
            <a:off x="842162" y="5661050"/>
            <a:ext cx="281635" cy="281635"/>
          </a:xfrm>
          <a:prstGeom prst="rect">
            <a:avLst/>
          </a:prstGeom>
        </p:spPr>
      </p:pic>
      <p:sp>
        <p:nvSpPr>
          <p:cNvPr id="40" name="TextBox 39"/>
          <p:cNvSpPr txBox="1"/>
          <p:nvPr/>
        </p:nvSpPr>
        <p:spPr>
          <a:xfrm>
            <a:off x="1417320" y="5413248"/>
            <a:ext cx="10058400" cy="777240"/>
          </a:xfrm>
          <a:prstGeom prst="rect">
            <a:avLst/>
          </a:prstGeom>
          <a:noFill/>
        </p:spPr>
        <p:txBody>
          <a:bodyPr wrap="square" lIns="0" rIns="0" tIns="0" bIns="0" anchor="ctr">
            <a:spAutoFit/>
          </a:bodyPr>
          <a:lstStyle/>
          <a:p>
            <a:pPr algn="l">
              <a:spcAft>
                <a:spcPts val="0"/>
              </a:spcAft>
            </a:pPr>
            <a:r>
              <a:rPr sz="1400" b="1" i="0">
                <a:solidFill>
                  <a:srgbClr val="7A5200"/>
                </a:solidFill>
                <a:latin typeface="Calibri"/>
              </a:rPr>
              <a:t>Câu hỏi mở: </a:t>
            </a:r>
            <a:r>
              <a:rPr sz="1400" b="0" i="0">
                <a:solidFill>
                  <a:srgbClr val="7A5200"/>
                </a:solidFill>
                <a:latin typeface="Calibri"/>
              </a:rPr>
              <a:t>app dùng các đoạn speech để làm gì? Câu trả lời quyết định bỏ sót hay báo nhầm đắt hơn, và ngưỡng trong tiêu chí thành công.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97840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Định nghĩa</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Speech là có giọng người nổi bật, theo dõi được, kể cả khi hát</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3 / 15</a:t>
            </a:r>
          </a:p>
        </p:txBody>
      </p:sp>
      <p:sp>
        <p:nvSpPr>
          <p:cNvPr id="5" name="Rounded Rectangle 4"/>
          <p:cNvSpPr/>
          <p:nvPr/>
        </p:nvSpPr>
        <p:spPr>
          <a:xfrm>
            <a:off x="548640" y="1691640"/>
            <a:ext cx="11091672" cy="640080"/>
          </a:xfrm>
          <a:prstGeom prst="roundRect">
            <a:avLst>
              <a:gd name="adj" fmla="val 6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777240" y="1691640"/>
            <a:ext cx="10698480" cy="640080"/>
          </a:xfrm>
          <a:prstGeom prst="rect">
            <a:avLst/>
          </a:prstGeom>
          <a:noFill/>
        </p:spPr>
        <p:txBody>
          <a:bodyPr wrap="square" lIns="0" rIns="0" tIns="0" bIns="0" anchor="ctr">
            <a:spAutoFit/>
          </a:bodyPr>
          <a:lstStyle/>
          <a:p>
            <a:pPr algn="l">
              <a:spcAft>
                <a:spcPts val="0"/>
              </a:spcAft>
            </a:pPr>
            <a:r>
              <a:rPr sz="1500" b="1" i="0">
                <a:solidFill>
                  <a:srgbClr val="0A5C5B"/>
                </a:solidFill>
                <a:latin typeface="Calibri"/>
              </a:rPr>
              <a:t>Tiêu chí chung: </a:t>
            </a:r>
            <a:r>
              <a:rPr sz="1500" b="0" i="0">
                <a:solidFill>
                  <a:srgbClr val="0A5C5B"/>
                </a:solidFill>
                <a:latin typeface="Calibri"/>
              </a:rPr>
              <a:t>có ít nhất một giọng người nổi bật, theo dõi được, phát ra lời hoặc giai điệu. Còn lại là non-speech.</a:t>
            </a:r>
          </a:p>
        </p:txBody>
      </p:sp>
      <p:sp>
        <p:nvSpPr>
          <p:cNvPr id="7" name="Rounded Rectangle 6"/>
          <p:cNvSpPr/>
          <p:nvPr/>
        </p:nvSpPr>
        <p:spPr>
          <a:xfrm>
            <a:off x="548640" y="2487168"/>
            <a:ext cx="5454396" cy="2606040"/>
          </a:xfrm>
          <a:prstGeom prst="roundRect">
            <a:avLst>
              <a:gd name="adj" fmla="val 6000"/>
            </a:avLst>
          </a:prstGeom>
          <a:solidFill>
            <a:srgbClr val="FFFFFF"/>
          </a:solidFill>
          <a:ln w="12700">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8" name="Oval 7"/>
          <p:cNvSpPr/>
          <p:nvPr/>
        </p:nvSpPr>
        <p:spPr>
          <a:xfrm>
            <a:off x="777240" y="2651760"/>
            <a:ext cx="502920" cy="502920"/>
          </a:xfrm>
          <a:prstGeom prst="ellipse">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9" name="Picture 8" descr="speech_w.png"/>
          <p:cNvPicPr>
            <a:picLocks noChangeAspect="1"/>
          </p:cNvPicPr>
          <p:nvPr/>
        </p:nvPicPr>
        <p:blipFill>
          <a:blip r:embed="rId2"/>
          <a:stretch>
            <a:fillRect/>
          </a:stretch>
        </p:blipFill>
        <p:spPr>
          <a:xfrm>
            <a:off x="887882" y="2762402"/>
            <a:ext cx="281635" cy="281635"/>
          </a:xfrm>
          <a:prstGeom prst="rect">
            <a:avLst/>
          </a:prstGeom>
        </p:spPr>
      </p:pic>
      <p:sp>
        <p:nvSpPr>
          <p:cNvPr id="10" name="TextBox 9"/>
          <p:cNvSpPr txBox="1"/>
          <p:nvPr/>
        </p:nvSpPr>
        <p:spPr>
          <a:xfrm>
            <a:off x="1417319" y="2697480"/>
            <a:ext cx="4114800" cy="411480"/>
          </a:xfrm>
          <a:prstGeom prst="rect">
            <a:avLst/>
          </a:prstGeom>
          <a:noFill/>
        </p:spPr>
        <p:txBody>
          <a:bodyPr wrap="square" lIns="0" rIns="0" tIns="0" bIns="0" anchor="t">
            <a:spAutoFit/>
          </a:bodyPr>
          <a:lstStyle/>
          <a:p>
            <a:pPr algn="l">
              <a:spcAft>
                <a:spcPts val="0"/>
              </a:spcAft>
            </a:pPr>
            <a:r>
              <a:rPr sz="1900" b="1" i="0">
                <a:solidFill>
                  <a:srgbClr val="2A78D6"/>
                </a:solidFill>
                <a:latin typeface="Cambria"/>
              </a:rPr>
              <a:t>Speech</a:t>
            </a:r>
          </a:p>
        </p:txBody>
      </p:sp>
      <p:sp>
        <p:nvSpPr>
          <p:cNvPr id="11" name="TextBox 10"/>
          <p:cNvSpPr txBox="1"/>
          <p:nvPr/>
        </p:nvSpPr>
        <p:spPr>
          <a:xfrm>
            <a:off x="822959" y="3291840"/>
            <a:ext cx="4983480" cy="1783080"/>
          </a:xfrm>
          <a:prstGeom prst="rect">
            <a:avLst/>
          </a:prstGeom>
          <a:noFill/>
        </p:spPr>
        <p:txBody>
          <a:bodyPr wrap="square" lIns="0" rIns="0" tIns="0" bIns="0" anchor="t">
            <a:spAutoFit/>
          </a:bodyPr>
          <a:lstStyle/>
          <a:p>
            <a:pPr algn="l" marL="201168" indent="-201168">
              <a:spcAft>
                <a:spcPts val="500"/>
              </a:spcAft>
              <a:buFont typeface="Arial"/>
              <a:buChar char="•"/>
            </a:pPr>
            <a:r>
              <a:rPr sz="1400" b="0" i="0">
                <a:solidFill>
                  <a:srgbClr val="16202E"/>
                </a:solidFill>
                <a:latin typeface="Calibri"/>
              </a:rPr>
              <a:t>Nói, kể cả trên nền nhạc, ồn, đám đông</a:t>
            </a:r>
          </a:p>
          <a:p>
            <a:pPr algn="l" marL="201168" indent="-201168">
              <a:spcAft>
                <a:spcPts val="500"/>
              </a:spcAft>
              <a:buFont typeface="Arial"/>
              <a:buChar char="•"/>
            </a:pPr>
            <a:r>
              <a:rPr sz="1400" b="0" i="0">
                <a:solidFill>
                  <a:srgbClr val="16202E"/>
                </a:solidFill>
                <a:latin typeface="Calibri"/>
              </a:rPr>
              <a:t>Hội thoại, nói chồng lấn</a:t>
            </a:r>
          </a:p>
          <a:p>
            <a:pPr algn="l" marL="201168" indent="-201168">
              <a:spcAft>
                <a:spcPts val="500"/>
              </a:spcAft>
              <a:buFont typeface="Arial"/>
              <a:buChar char="•"/>
            </a:pPr>
            <a:r>
              <a:rPr sz="1400" b="0" i="0">
                <a:solidFill>
                  <a:srgbClr val="16202E"/>
                </a:solidFill>
                <a:latin typeface="Calibri"/>
              </a:rPr>
              <a:t>Hát đơn, hát có nhạc đệm, bè, đồng ca</a:t>
            </a:r>
          </a:p>
          <a:p>
            <a:pPr algn="l" marL="201168" indent="-201168">
              <a:spcAft>
                <a:spcPts val="500"/>
              </a:spcAft>
              <a:buFont typeface="Arial"/>
              <a:buChar char="•"/>
            </a:pPr>
            <a:r>
              <a:rPr sz="1400" b="0" i="0">
                <a:solidFill>
                  <a:srgbClr val="16202E"/>
                </a:solidFill>
                <a:latin typeface="Calibri"/>
              </a:rPr>
              <a:t>Ngâm nga, rap, đọc thơ, ngâm thơ</a:t>
            </a:r>
          </a:p>
          <a:p>
            <a:pPr algn="l" marL="201168" indent="-201168">
              <a:spcAft>
                <a:spcPts val="500"/>
              </a:spcAft>
              <a:buFont typeface="Arial"/>
              <a:buChar char="•"/>
            </a:pPr>
            <a:r>
              <a:rPr sz="1400" b="0" i="0">
                <a:solidFill>
                  <a:srgbClr val="16202E"/>
                </a:solidFill>
                <a:latin typeface="Calibri"/>
              </a:rPr>
              <a:t>La hét, gọi to có lời; hô đồng thanh</a:t>
            </a:r>
          </a:p>
        </p:txBody>
      </p:sp>
      <p:sp>
        <p:nvSpPr>
          <p:cNvPr id="12" name="Rounded Rectangle 11"/>
          <p:cNvSpPr/>
          <p:nvPr/>
        </p:nvSpPr>
        <p:spPr>
          <a:xfrm>
            <a:off x="6185916" y="2487168"/>
            <a:ext cx="5454396" cy="2606040"/>
          </a:xfrm>
          <a:prstGeom prst="roundRect">
            <a:avLst>
              <a:gd name="adj" fmla="val 6000"/>
            </a:avLst>
          </a:prstGeom>
          <a:solidFill>
            <a:srgbClr val="FFFFFF"/>
          </a:solidFill>
          <a:ln w="12700">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Oval 12"/>
          <p:cNvSpPr/>
          <p:nvPr/>
        </p:nvSpPr>
        <p:spPr>
          <a:xfrm>
            <a:off x="6414516" y="2651760"/>
            <a:ext cx="502920" cy="502920"/>
          </a:xfrm>
          <a:prstGeom prst="ellipse">
            <a:avLst/>
          </a:prstGeom>
          <a:solidFill>
            <a:srgbClr val="6B72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4" name="Picture 13" descr="music_w.png"/>
          <p:cNvPicPr>
            <a:picLocks noChangeAspect="1"/>
          </p:cNvPicPr>
          <p:nvPr/>
        </p:nvPicPr>
        <p:blipFill>
          <a:blip r:embed="rId3"/>
          <a:stretch>
            <a:fillRect/>
          </a:stretch>
        </p:blipFill>
        <p:spPr>
          <a:xfrm>
            <a:off x="6525158" y="2762402"/>
            <a:ext cx="281635" cy="281635"/>
          </a:xfrm>
          <a:prstGeom prst="rect">
            <a:avLst/>
          </a:prstGeom>
        </p:spPr>
      </p:pic>
      <p:sp>
        <p:nvSpPr>
          <p:cNvPr id="15" name="TextBox 14"/>
          <p:cNvSpPr txBox="1"/>
          <p:nvPr/>
        </p:nvSpPr>
        <p:spPr>
          <a:xfrm>
            <a:off x="7054596" y="2697480"/>
            <a:ext cx="4114800" cy="411480"/>
          </a:xfrm>
          <a:prstGeom prst="rect">
            <a:avLst/>
          </a:prstGeom>
          <a:noFill/>
        </p:spPr>
        <p:txBody>
          <a:bodyPr wrap="square" lIns="0" rIns="0" tIns="0" bIns="0" anchor="t">
            <a:spAutoFit/>
          </a:bodyPr>
          <a:lstStyle/>
          <a:p>
            <a:pPr algn="l">
              <a:spcAft>
                <a:spcPts val="0"/>
              </a:spcAft>
            </a:pPr>
            <a:r>
              <a:rPr sz="1900" b="1" i="0">
                <a:solidFill>
                  <a:srgbClr val="6B7280"/>
                </a:solidFill>
                <a:latin typeface="Cambria"/>
              </a:rPr>
              <a:t>Non-speech</a:t>
            </a:r>
          </a:p>
        </p:txBody>
      </p:sp>
      <p:sp>
        <p:nvSpPr>
          <p:cNvPr id="16" name="TextBox 15"/>
          <p:cNvSpPr txBox="1"/>
          <p:nvPr/>
        </p:nvSpPr>
        <p:spPr>
          <a:xfrm>
            <a:off x="6460236" y="3291840"/>
            <a:ext cx="4983480" cy="1783080"/>
          </a:xfrm>
          <a:prstGeom prst="rect">
            <a:avLst/>
          </a:prstGeom>
          <a:noFill/>
        </p:spPr>
        <p:txBody>
          <a:bodyPr wrap="square" lIns="0" rIns="0" tIns="0" bIns="0" anchor="t">
            <a:spAutoFit/>
          </a:bodyPr>
          <a:lstStyle/>
          <a:p>
            <a:pPr algn="l" marL="201168" indent="-201168">
              <a:spcAft>
                <a:spcPts val="500"/>
              </a:spcAft>
              <a:buFont typeface="Arial"/>
              <a:buChar char="•"/>
            </a:pPr>
            <a:r>
              <a:rPr sz="1400" b="0" i="0">
                <a:solidFill>
                  <a:srgbClr val="16202E"/>
                </a:solidFill>
                <a:latin typeface="Calibri"/>
              </a:rPr>
              <a:t>Im lặng, ồn môi trường</a:t>
            </a:r>
          </a:p>
          <a:p>
            <a:pPr algn="l" marL="201168" indent="-201168">
              <a:spcAft>
                <a:spcPts val="500"/>
              </a:spcAft>
              <a:buFont typeface="Arial"/>
              <a:buChar char="•"/>
            </a:pPr>
            <a:r>
              <a:rPr sz="1400" b="0" i="0">
                <a:solidFill>
                  <a:srgbClr val="16202E"/>
                </a:solidFill>
                <a:latin typeface="Calibri"/>
              </a:rPr>
              <a:t>Nhạc không lời, nhạc dạo, gian tấu</a:t>
            </a:r>
          </a:p>
          <a:p>
            <a:pPr algn="l" marL="201168" indent="-201168">
              <a:spcAft>
                <a:spcPts val="500"/>
              </a:spcAft>
              <a:buFont typeface="Arial"/>
              <a:buChar char="•"/>
            </a:pPr>
            <a:r>
              <a:rPr sz="1400" b="0" i="0">
                <a:solidFill>
                  <a:srgbClr val="16202E"/>
                </a:solidFill>
                <a:latin typeface="Calibri"/>
              </a:rPr>
              <a:t>Nhạc cụ "giống giọng"; giọng hát chìm</a:t>
            </a:r>
          </a:p>
          <a:p>
            <a:pPr algn="l" marL="201168" indent="-201168">
              <a:spcAft>
                <a:spcPts val="500"/>
              </a:spcAft>
              <a:buFont typeface="Arial"/>
              <a:buChar char="•"/>
            </a:pPr>
            <a:r>
              <a:rPr sz="1400" b="0" i="0">
                <a:solidFill>
                  <a:srgbClr val="16202E"/>
                </a:solidFill>
                <a:latin typeface="Calibri"/>
              </a:rPr>
              <a:t>Đám đông rì rầm không rõ lời</a:t>
            </a:r>
          </a:p>
          <a:p>
            <a:pPr algn="l" marL="201168" indent="-201168">
              <a:spcAft>
                <a:spcPts val="500"/>
              </a:spcAft>
              <a:buFont typeface="Arial"/>
              <a:buChar char="•"/>
            </a:pPr>
            <a:r>
              <a:rPr sz="1400" b="0" i="0">
                <a:solidFill>
                  <a:srgbClr val="16202E"/>
                </a:solidFill>
                <a:latin typeface="Calibri"/>
              </a:rPr>
              <a:t>Cười, ho, hắt hơi, hắng giọng, khóc không thành lời</a:t>
            </a:r>
          </a:p>
        </p:txBody>
      </p:sp>
      <p:sp>
        <p:nvSpPr>
          <p:cNvPr id="17" name="Rounded Rectangle 16"/>
          <p:cNvSpPr/>
          <p:nvPr/>
        </p:nvSpPr>
        <p:spPr>
          <a:xfrm>
            <a:off x="548640" y="5257800"/>
            <a:ext cx="3593592" cy="9144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731520" y="5303520"/>
            <a:ext cx="3246120" cy="822960"/>
          </a:xfrm>
          <a:prstGeom prst="rect">
            <a:avLst/>
          </a:prstGeom>
          <a:noFill/>
        </p:spPr>
        <p:txBody>
          <a:bodyPr wrap="square" lIns="0" rIns="0" tIns="0" bIns="0" anchor="ctr">
            <a:spAutoFit/>
          </a:bodyPr>
          <a:lstStyle/>
          <a:p>
            <a:pPr algn="l">
              <a:spcAft>
                <a:spcPts val="0"/>
              </a:spcAft>
            </a:pPr>
            <a:r>
              <a:rPr sz="1300" b="1" i="0">
                <a:solidFill>
                  <a:srgbClr val="16202E"/>
                </a:solidFill>
                <a:latin typeface="Calibri"/>
              </a:rPr>
              <a:t>Phép thử: </a:t>
            </a:r>
            <a:r>
              <a:rPr sz="1300" b="0" i="0">
                <a:solidFill>
                  <a:srgbClr val="5B6472"/>
                </a:solidFill>
                <a:latin typeface="Calibri"/>
              </a:rPr>
              <a:t>Nghe một lần, âm lượng bình thường, không tua lại.</a:t>
            </a:r>
          </a:p>
        </p:txBody>
      </p:sp>
      <p:sp>
        <p:nvSpPr>
          <p:cNvPr id="19" name="Rounded Rectangle 18"/>
          <p:cNvSpPr/>
          <p:nvPr/>
        </p:nvSpPr>
        <p:spPr>
          <a:xfrm>
            <a:off x="4297680" y="5257800"/>
            <a:ext cx="3593592" cy="9144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4480560" y="5303520"/>
            <a:ext cx="3246120" cy="822960"/>
          </a:xfrm>
          <a:prstGeom prst="rect">
            <a:avLst/>
          </a:prstGeom>
          <a:noFill/>
        </p:spPr>
        <p:txBody>
          <a:bodyPr wrap="square" lIns="0" rIns="0" tIns="0" bIns="0" anchor="ctr">
            <a:spAutoFit/>
          </a:bodyPr>
          <a:lstStyle/>
          <a:p>
            <a:pPr algn="l">
              <a:spcAft>
                <a:spcPts val="0"/>
              </a:spcAft>
            </a:pPr>
            <a:r>
              <a:rPr sz="1300" b="1" i="0">
                <a:solidFill>
                  <a:srgbClr val="16202E"/>
                </a:solidFill>
                <a:latin typeface="Calibri"/>
              </a:rPr>
              <a:t>Không quyết được: </a:t>
            </a:r>
            <a:r>
              <a:rPr sz="1300" b="0" i="0">
                <a:solidFill>
                  <a:srgbClr val="5B6472"/>
                </a:solidFill>
                <a:latin typeface="Calibri"/>
              </a:rPr>
              <a:t>Gắn tag "không chấm", loại khỏi phần tính điểm.</a:t>
            </a:r>
          </a:p>
        </p:txBody>
      </p:sp>
      <p:sp>
        <p:nvSpPr>
          <p:cNvPr id="21" name="Rounded Rectangle 20"/>
          <p:cNvSpPr/>
          <p:nvPr/>
        </p:nvSpPr>
        <p:spPr>
          <a:xfrm>
            <a:off x="8046720" y="5257800"/>
            <a:ext cx="3593592" cy="9144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TextBox 21"/>
          <p:cNvSpPr txBox="1"/>
          <p:nvPr/>
        </p:nvSpPr>
        <p:spPr>
          <a:xfrm>
            <a:off x="8229600" y="5303520"/>
            <a:ext cx="3246120" cy="822960"/>
          </a:xfrm>
          <a:prstGeom prst="rect">
            <a:avLst/>
          </a:prstGeom>
          <a:noFill/>
        </p:spPr>
        <p:txBody>
          <a:bodyPr wrap="square" lIns="0" rIns="0" tIns="0" bIns="0" anchor="ctr">
            <a:spAutoFit/>
          </a:bodyPr>
          <a:lstStyle/>
          <a:p>
            <a:pPr algn="l">
              <a:spcAft>
                <a:spcPts val="0"/>
              </a:spcAft>
            </a:pPr>
            <a:r>
              <a:rPr sz="1300" b="1" i="0">
                <a:solidFill>
                  <a:srgbClr val="16202E"/>
                </a:solidFill>
                <a:latin typeface="Calibri"/>
              </a:rPr>
              <a:t>Khoảng xen ngắn: </a:t>
            </a:r>
            <a:r>
              <a:rPr sz="1300" b="0" i="0">
                <a:solidFill>
                  <a:srgbClr val="5B6472"/>
                </a:solidFill>
                <a:latin typeface="Calibri"/>
              </a:rPr>
              <a:t>Lặng, cười, ho dưới 500 ms giữa hai đoạn speech → gộp vào speech.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909827"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Toàn cảnh</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YAMNet phân loại tốt, nhưng mỗi quyết định trải trên gần 1 giây</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4 / 15</a:t>
            </a:r>
          </a:p>
        </p:txBody>
      </p:sp>
      <p:graphicFrame>
        <p:nvGraphicFramePr>
          <p:cNvPr id="5" name="Chart 4"/>
          <p:cNvGraphicFramePr>
            <a:graphicFrameLocks noGrp="1"/>
          </p:cNvGraphicFramePr>
          <p:nvPr/>
        </p:nvGraphicFramePr>
        <p:xfrm>
          <a:off x="548640" y="1645920"/>
          <a:ext cx="7680960" cy="4617720"/>
        </p:xfrm>
        <a:graphic>
          <a:graphicData uri="http://schemas.openxmlformats.org/drawingml/2006/chart">
            <c:chart xmlns:c="http://schemas.openxmlformats.org/drawingml/2006/chart" r:id="rId2"/>
          </a:graphicData>
        </a:graphic>
      </p:graphicFrame>
      <p:sp>
        <p:nvSpPr>
          <p:cNvPr id="6" name="TextBox 5"/>
          <p:cNvSpPr txBox="1"/>
          <p:nvPr/>
        </p:nvSpPr>
        <p:spPr>
          <a:xfrm>
            <a:off x="8641080" y="1828800"/>
            <a:ext cx="3017520" cy="731520"/>
          </a:xfrm>
          <a:prstGeom prst="rect">
            <a:avLst/>
          </a:prstGeom>
          <a:noFill/>
        </p:spPr>
        <p:txBody>
          <a:bodyPr wrap="square" lIns="0" rIns="0" tIns="0" bIns="0" anchor="t">
            <a:spAutoFit/>
          </a:bodyPr>
          <a:lstStyle/>
          <a:p>
            <a:pPr algn="l">
              <a:spcAft>
                <a:spcPts val="0"/>
              </a:spcAft>
            </a:pPr>
            <a:r>
              <a:rPr sz="4400" b="1" i="0">
                <a:solidFill>
                  <a:srgbClr val="D9622B"/>
                </a:solidFill>
                <a:latin typeface="Cambria"/>
              </a:rPr>
              <a:t>0,96 s</a:t>
            </a:r>
          </a:p>
        </p:txBody>
      </p:sp>
      <p:sp>
        <p:nvSpPr>
          <p:cNvPr id="7" name="TextBox 6"/>
          <p:cNvSpPr txBox="1"/>
          <p:nvPr/>
        </p:nvSpPr>
        <p:spPr>
          <a:xfrm>
            <a:off x="8641080" y="2527300"/>
            <a:ext cx="301752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cửa sổ âm thanh của mỗi output YAMNet, kể cả khi hop là 0,08 s</a:t>
            </a:r>
          </a:p>
        </p:txBody>
      </p:sp>
      <p:sp>
        <p:nvSpPr>
          <p:cNvPr id="8" name="TextBox 7"/>
          <p:cNvSpPr txBox="1"/>
          <p:nvPr/>
        </p:nvSpPr>
        <p:spPr>
          <a:xfrm>
            <a:off x="8641080" y="3429000"/>
            <a:ext cx="3017520" cy="731520"/>
          </a:xfrm>
          <a:prstGeom prst="rect">
            <a:avLst/>
          </a:prstGeom>
          <a:noFill/>
        </p:spPr>
        <p:txBody>
          <a:bodyPr wrap="square" lIns="0" rIns="0" tIns="0" bIns="0" anchor="t">
            <a:spAutoFit/>
          </a:bodyPr>
          <a:lstStyle/>
          <a:p>
            <a:pPr algn="l">
              <a:spcAft>
                <a:spcPts val="0"/>
              </a:spcAft>
            </a:pPr>
            <a:r>
              <a:rPr sz="4000" b="1" i="0">
                <a:solidFill>
                  <a:srgbClr val="16202E"/>
                </a:solidFill>
                <a:latin typeface="Cambria"/>
              </a:rPr>
              <a:t>10–32 ms</a:t>
            </a:r>
          </a:p>
        </p:txBody>
      </p:sp>
      <p:sp>
        <p:nvSpPr>
          <p:cNvPr id="9" name="TextBox 8"/>
          <p:cNvSpPr txBox="1"/>
          <p:nvPr/>
        </p:nvSpPr>
        <p:spPr>
          <a:xfrm>
            <a:off x="8641080" y="4064000"/>
            <a:ext cx="301752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bước quyết định của các VAD chuyên dụng</a:t>
            </a:r>
          </a:p>
        </p:txBody>
      </p:sp>
      <p:sp>
        <p:nvSpPr>
          <p:cNvPr id="10" name="Rounded Rectangle 9"/>
          <p:cNvSpPr/>
          <p:nvPr/>
        </p:nvSpPr>
        <p:spPr>
          <a:xfrm>
            <a:off x="8641080" y="4892040"/>
            <a:ext cx="2999232"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TextBox 10"/>
          <p:cNvSpPr txBox="1"/>
          <p:nvPr/>
        </p:nvSpPr>
        <p:spPr>
          <a:xfrm>
            <a:off x="8823960" y="4983480"/>
            <a:ext cx="2651760" cy="1143000"/>
          </a:xfrm>
          <a:prstGeom prst="rect">
            <a:avLst/>
          </a:prstGeom>
          <a:noFill/>
        </p:spPr>
        <p:txBody>
          <a:bodyPr wrap="square" lIns="0" rIns="0" tIns="0" bIns="0" anchor="ctr">
            <a:spAutoFit/>
          </a:bodyPr>
          <a:lstStyle/>
          <a:p>
            <a:pPr algn="l">
              <a:spcAft>
                <a:spcPts val="0"/>
              </a:spcAft>
            </a:pPr>
            <a:r>
              <a:rPr sz="1300" b="1" i="0">
                <a:solidFill>
                  <a:srgbClr val="16202E"/>
                </a:solidFill>
                <a:latin typeface="Calibri"/>
              </a:rPr>
              <a:t>Hệ quả: </a:t>
            </a:r>
            <a:r>
              <a:rPr sz="1300" b="0" i="0">
                <a:solidFill>
                  <a:srgbClr val="16202E"/>
                </a:solidFill>
                <a:latin typeface="Calibri"/>
              </a:rPr>
              <a:t>nhận ra giọng người rất tốt, nhưng vùng speech bị "giãn" ra ở biên. Hướng sửa: thêm nhánh frame-level 10 ms.</a:t>
            </a:r>
          </a:p>
        </p:txBody>
      </p:sp>
      <p:sp>
        <p:nvSpPr>
          <p:cNvPr id="12" name="TextBox 11"/>
          <p:cNvSpPr txBox="1"/>
          <p:nvPr/>
        </p:nvSpPr>
        <p:spPr>
          <a:xfrm>
            <a:off x="548640" y="6419088"/>
            <a:ext cx="10241280" cy="274320"/>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Số tham số và bước quyết định là giá trị xấp xỉ từ tài liệu công bố (MarbleNet, SincQDR, TinyVAD, Silero, pyannote, YAMNet).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909827"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Vấn đề mở</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Ranh giới khó: giọng bị che và âm thanh "giống giọng"</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5 / 15</a:t>
            </a:r>
          </a:p>
        </p:txBody>
      </p:sp>
      <p:sp>
        <p:nvSpPr>
          <p:cNvPr id="5" name="Rounded Rectangle 4"/>
          <p:cNvSpPr/>
          <p:nvPr/>
        </p:nvSpPr>
        <p:spPr>
          <a:xfrm>
            <a:off x="548640" y="1691640"/>
            <a:ext cx="5454396" cy="3611880"/>
          </a:xfrm>
          <a:prstGeom prst="roundRect">
            <a:avLst>
              <a:gd name="adj" fmla="val 6000"/>
            </a:avLst>
          </a:prstGeom>
          <a:solidFill>
            <a:srgbClr val="FCEB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822959" y="1801368"/>
            <a:ext cx="3566160" cy="411480"/>
          </a:xfrm>
          <a:prstGeom prst="rect">
            <a:avLst/>
          </a:prstGeom>
          <a:noFill/>
        </p:spPr>
        <p:txBody>
          <a:bodyPr wrap="square" lIns="0" rIns="0" tIns="0" bIns="0" anchor="t">
            <a:spAutoFit/>
          </a:bodyPr>
          <a:lstStyle/>
          <a:p>
            <a:pPr algn="l">
              <a:spcAft>
                <a:spcPts val="0"/>
              </a:spcAft>
            </a:pPr>
            <a:r>
              <a:rPr sz="1900" b="1" i="0">
                <a:solidFill>
                  <a:srgbClr val="7A1F1F"/>
                </a:solidFill>
                <a:latin typeface="Cambria"/>
              </a:rPr>
              <a:t>Dễ bỏ sót (positive khó)</a:t>
            </a:r>
          </a:p>
        </p:txBody>
      </p:sp>
      <p:sp>
        <p:nvSpPr>
          <p:cNvPr id="7" name="Rounded Rectangle 6"/>
          <p:cNvSpPr/>
          <p:nvPr/>
        </p:nvSpPr>
        <p:spPr>
          <a:xfrm>
            <a:off x="5136849" y="1856231"/>
            <a:ext cx="591866" cy="292608"/>
          </a:xfrm>
          <a:prstGeom prst="roundRect">
            <a:avLst>
              <a:gd name="adj" fmla="val 5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200" b="1">
                <a:solidFill>
                  <a:srgbClr val="7A1F1F"/>
                </a:solidFill>
                <a:latin typeface="Calibri"/>
              </a:rPr>
              <a:t>Miss</a:t>
            </a:r>
          </a:p>
        </p:txBody>
      </p:sp>
      <p:sp>
        <p:nvSpPr>
          <p:cNvPr id="8" name="Oval 7"/>
          <p:cNvSpPr/>
          <p:nvPr/>
        </p:nvSpPr>
        <p:spPr>
          <a:xfrm>
            <a:off x="822959" y="2377440"/>
            <a:ext cx="566928" cy="566928"/>
          </a:xfrm>
          <a:prstGeom prst="ellipse">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9" name="Picture 8" descr="music_w.png"/>
          <p:cNvPicPr>
            <a:picLocks noChangeAspect="1"/>
          </p:cNvPicPr>
          <p:nvPr/>
        </p:nvPicPr>
        <p:blipFill>
          <a:blip r:embed="rId2"/>
          <a:stretch>
            <a:fillRect/>
          </a:stretch>
        </p:blipFill>
        <p:spPr>
          <a:xfrm>
            <a:off x="947684" y="2502164"/>
            <a:ext cx="317479" cy="317479"/>
          </a:xfrm>
          <a:prstGeom prst="rect">
            <a:avLst/>
          </a:prstGeom>
        </p:spPr>
      </p:pic>
      <p:sp>
        <p:nvSpPr>
          <p:cNvPr id="10" name="TextBox 9"/>
          <p:cNvSpPr txBox="1"/>
          <p:nvPr/>
        </p:nvSpPr>
        <p:spPr>
          <a:xfrm>
            <a:off x="1572768" y="2350008"/>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Nói trên nền nhạc</a:t>
            </a:r>
          </a:p>
        </p:txBody>
      </p:sp>
      <p:sp>
        <p:nvSpPr>
          <p:cNvPr id="11" name="TextBox 10"/>
          <p:cNvSpPr txBox="1"/>
          <p:nvPr/>
        </p:nvSpPr>
        <p:spPr>
          <a:xfrm>
            <a:off x="1572768" y="2679192"/>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Nhạc che mất lời nói</a:t>
            </a:r>
          </a:p>
        </p:txBody>
      </p:sp>
      <p:sp>
        <p:nvSpPr>
          <p:cNvPr id="12" name="Oval 11"/>
          <p:cNvSpPr/>
          <p:nvPr/>
        </p:nvSpPr>
        <p:spPr>
          <a:xfrm>
            <a:off x="822959" y="3319272"/>
            <a:ext cx="566928" cy="566928"/>
          </a:xfrm>
          <a:prstGeom prst="ellipse">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3" name="Picture 12" descr="sing_w.png"/>
          <p:cNvPicPr>
            <a:picLocks noChangeAspect="1"/>
          </p:cNvPicPr>
          <p:nvPr/>
        </p:nvPicPr>
        <p:blipFill>
          <a:blip r:embed="rId3"/>
          <a:stretch>
            <a:fillRect/>
          </a:stretch>
        </p:blipFill>
        <p:spPr>
          <a:xfrm>
            <a:off x="947684" y="3443996"/>
            <a:ext cx="317479" cy="317479"/>
          </a:xfrm>
          <a:prstGeom prst="rect">
            <a:avLst/>
          </a:prstGeom>
        </p:spPr>
      </p:pic>
      <p:sp>
        <p:nvSpPr>
          <p:cNvPr id="14" name="TextBox 13"/>
          <p:cNvSpPr txBox="1"/>
          <p:nvPr/>
        </p:nvSpPr>
        <p:spPr>
          <a:xfrm>
            <a:off x="1572768" y="3291840"/>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Hát bị nhạc đệm che</a:t>
            </a:r>
          </a:p>
        </p:txBody>
      </p:sp>
      <p:sp>
        <p:nvSpPr>
          <p:cNvPr id="15" name="TextBox 14"/>
          <p:cNvSpPr txBox="1"/>
          <p:nvPr/>
        </p:nvSpPr>
        <p:spPr>
          <a:xfrm>
            <a:off x="1572768" y="3621024"/>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Giọng hát và nhạc cụ trộn lẫn</a:t>
            </a:r>
          </a:p>
        </p:txBody>
      </p:sp>
      <p:sp>
        <p:nvSpPr>
          <p:cNvPr id="16" name="Oval 15"/>
          <p:cNvSpPr/>
          <p:nvPr/>
        </p:nvSpPr>
        <p:spPr>
          <a:xfrm>
            <a:off x="822959" y="4261104"/>
            <a:ext cx="566928" cy="566928"/>
          </a:xfrm>
          <a:prstGeom prst="ellipse">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 name="Picture 16" descr="speech_w.png"/>
          <p:cNvPicPr>
            <a:picLocks noChangeAspect="1"/>
          </p:cNvPicPr>
          <p:nvPr/>
        </p:nvPicPr>
        <p:blipFill>
          <a:blip r:embed="rId4"/>
          <a:stretch>
            <a:fillRect/>
          </a:stretch>
        </p:blipFill>
        <p:spPr>
          <a:xfrm>
            <a:off x="947684" y="4385828"/>
            <a:ext cx="317479" cy="317479"/>
          </a:xfrm>
          <a:prstGeom prst="rect">
            <a:avLst/>
          </a:prstGeom>
        </p:spPr>
      </p:pic>
      <p:sp>
        <p:nvSpPr>
          <p:cNvPr id="18" name="TextBox 17"/>
          <p:cNvSpPr txBox="1"/>
          <p:nvPr/>
        </p:nvSpPr>
        <p:spPr>
          <a:xfrm>
            <a:off x="1572768" y="4233672"/>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Một người nói giữa đám đông</a:t>
            </a:r>
          </a:p>
        </p:txBody>
      </p:sp>
      <p:sp>
        <p:nvSpPr>
          <p:cNvPr id="19" name="TextBox 18"/>
          <p:cNvSpPr txBox="1"/>
          <p:nvPr/>
        </p:nvSpPr>
        <p:spPr>
          <a:xfrm>
            <a:off x="1572768" y="4562856"/>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Giọng nổi bật trên nền rì rầm</a:t>
            </a:r>
          </a:p>
        </p:txBody>
      </p:sp>
      <p:sp>
        <p:nvSpPr>
          <p:cNvPr id="20" name="Rounded Rectangle 19"/>
          <p:cNvSpPr/>
          <p:nvPr/>
        </p:nvSpPr>
        <p:spPr>
          <a:xfrm>
            <a:off x="6185916" y="1691640"/>
            <a:ext cx="5454396" cy="3611880"/>
          </a:xfrm>
          <a:prstGeom prst="roundRect">
            <a:avLst>
              <a:gd name="adj" fmla="val 6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TextBox 20"/>
          <p:cNvSpPr txBox="1"/>
          <p:nvPr/>
        </p:nvSpPr>
        <p:spPr>
          <a:xfrm>
            <a:off x="6460236" y="1801368"/>
            <a:ext cx="3566160" cy="411480"/>
          </a:xfrm>
          <a:prstGeom prst="rect">
            <a:avLst/>
          </a:prstGeom>
          <a:noFill/>
        </p:spPr>
        <p:txBody>
          <a:bodyPr wrap="square" lIns="0" rIns="0" tIns="0" bIns="0" anchor="t">
            <a:spAutoFit/>
          </a:bodyPr>
          <a:lstStyle/>
          <a:p>
            <a:pPr algn="l">
              <a:spcAft>
                <a:spcPts val="0"/>
              </a:spcAft>
            </a:pPr>
            <a:r>
              <a:rPr sz="1900" b="1" i="0">
                <a:solidFill>
                  <a:srgbClr val="7A5200"/>
                </a:solidFill>
                <a:latin typeface="Cambria"/>
              </a:rPr>
              <a:t>Dễ báo nhầm (negative khó)</a:t>
            </a:r>
          </a:p>
        </p:txBody>
      </p:sp>
      <p:sp>
        <p:nvSpPr>
          <p:cNvPr id="22" name="Rounded Rectangle 21"/>
          <p:cNvSpPr/>
          <p:nvPr/>
        </p:nvSpPr>
        <p:spPr>
          <a:xfrm>
            <a:off x="10250424" y="1856231"/>
            <a:ext cx="1115568" cy="292608"/>
          </a:xfrm>
          <a:prstGeom prst="roundRect">
            <a:avLst>
              <a:gd name="adj" fmla="val 5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200" b="1">
                <a:solidFill>
                  <a:srgbClr val="7A5200"/>
                </a:solidFill>
                <a:latin typeface="Calibri"/>
              </a:rPr>
              <a:t>False alarm</a:t>
            </a:r>
          </a:p>
        </p:txBody>
      </p:sp>
      <p:sp>
        <p:nvSpPr>
          <p:cNvPr id="23" name="Oval 22"/>
          <p:cNvSpPr/>
          <p:nvPr/>
        </p:nvSpPr>
        <p:spPr>
          <a:xfrm>
            <a:off x="6460236" y="2377440"/>
            <a:ext cx="566928" cy="566928"/>
          </a:xfrm>
          <a:prstGeom prst="ellipse">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4" name="Picture 23" descr="speech_w.png"/>
          <p:cNvPicPr>
            <a:picLocks noChangeAspect="1"/>
          </p:cNvPicPr>
          <p:nvPr/>
        </p:nvPicPr>
        <p:blipFill>
          <a:blip r:embed="rId4"/>
          <a:stretch>
            <a:fillRect/>
          </a:stretch>
        </p:blipFill>
        <p:spPr>
          <a:xfrm>
            <a:off x="6584960" y="2502164"/>
            <a:ext cx="317479" cy="317479"/>
          </a:xfrm>
          <a:prstGeom prst="rect">
            <a:avLst/>
          </a:prstGeom>
        </p:spPr>
      </p:pic>
      <p:sp>
        <p:nvSpPr>
          <p:cNvPr id="25" name="TextBox 24"/>
          <p:cNvSpPr txBox="1"/>
          <p:nvPr/>
        </p:nvSpPr>
        <p:spPr>
          <a:xfrm>
            <a:off x="7210044" y="2350008"/>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Đám đông rì rầm không rõ lời</a:t>
            </a:r>
          </a:p>
        </p:txBody>
      </p:sp>
      <p:sp>
        <p:nvSpPr>
          <p:cNvPr id="26" name="TextBox 25"/>
          <p:cNvSpPr txBox="1"/>
          <p:nvPr/>
        </p:nvSpPr>
        <p:spPr>
          <a:xfrm>
            <a:off x="7210044" y="2679192"/>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Có giọng người nhưng không theo dõi được</a:t>
            </a:r>
          </a:p>
        </p:txBody>
      </p:sp>
      <p:sp>
        <p:nvSpPr>
          <p:cNvPr id="27" name="Oval 26"/>
          <p:cNvSpPr/>
          <p:nvPr/>
        </p:nvSpPr>
        <p:spPr>
          <a:xfrm>
            <a:off x="6460236" y="3319272"/>
            <a:ext cx="566928" cy="566928"/>
          </a:xfrm>
          <a:prstGeom prst="ellipse">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8" name="Picture 27" descr="piano_w.png"/>
          <p:cNvPicPr>
            <a:picLocks noChangeAspect="1"/>
          </p:cNvPicPr>
          <p:nvPr/>
        </p:nvPicPr>
        <p:blipFill>
          <a:blip r:embed="rId5"/>
          <a:stretch>
            <a:fillRect/>
          </a:stretch>
        </p:blipFill>
        <p:spPr>
          <a:xfrm>
            <a:off x="6584960" y="3443996"/>
            <a:ext cx="317479" cy="317479"/>
          </a:xfrm>
          <a:prstGeom prst="rect">
            <a:avLst/>
          </a:prstGeom>
        </p:spPr>
      </p:pic>
      <p:sp>
        <p:nvSpPr>
          <p:cNvPr id="29" name="TextBox 28"/>
          <p:cNvSpPr txBox="1"/>
          <p:nvPr/>
        </p:nvSpPr>
        <p:spPr>
          <a:xfrm>
            <a:off x="7210044" y="3291840"/>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Nhạc cụ "giống giọng"</a:t>
            </a:r>
          </a:p>
        </p:txBody>
      </p:sp>
      <p:sp>
        <p:nvSpPr>
          <p:cNvPr id="30" name="TextBox 29"/>
          <p:cNvSpPr txBox="1"/>
          <p:nvPr/>
        </p:nvSpPr>
        <p:spPr>
          <a:xfrm>
            <a:off x="7210044" y="3621024"/>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Violin, sáo, synth có cao độ liên tục</a:t>
            </a:r>
          </a:p>
        </p:txBody>
      </p:sp>
      <p:sp>
        <p:nvSpPr>
          <p:cNvPr id="31" name="Oval 30"/>
          <p:cNvSpPr/>
          <p:nvPr/>
        </p:nvSpPr>
        <p:spPr>
          <a:xfrm>
            <a:off x="6460236" y="4261104"/>
            <a:ext cx="566928" cy="566928"/>
          </a:xfrm>
          <a:prstGeom prst="ellipse">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2" name="Picture 31" descr="warn_w.png"/>
          <p:cNvPicPr>
            <a:picLocks noChangeAspect="1"/>
          </p:cNvPicPr>
          <p:nvPr/>
        </p:nvPicPr>
        <p:blipFill>
          <a:blip r:embed="rId6"/>
          <a:stretch>
            <a:fillRect/>
          </a:stretch>
        </p:blipFill>
        <p:spPr>
          <a:xfrm>
            <a:off x="6584960" y="4385828"/>
            <a:ext cx="317479" cy="317479"/>
          </a:xfrm>
          <a:prstGeom prst="rect">
            <a:avLst/>
          </a:prstGeom>
        </p:spPr>
      </p:pic>
      <p:sp>
        <p:nvSpPr>
          <p:cNvPr id="33" name="TextBox 32"/>
          <p:cNvSpPr txBox="1"/>
          <p:nvPr/>
        </p:nvSpPr>
        <p:spPr>
          <a:xfrm>
            <a:off x="7210044" y="4233672"/>
            <a:ext cx="4206240" cy="347472"/>
          </a:xfrm>
          <a:prstGeom prst="rect">
            <a:avLst/>
          </a:prstGeom>
          <a:noFill/>
        </p:spPr>
        <p:txBody>
          <a:bodyPr wrap="square" lIns="0" rIns="0" tIns="0" bIns="0" anchor="t">
            <a:spAutoFit/>
          </a:bodyPr>
          <a:lstStyle/>
          <a:p>
            <a:pPr algn="l">
              <a:spcAft>
                <a:spcPts val="0"/>
              </a:spcAft>
            </a:pPr>
            <a:r>
              <a:rPr sz="1600" b="1" i="0">
                <a:solidFill>
                  <a:srgbClr val="16202E"/>
                </a:solidFill>
                <a:latin typeface="Calibri"/>
              </a:rPr>
              <a:t>Cười, ho, khóc</a:t>
            </a:r>
          </a:p>
        </p:txBody>
      </p:sp>
      <p:sp>
        <p:nvSpPr>
          <p:cNvPr id="34" name="TextBox 33"/>
          <p:cNvSpPr txBox="1"/>
          <p:nvPr/>
        </p:nvSpPr>
        <p:spPr>
          <a:xfrm>
            <a:off x="7210044" y="4562856"/>
            <a:ext cx="4206240" cy="347472"/>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Âm do người phát ra nhưng không thành lời</a:t>
            </a:r>
          </a:p>
        </p:txBody>
      </p:sp>
      <p:sp>
        <p:nvSpPr>
          <p:cNvPr id="35" name="Rounded Rectangle 34"/>
          <p:cNvSpPr/>
          <p:nvPr/>
        </p:nvSpPr>
        <p:spPr>
          <a:xfrm>
            <a:off x="548640" y="5458968"/>
            <a:ext cx="11091672" cy="7315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TextBox 35"/>
          <p:cNvSpPr txBox="1"/>
          <p:nvPr/>
        </p:nvSpPr>
        <p:spPr>
          <a:xfrm>
            <a:off x="777240" y="5458968"/>
            <a:ext cx="10698480" cy="731520"/>
          </a:xfrm>
          <a:prstGeom prst="rect">
            <a:avLst/>
          </a:prstGeom>
          <a:noFill/>
        </p:spPr>
        <p:txBody>
          <a:bodyPr wrap="square" lIns="0" rIns="0" tIns="0" bIns="0" anchor="ctr">
            <a:spAutoFit/>
          </a:bodyPr>
          <a:lstStyle/>
          <a:p>
            <a:pPr algn="l">
              <a:spcAft>
                <a:spcPts val="0"/>
              </a:spcAft>
            </a:pPr>
            <a:r>
              <a:rPr sz="1400" b="1" i="0">
                <a:solidFill>
                  <a:srgbClr val="16202E"/>
                </a:solidFill>
                <a:latin typeface="Calibri"/>
              </a:rPr>
              <a:t>Với YAMNet: </a:t>
            </a:r>
            <a:r>
              <a:rPr sz="1400" b="0" i="0">
                <a:solidFill>
                  <a:srgbClr val="16202E"/>
                </a:solidFill>
                <a:latin typeface="Calibri"/>
              </a:rPr>
              <a:t>AudioSet có sẵn lớp Speech và Singing nên hát không còn là điểm yếu; ngược lại, mô hình pretrained thường cho điểm Speech cao với tiếng đám đông.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841247"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Đánh giá</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Đánh giá ở bốn tầng, mỗi tầng bắt một loại lỗi khác nhau</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6 / 15</a:t>
            </a:r>
          </a:p>
        </p:txBody>
      </p:sp>
      <p:sp>
        <p:nvSpPr>
          <p:cNvPr id="5" name="Rounded Rectangle 4"/>
          <p:cNvSpPr/>
          <p:nvPr/>
        </p:nvSpPr>
        <p:spPr>
          <a:xfrm>
            <a:off x="548640" y="4251960"/>
            <a:ext cx="2103120" cy="1920240"/>
          </a:xfrm>
          <a:prstGeom prst="roundRect">
            <a:avLst>
              <a:gd name="adj" fmla="val 5000"/>
            </a:avLst>
          </a:prstGeom>
          <a:solidFill>
            <a:srgbClr val="E6F3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749808" y="4416552"/>
            <a:ext cx="1737360" cy="36576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Tầng 1</a:t>
            </a:r>
          </a:p>
        </p:txBody>
      </p:sp>
      <p:sp>
        <p:nvSpPr>
          <p:cNvPr id="7" name="TextBox 6"/>
          <p:cNvSpPr txBox="1"/>
          <p:nvPr/>
        </p:nvSpPr>
        <p:spPr>
          <a:xfrm>
            <a:off x="749808" y="4690872"/>
            <a:ext cx="1737360" cy="411480"/>
          </a:xfrm>
          <a:prstGeom prst="rect">
            <a:avLst/>
          </a:prstGeom>
          <a:noFill/>
        </p:spPr>
        <p:txBody>
          <a:bodyPr wrap="square" lIns="0" rIns="0" tIns="0" bIns="0" anchor="t">
            <a:spAutoFit/>
          </a:bodyPr>
          <a:lstStyle/>
          <a:p>
            <a:pPr algn="l">
              <a:spcAft>
                <a:spcPts val="0"/>
              </a:spcAft>
            </a:pPr>
            <a:r>
              <a:rPr sz="1800" b="1" i="0">
                <a:solidFill>
                  <a:srgbClr val="0A5C5B"/>
                </a:solidFill>
                <a:latin typeface="Cambria"/>
              </a:rPr>
              <a:t>Phân biệt</a:t>
            </a:r>
          </a:p>
        </p:txBody>
      </p:sp>
      <p:sp>
        <p:nvSpPr>
          <p:cNvPr id="8" name="TextBox 7"/>
          <p:cNvSpPr txBox="1"/>
          <p:nvPr/>
        </p:nvSpPr>
        <p:spPr>
          <a:xfrm>
            <a:off x="749808" y="5120640"/>
            <a:ext cx="1737360" cy="685800"/>
          </a:xfrm>
          <a:prstGeom prst="rect">
            <a:avLst/>
          </a:prstGeom>
          <a:noFill/>
        </p:spPr>
        <p:txBody>
          <a:bodyPr wrap="square" lIns="0" rIns="0" tIns="0" bIns="0" anchor="t">
            <a:spAutoFit/>
          </a:bodyPr>
          <a:lstStyle/>
          <a:p>
            <a:pPr algn="l">
              <a:spcAft>
                <a:spcPts val="0"/>
              </a:spcAft>
            </a:pPr>
            <a:r>
              <a:rPr sz="1300" b="1" i="0">
                <a:solidFill>
                  <a:srgbClr val="0A5C5B"/>
                </a:solidFill>
                <a:latin typeface="Calibri"/>
              </a:rPr>
              <a:t>ROC-AUC, PR-AUC</a:t>
            </a:r>
          </a:p>
        </p:txBody>
      </p:sp>
      <p:sp>
        <p:nvSpPr>
          <p:cNvPr id="9" name="TextBox 8"/>
          <p:cNvSpPr txBox="1"/>
          <p:nvPr/>
        </p:nvSpPr>
        <p:spPr>
          <a:xfrm>
            <a:off x="749808" y="5669280"/>
            <a:ext cx="1737360" cy="457200"/>
          </a:xfrm>
          <a:prstGeom prst="rect">
            <a:avLst/>
          </a:prstGeom>
          <a:noFill/>
        </p:spPr>
        <p:txBody>
          <a:bodyPr wrap="square" lIns="0" rIns="0" tIns="0" bIns="0" anchor="t">
            <a:spAutoFit/>
          </a:bodyPr>
          <a:lstStyle/>
          <a:p>
            <a:pPr algn="l">
              <a:spcAft>
                <a:spcPts val="0"/>
              </a:spcAft>
            </a:pPr>
            <a:r>
              <a:rPr sz="1200" b="0" i="0">
                <a:solidFill>
                  <a:srgbClr val="5B6472"/>
                </a:solidFill>
                <a:latin typeface="Calibri"/>
              </a:rPr>
              <a:t>So model với model, chưa cần ngưỡng</a:t>
            </a:r>
          </a:p>
        </p:txBody>
      </p:sp>
      <p:sp>
        <p:nvSpPr>
          <p:cNvPr id="10" name="Rounded Rectangle 9"/>
          <p:cNvSpPr/>
          <p:nvPr/>
        </p:nvSpPr>
        <p:spPr>
          <a:xfrm>
            <a:off x="2788920" y="3630168"/>
            <a:ext cx="2103120" cy="2542032"/>
          </a:xfrm>
          <a:prstGeom prst="roundRect">
            <a:avLst>
              <a:gd name="adj" fmla="val 5000"/>
            </a:avLst>
          </a:prstGeom>
          <a:solidFill>
            <a:srgbClr val="B9E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TextBox 10"/>
          <p:cNvSpPr txBox="1"/>
          <p:nvPr/>
        </p:nvSpPr>
        <p:spPr>
          <a:xfrm>
            <a:off x="2990088" y="3794759"/>
            <a:ext cx="1737360" cy="36576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Tầng 2</a:t>
            </a:r>
          </a:p>
        </p:txBody>
      </p:sp>
      <p:sp>
        <p:nvSpPr>
          <p:cNvPr id="12" name="TextBox 11"/>
          <p:cNvSpPr txBox="1"/>
          <p:nvPr/>
        </p:nvSpPr>
        <p:spPr>
          <a:xfrm>
            <a:off x="2990088" y="4069079"/>
            <a:ext cx="1737360" cy="411480"/>
          </a:xfrm>
          <a:prstGeom prst="rect">
            <a:avLst/>
          </a:prstGeom>
          <a:noFill/>
        </p:spPr>
        <p:txBody>
          <a:bodyPr wrap="square" lIns="0" rIns="0" tIns="0" bIns="0" anchor="t">
            <a:spAutoFit/>
          </a:bodyPr>
          <a:lstStyle/>
          <a:p>
            <a:pPr algn="l">
              <a:spcAft>
                <a:spcPts val="0"/>
              </a:spcAft>
            </a:pPr>
            <a:r>
              <a:rPr sz="1800" b="1" i="0">
                <a:solidFill>
                  <a:srgbClr val="0A5C5B"/>
                </a:solidFill>
                <a:latin typeface="Cambria"/>
              </a:rPr>
              <a:t>Điểm vận hành</a:t>
            </a:r>
          </a:p>
        </p:txBody>
      </p:sp>
      <p:sp>
        <p:nvSpPr>
          <p:cNvPr id="13" name="TextBox 12"/>
          <p:cNvSpPr txBox="1"/>
          <p:nvPr/>
        </p:nvSpPr>
        <p:spPr>
          <a:xfrm>
            <a:off x="2990088" y="4498848"/>
            <a:ext cx="1737360" cy="685800"/>
          </a:xfrm>
          <a:prstGeom prst="rect">
            <a:avLst/>
          </a:prstGeom>
          <a:noFill/>
        </p:spPr>
        <p:txBody>
          <a:bodyPr wrap="square" lIns="0" rIns="0" tIns="0" bIns="0" anchor="t">
            <a:spAutoFit/>
          </a:bodyPr>
          <a:lstStyle/>
          <a:p>
            <a:pPr algn="l">
              <a:spcAft>
                <a:spcPts val="0"/>
              </a:spcAft>
            </a:pPr>
            <a:r>
              <a:rPr sz="1300" b="1" i="0">
                <a:solidFill>
                  <a:srgbClr val="0A5C5B"/>
                </a:solidFill>
                <a:latin typeface="Calibri"/>
              </a:rPr>
              <a:t>Miss, FA theo thời lượng; F1</a:t>
            </a:r>
          </a:p>
        </p:txBody>
      </p:sp>
      <p:sp>
        <p:nvSpPr>
          <p:cNvPr id="14" name="TextBox 13"/>
          <p:cNvSpPr txBox="1"/>
          <p:nvPr/>
        </p:nvSpPr>
        <p:spPr>
          <a:xfrm>
            <a:off x="2990088" y="5047488"/>
            <a:ext cx="1737360" cy="457200"/>
          </a:xfrm>
          <a:prstGeom prst="rect">
            <a:avLst/>
          </a:prstGeom>
          <a:noFill/>
        </p:spPr>
        <p:txBody>
          <a:bodyPr wrap="square" lIns="0" rIns="0" tIns="0" bIns="0" anchor="t">
            <a:spAutoFit/>
          </a:bodyPr>
          <a:lstStyle/>
          <a:p>
            <a:pPr algn="l">
              <a:spcAft>
                <a:spcPts val="0"/>
              </a:spcAft>
            </a:pPr>
            <a:r>
              <a:rPr sz="1200" b="0" i="0">
                <a:solidFill>
                  <a:srgbClr val="35514F"/>
                </a:solidFill>
                <a:latin typeface="Calibri"/>
              </a:rPr>
              <a:t>Với đúng ngưỡng đóng gói trong lib</a:t>
            </a:r>
          </a:p>
        </p:txBody>
      </p:sp>
      <p:sp>
        <p:nvSpPr>
          <p:cNvPr id="15" name="Rounded Rectangle 14"/>
          <p:cNvSpPr/>
          <p:nvPr/>
        </p:nvSpPr>
        <p:spPr>
          <a:xfrm>
            <a:off x="5029199" y="3008376"/>
            <a:ext cx="2103120" cy="3163824"/>
          </a:xfrm>
          <a:prstGeom prst="roundRect">
            <a:avLst>
              <a:gd name="adj" fmla="val 5000"/>
            </a:avLst>
          </a:prstGeom>
          <a:solidFill>
            <a:srgbClr val="5FB3B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5230367" y="3172968"/>
            <a:ext cx="1737360" cy="365760"/>
          </a:xfrm>
          <a:prstGeom prst="rect">
            <a:avLst/>
          </a:prstGeom>
          <a:noFill/>
        </p:spPr>
        <p:txBody>
          <a:bodyPr wrap="square" lIns="0" rIns="0" tIns="0" bIns="0" anchor="t">
            <a:spAutoFit/>
          </a:bodyPr>
          <a:lstStyle/>
          <a:p>
            <a:pPr algn="l">
              <a:spcAft>
                <a:spcPts val="0"/>
              </a:spcAft>
            </a:pPr>
            <a:r>
              <a:rPr sz="1200" b="1" i="0">
                <a:solidFill>
                  <a:srgbClr val="FFFFFF"/>
                </a:solidFill>
                <a:latin typeface="Calibri"/>
              </a:rPr>
              <a:t>Tầng 3</a:t>
            </a:r>
          </a:p>
        </p:txBody>
      </p:sp>
      <p:sp>
        <p:nvSpPr>
          <p:cNvPr id="17" name="TextBox 16"/>
          <p:cNvSpPr txBox="1"/>
          <p:nvPr/>
        </p:nvSpPr>
        <p:spPr>
          <a:xfrm>
            <a:off x="5230367" y="3447288"/>
            <a:ext cx="1737360" cy="411480"/>
          </a:xfrm>
          <a:prstGeom prst="rect">
            <a:avLst/>
          </a:prstGeom>
          <a:noFill/>
        </p:spPr>
        <p:txBody>
          <a:bodyPr wrap="square" lIns="0" rIns="0" tIns="0" bIns="0" anchor="t">
            <a:spAutoFit/>
          </a:bodyPr>
          <a:lstStyle/>
          <a:p>
            <a:pPr algn="l">
              <a:spcAft>
                <a:spcPts val="0"/>
              </a:spcAft>
            </a:pPr>
            <a:r>
              <a:rPr sz="1800" b="1" i="0">
                <a:solidFill>
                  <a:srgbClr val="FFFFFF"/>
                </a:solidFill>
                <a:latin typeface="Cambria"/>
              </a:rPr>
              <a:t>Biên và đoạn</a:t>
            </a:r>
          </a:p>
        </p:txBody>
      </p:sp>
      <p:sp>
        <p:nvSpPr>
          <p:cNvPr id="18" name="TextBox 17"/>
          <p:cNvSpPr txBox="1"/>
          <p:nvPr/>
        </p:nvSpPr>
        <p:spPr>
          <a:xfrm>
            <a:off x="5230367" y="3877056"/>
            <a:ext cx="1737360" cy="685800"/>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Collar ≥ 0,25 s; sai số onset/offset P90</a:t>
            </a:r>
          </a:p>
        </p:txBody>
      </p:sp>
      <p:sp>
        <p:nvSpPr>
          <p:cNvPr id="19" name="TextBox 18"/>
          <p:cNvSpPr txBox="1"/>
          <p:nvPr/>
        </p:nvSpPr>
        <p:spPr>
          <a:xfrm>
            <a:off x="5230367" y="4425696"/>
            <a:ext cx="1737360" cy="457200"/>
          </a:xfrm>
          <a:prstGeom prst="rect">
            <a:avLst/>
          </a:prstGeom>
          <a:noFill/>
        </p:spPr>
        <p:txBody>
          <a:bodyPr wrap="square" lIns="0" rIns="0" tIns="0" bIns="0" anchor="t">
            <a:spAutoFit/>
          </a:bodyPr>
          <a:lstStyle/>
          <a:p>
            <a:pPr algn="l">
              <a:spcAft>
                <a:spcPts val="0"/>
              </a:spcAft>
            </a:pPr>
            <a:r>
              <a:rPr sz="1200" b="0" i="0">
                <a:solidFill>
                  <a:srgbClr val="F0FAFA"/>
                </a:solidFill>
                <a:latin typeface="Calibri"/>
              </a:rPr>
              <a:t>Bắt lỗi "giãn biên"</a:t>
            </a:r>
          </a:p>
        </p:txBody>
      </p:sp>
      <p:sp>
        <p:nvSpPr>
          <p:cNvPr id="20" name="Rounded Rectangle 19"/>
          <p:cNvSpPr/>
          <p:nvPr/>
        </p:nvSpPr>
        <p:spPr>
          <a:xfrm>
            <a:off x="7269479" y="2386583"/>
            <a:ext cx="2103120" cy="3785616"/>
          </a:xfrm>
          <a:prstGeom prst="roundRect">
            <a:avLst>
              <a:gd name="adj" fmla="val 5000"/>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TextBox 20"/>
          <p:cNvSpPr txBox="1"/>
          <p:nvPr/>
        </p:nvSpPr>
        <p:spPr>
          <a:xfrm>
            <a:off x="7470648" y="2551175"/>
            <a:ext cx="1737360" cy="365760"/>
          </a:xfrm>
          <a:prstGeom prst="rect">
            <a:avLst/>
          </a:prstGeom>
          <a:noFill/>
        </p:spPr>
        <p:txBody>
          <a:bodyPr wrap="square" lIns="0" rIns="0" tIns="0" bIns="0" anchor="t">
            <a:spAutoFit/>
          </a:bodyPr>
          <a:lstStyle/>
          <a:p>
            <a:pPr algn="l">
              <a:spcAft>
                <a:spcPts val="0"/>
              </a:spcAft>
            </a:pPr>
            <a:r>
              <a:rPr sz="1200" b="1" i="0">
                <a:solidFill>
                  <a:srgbClr val="FFFFFF"/>
                </a:solidFill>
                <a:latin typeface="Calibri"/>
              </a:rPr>
              <a:t>Tầng 4</a:t>
            </a:r>
          </a:p>
        </p:txBody>
      </p:sp>
      <p:sp>
        <p:nvSpPr>
          <p:cNvPr id="22" name="TextBox 21"/>
          <p:cNvSpPr txBox="1"/>
          <p:nvPr/>
        </p:nvSpPr>
        <p:spPr>
          <a:xfrm>
            <a:off x="7470648" y="2825495"/>
            <a:ext cx="1737360" cy="411480"/>
          </a:xfrm>
          <a:prstGeom prst="rect">
            <a:avLst/>
          </a:prstGeom>
          <a:noFill/>
        </p:spPr>
        <p:txBody>
          <a:bodyPr wrap="square" lIns="0" rIns="0" tIns="0" bIns="0" anchor="t">
            <a:spAutoFit/>
          </a:bodyPr>
          <a:lstStyle/>
          <a:p>
            <a:pPr algn="l">
              <a:spcAft>
                <a:spcPts val="0"/>
              </a:spcAft>
            </a:pPr>
            <a:r>
              <a:rPr sz="1800" b="1" i="0">
                <a:solidFill>
                  <a:srgbClr val="FFFFFF"/>
                </a:solidFill>
                <a:latin typeface="Cambria"/>
              </a:rPr>
              <a:t>Theo lát cắt</a:t>
            </a:r>
          </a:p>
        </p:txBody>
      </p:sp>
      <p:sp>
        <p:nvSpPr>
          <p:cNvPr id="23" name="TextBox 22"/>
          <p:cNvSpPr txBox="1"/>
          <p:nvPr/>
        </p:nvSpPr>
        <p:spPr>
          <a:xfrm>
            <a:off x="7470648" y="3255263"/>
            <a:ext cx="1737360" cy="685800"/>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Hát, đám đông, nhạc, cười/ho, SNR thấp</a:t>
            </a:r>
          </a:p>
        </p:txBody>
      </p:sp>
      <p:sp>
        <p:nvSpPr>
          <p:cNvPr id="24" name="TextBox 23"/>
          <p:cNvSpPr txBox="1"/>
          <p:nvPr/>
        </p:nvSpPr>
        <p:spPr>
          <a:xfrm>
            <a:off x="7470648" y="3803903"/>
            <a:ext cx="1737360" cy="457200"/>
          </a:xfrm>
          <a:prstGeom prst="rect">
            <a:avLst/>
          </a:prstGeom>
          <a:noFill/>
        </p:spPr>
        <p:txBody>
          <a:bodyPr wrap="square" lIns="0" rIns="0" tIns="0" bIns="0" anchor="t">
            <a:spAutoFit/>
          </a:bodyPr>
          <a:lstStyle/>
          <a:p>
            <a:pPr algn="l">
              <a:spcAft>
                <a:spcPts val="0"/>
              </a:spcAft>
            </a:pPr>
            <a:r>
              <a:rPr sz="1200" b="0" i="0">
                <a:solidFill>
                  <a:srgbClr val="E3F4F3"/>
                </a:solidFill>
                <a:latin typeface="Calibri"/>
              </a:rPr>
              <a:t>Luôn báo cáo lát tệ nhất</a:t>
            </a:r>
          </a:p>
        </p:txBody>
      </p:sp>
      <p:sp>
        <p:nvSpPr>
          <p:cNvPr id="25" name="Rounded Rectangle 24"/>
          <p:cNvSpPr/>
          <p:nvPr/>
        </p:nvSpPr>
        <p:spPr>
          <a:xfrm>
            <a:off x="9509760" y="2788920"/>
            <a:ext cx="2130552" cy="338328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Oval 25"/>
          <p:cNvSpPr/>
          <p:nvPr/>
        </p:nvSpPr>
        <p:spPr>
          <a:xfrm>
            <a:off x="9738360" y="3017520"/>
            <a:ext cx="548640" cy="548640"/>
          </a:xfrm>
          <a:prstGeom prst="ellipse">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7" name="Picture 26" descr="speed_w.png"/>
          <p:cNvPicPr>
            <a:picLocks noChangeAspect="1"/>
          </p:cNvPicPr>
          <p:nvPr/>
        </p:nvPicPr>
        <p:blipFill>
          <a:blip r:embed="rId2"/>
          <a:stretch>
            <a:fillRect/>
          </a:stretch>
        </p:blipFill>
        <p:spPr>
          <a:xfrm>
            <a:off x="9859060" y="3138220"/>
            <a:ext cx="307238" cy="307238"/>
          </a:xfrm>
          <a:prstGeom prst="rect">
            <a:avLst/>
          </a:prstGeom>
        </p:spPr>
      </p:pic>
      <p:sp>
        <p:nvSpPr>
          <p:cNvPr id="28" name="TextBox 27"/>
          <p:cNvSpPr txBox="1"/>
          <p:nvPr/>
        </p:nvSpPr>
        <p:spPr>
          <a:xfrm>
            <a:off x="9738360" y="3703320"/>
            <a:ext cx="1783080" cy="411480"/>
          </a:xfrm>
          <a:prstGeom prst="rect">
            <a:avLst/>
          </a:prstGeom>
          <a:noFill/>
        </p:spPr>
        <p:txBody>
          <a:bodyPr wrap="square" lIns="0" rIns="0" tIns="0" bIns="0" anchor="t">
            <a:spAutoFit/>
          </a:bodyPr>
          <a:lstStyle/>
          <a:p>
            <a:pPr algn="l">
              <a:spcAft>
                <a:spcPts val="0"/>
              </a:spcAft>
            </a:pPr>
            <a:r>
              <a:rPr sz="1800" b="1" i="0">
                <a:solidFill>
                  <a:srgbClr val="16202E"/>
                </a:solidFill>
                <a:latin typeface="Cambria"/>
              </a:rPr>
              <a:t>Hệ thống</a:t>
            </a:r>
          </a:p>
        </p:txBody>
      </p:sp>
      <p:sp>
        <p:nvSpPr>
          <p:cNvPr id="29" name="TextBox 28"/>
          <p:cNvSpPr txBox="1"/>
          <p:nvPr/>
        </p:nvSpPr>
        <p:spPr>
          <a:xfrm>
            <a:off x="9738360" y="4114800"/>
            <a:ext cx="1783080" cy="1920240"/>
          </a:xfrm>
          <a:prstGeom prst="rect">
            <a:avLst/>
          </a:prstGeom>
          <a:noFill/>
        </p:spPr>
        <p:txBody>
          <a:bodyPr wrap="square" lIns="0" rIns="0" tIns="0" bIns="0" anchor="t">
            <a:spAutoFit/>
          </a:bodyPr>
          <a:lstStyle/>
          <a:p>
            <a:pPr algn="l" marL="201168" indent="-201168">
              <a:spcAft>
                <a:spcPts val="400"/>
              </a:spcAft>
              <a:buFont typeface="Arial"/>
              <a:buChar char="•"/>
            </a:pPr>
            <a:r>
              <a:rPr sz="1300" b="0" i="0">
                <a:solidFill>
                  <a:srgbClr val="5B6472"/>
                </a:solidFill>
                <a:latin typeface="Calibri"/>
              </a:rPr>
              <a:t>RTF</a:t>
            </a:r>
          </a:p>
          <a:p>
            <a:pPr algn="l" marL="201168" indent="-201168">
              <a:spcAft>
                <a:spcPts val="400"/>
              </a:spcAft>
              <a:buFont typeface="Arial"/>
              <a:buChar char="•"/>
            </a:pPr>
            <a:r>
              <a:rPr sz="1300" b="0" i="0">
                <a:solidFill>
                  <a:srgbClr val="5B6472"/>
                </a:solidFill>
                <a:latin typeface="Calibri"/>
              </a:rPr>
              <a:t>CPU, điện năng</a:t>
            </a:r>
          </a:p>
          <a:p>
            <a:pPr algn="l" marL="201168" indent="-201168">
              <a:spcAft>
                <a:spcPts val="400"/>
              </a:spcAft>
              <a:buFont typeface="Arial"/>
              <a:buChar char="•"/>
            </a:pPr>
            <a:r>
              <a:rPr sz="1300" b="0" i="0">
                <a:solidFill>
                  <a:srgbClr val="5B6472"/>
                </a:solidFill>
                <a:latin typeface="Calibri"/>
              </a:rPr>
              <a:t>Bộ nhớ đỉnh</a:t>
            </a:r>
          </a:p>
          <a:p>
            <a:pPr algn="l" marL="201168" indent="-201168">
              <a:spcAft>
                <a:spcPts val="400"/>
              </a:spcAft>
              <a:buFont typeface="Arial"/>
              <a:buChar char="•"/>
            </a:pPr>
            <a:r>
              <a:rPr sz="1300" b="0" i="0">
                <a:solidFill>
                  <a:srgbClr val="5B6472"/>
                </a:solidFill>
                <a:latin typeface="Calibri"/>
              </a:rPr>
              <a:t>Kích thước lib.so</a:t>
            </a:r>
          </a:p>
        </p:txBody>
      </p:sp>
      <p:sp>
        <p:nvSpPr>
          <p:cNvPr id="30" name="TextBox 29"/>
          <p:cNvSpPr txBox="1"/>
          <p:nvPr/>
        </p:nvSpPr>
        <p:spPr>
          <a:xfrm>
            <a:off x="548640" y="1691640"/>
            <a:ext cx="11091672" cy="411480"/>
          </a:xfrm>
          <a:prstGeom prst="rect">
            <a:avLst/>
          </a:prstGeom>
          <a:noFill/>
        </p:spPr>
        <p:txBody>
          <a:bodyPr wrap="square" lIns="0" rIns="0" tIns="0" bIns="0" anchor="t">
            <a:spAutoFit/>
          </a:bodyPr>
          <a:lstStyle/>
          <a:p>
            <a:pPr algn="l">
              <a:spcAft>
                <a:spcPts val="0"/>
              </a:spcAft>
            </a:pPr>
            <a:r>
              <a:rPr sz="1500" b="0" i="0">
                <a:solidFill>
                  <a:srgbClr val="5B6472"/>
                </a:solidFill>
                <a:latin typeface="Calibri"/>
              </a:rPr>
              <a:t>Càng lên cao càng gần trải nghiệm thật: AUC không đổi khi đổi ngưỡng, còn người dùng cảm nhận ở tầng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841247"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Đánh giá</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Tập test phải phủ mọi loại âm thanh mà model nhận được</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7 / 15</a:t>
            </a:r>
          </a:p>
        </p:txBody>
      </p:sp>
      <p:sp>
        <p:nvSpPr>
          <p:cNvPr id="5" name="Rounded Rectangle 4"/>
          <p:cNvSpPr/>
          <p:nvPr/>
        </p:nvSpPr>
        <p:spPr>
          <a:xfrm>
            <a:off x="548640" y="1737360"/>
            <a:ext cx="4206240"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Oval 5"/>
          <p:cNvSpPr/>
          <p:nvPr/>
        </p:nvSpPr>
        <p:spPr>
          <a:xfrm>
            <a:off x="749808" y="1938528"/>
            <a:ext cx="530352" cy="53035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 name="Picture 6" descr="insights_w.png"/>
          <p:cNvPicPr>
            <a:picLocks noChangeAspect="1"/>
          </p:cNvPicPr>
          <p:nvPr/>
        </p:nvPicPr>
        <p:blipFill>
          <a:blip r:embed="rId2"/>
          <a:stretch>
            <a:fillRect/>
          </a:stretch>
        </p:blipFill>
        <p:spPr>
          <a:xfrm>
            <a:off x="866485" y="2055205"/>
            <a:ext cx="296997" cy="296997"/>
          </a:xfrm>
          <a:prstGeom prst="rect">
            <a:avLst/>
          </a:prstGeom>
        </p:spPr>
      </p:pic>
      <p:sp>
        <p:nvSpPr>
          <p:cNvPr id="8" name="TextBox 7"/>
          <p:cNvSpPr txBox="1"/>
          <p:nvPr/>
        </p:nvSpPr>
        <p:spPr>
          <a:xfrm>
            <a:off x="1463040" y="1901952"/>
            <a:ext cx="3154679"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Tập đại diện</a:t>
            </a:r>
          </a:p>
        </p:txBody>
      </p:sp>
      <p:sp>
        <p:nvSpPr>
          <p:cNvPr id="9" name="TextBox 8"/>
          <p:cNvSpPr txBox="1"/>
          <p:nvPr/>
        </p:nvSpPr>
        <p:spPr>
          <a:xfrm>
            <a:off x="1463040" y="2267712"/>
            <a:ext cx="3108959" cy="77724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Lấy ngẫu nhiên từ file thật của app, giữ đúng tỉ lệ. Con số tổng phản ánh trải nghiệm người dùng.</a:t>
            </a:r>
          </a:p>
        </p:txBody>
      </p:sp>
      <p:sp>
        <p:nvSpPr>
          <p:cNvPr id="10" name="Rounded Rectangle 9"/>
          <p:cNvSpPr/>
          <p:nvPr/>
        </p:nvSpPr>
        <p:spPr>
          <a:xfrm>
            <a:off x="548640" y="3200400"/>
            <a:ext cx="4206240"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Oval 10"/>
          <p:cNvSpPr/>
          <p:nvPr/>
        </p:nvSpPr>
        <p:spPr>
          <a:xfrm>
            <a:off x="749808" y="3401568"/>
            <a:ext cx="530352" cy="53035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2" name="Picture 11" descr="tune_w.png"/>
          <p:cNvPicPr>
            <a:picLocks noChangeAspect="1"/>
          </p:cNvPicPr>
          <p:nvPr/>
        </p:nvPicPr>
        <p:blipFill>
          <a:blip r:embed="rId3"/>
          <a:stretch>
            <a:fillRect/>
          </a:stretch>
        </p:blipFill>
        <p:spPr>
          <a:xfrm>
            <a:off x="866485" y="3518245"/>
            <a:ext cx="296997" cy="296997"/>
          </a:xfrm>
          <a:prstGeom prst="rect">
            <a:avLst/>
          </a:prstGeom>
        </p:spPr>
      </p:pic>
      <p:sp>
        <p:nvSpPr>
          <p:cNvPr id="13" name="TextBox 12"/>
          <p:cNvSpPr txBox="1"/>
          <p:nvPr/>
        </p:nvSpPr>
        <p:spPr>
          <a:xfrm>
            <a:off x="1463040" y="3364992"/>
            <a:ext cx="3154679"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Tập phân lát</a:t>
            </a:r>
          </a:p>
        </p:txBody>
      </p:sp>
      <p:sp>
        <p:nvSpPr>
          <p:cNvPr id="14" name="TextBox 13"/>
          <p:cNvSpPr txBox="1"/>
          <p:nvPr/>
        </p:nvSpPr>
        <p:spPr>
          <a:xfrm>
            <a:off x="1463040" y="3730752"/>
            <a:ext cx="3108959" cy="77724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Đủ mẫu cho từng điều kiện, kể cả hiếm. Cho biết model yếu ở đâu.</a:t>
            </a:r>
          </a:p>
        </p:txBody>
      </p:sp>
      <p:sp>
        <p:nvSpPr>
          <p:cNvPr id="15" name="Rounded Rectangle 14"/>
          <p:cNvSpPr/>
          <p:nvPr/>
        </p:nvSpPr>
        <p:spPr>
          <a:xfrm>
            <a:off x="548640" y="4709160"/>
            <a:ext cx="4206240" cy="1463040"/>
          </a:xfrm>
          <a:prstGeom prst="roundRect">
            <a:avLst>
              <a:gd name="adj" fmla="val 6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777240" y="4800600"/>
            <a:ext cx="3749039" cy="320040"/>
          </a:xfrm>
          <a:prstGeom prst="rect">
            <a:avLst/>
          </a:prstGeom>
          <a:noFill/>
        </p:spPr>
        <p:txBody>
          <a:bodyPr wrap="square" lIns="0" rIns="0" tIns="0" bIns="0" anchor="t">
            <a:spAutoFit/>
          </a:bodyPr>
          <a:lstStyle/>
          <a:p>
            <a:pPr algn="l">
              <a:spcAft>
                <a:spcPts val="0"/>
              </a:spcAft>
            </a:pPr>
            <a:r>
              <a:rPr sz="1400" b="1" i="0">
                <a:solidFill>
                  <a:srgbClr val="0A5C5B"/>
                </a:solidFill>
                <a:latin typeface="Calibri"/>
              </a:rPr>
              <a:t>Điểm tổng có trọng số</a:t>
            </a:r>
          </a:p>
        </p:txBody>
      </p:sp>
      <p:sp>
        <p:nvSpPr>
          <p:cNvPr id="17" name="TextBox 16"/>
          <p:cNvSpPr txBox="1"/>
          <p:nvPr/>
        </p:nvSpPr>
        <p:spPr>
          <a:xfrm>
            <a:off x="777240" y="5138928"/>
            <a:ext cx="3749039" cy="411480"/>
          </a:xfrm>
          <a:prstGeom prst="rect">
            <a:avLst/>
          </a:prstGeom>
          <a:noFill/>
        </p:spPr>
        <p:txBody>
          <a:bodyPr wrap="square" lIns="0" rIns="0" tIns="0" bIns="0" anchor="t">
            <a:spAutoFit/>
          </a:bodyPr>
          <a:lstStyle/>
          <a:p>
            <a:pPr algn="l">
              <a:spcAft>
                <a:spcPts val="0"/>
              </a:spcAft>
            </a:pPr>
            <a:r>
              <a:rPr sz="1800" b="1" i="0">
                <a:solidFill>
                  <a:srgbClr val="0A5C5B"/>
                </a:solidFill>
                <a:latin typeface="Cambria"/>
              </a:rPr>
              <a:t>Σ tỉ lệ thực tế × metric của lát</a:t>
            </a:r>
          </a:p>
        </p:txBody>
      </p:sp>
      <p:sp>
        <p:nvSpPr>
          <p:cNvPr id="18" name="TextBox 17"/>
          <p:cNvSpPr txBox="1"/>
          <p:nvPr/>
        </p:nvSpPr>
        <p:spPr>
          <a:xfrm>
            <a:off x="777240" y="5596128"/>
            <a:ext cx="3749039" cy="548640"/>
          </a:xfrm>
          <a:prstGeom prst="rect">
            <a:avLst/>
          </a:prstGeom>
          <a:noFill/>
        </p:spPr>
        <p:txBody>
          <a:bodyPr wrap="square" lIns="0" rIns="0" tIns="0" bIns="0" anchor="t">
            <a:spAutoFit/>
          </a:bodyPr>
          <a:lstStyle/>
          <a:p>
            <a:pPr algn="l">
              <a:spcAft>
                <a:spcPts val="0"/>
              </a:spcAft>
            </a:pPr>
            <a:r>
              <a:rPr sz="1200" b="0" i="0">
                <a:solidFill>
                  <a:srgbClr val="0A5C5B"/>
                </a:solidFill>
                <a:latin typeface="Calibri"/>
              </a:rPr>
              <a:t>Lấy mẫu dư ở lát hiếm không làm lệch con số tổng.</a:t>
            </a:r>
          </a:p>
        </p:txBody>
      </p:sp>
      <p:sp>
        <p:nvSpPr>
          <p:cNvPr id="19" name="TextBox 18"/>
          <p:cNvSpPr txBox="1"/>
          <p:nvPr/>
        </p:nvSpPr>
        <p:spPr>
          <a:xfrm>
            <a:off x="5120640" y="1691640"/>
            <a:ext cx="6492240" cy="320040"/>
          </a:xfrm>
          <a:prstGeom prst="rect">
            <a:avLst/>
          </a:prstGeom>
          <a:noFill/>
        </p:spPr>
        <p:txBody>
          <a:bodyPr wrap="square" lIns="0" rIns="0" tIns="0" bIns="0" anchor="t">
            <a:spAutoFit/>
          </a:bodyPr>
          <a:lstStyle/>
          <a:p>
            <a:pPr algn="l">
              <a:spcAft>
                <a:spcPts val="0"/>
              </a:spcAft>
            </a:pPr>
            <a:r>
              <a:rPr sz="1400" b="1" i="0">
                <a:solidFill>
                  <a:srgbClr val="16202E"/>
                </a:solidFill>
                <a:latin typeface="Calibri"/>
              </a:rPr>
              <a:t>Ma trận loại giọng × điều kiện âm học</a:t>
            </a:r>
          </a:p>
        </p:txBody>
      </p:sp>
      <p:sp>
        <p:nvSpPr>
          <p:cNvPr id="20" name="TextBox 19"/>
          <p:cNvSpPr txBox="1"/>
          <p:nvPr/>
        </p:nvSpPr>
        <p:spPr>
          <a:xfrm>
            <a:off x="6812279" y="2057400"/>
            <a:ext cx="965606"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Sạch</a:t>
            </a:r>
          </a:p>
        </p:txBody>
      </p:sp>
      <p:sp>
        <p:nvSpPr>
          <p:cNvPr id="21" name="TextBox 20"/>
          <p:cNvSpPr txBox="1"/>
          <p:nvPr/>
        </p:nvSpPr>
        <p:spPr>
          <a:xfrm>
            <a:off x="7777886" y="2057400"/>
            <a:ext cx="965606"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Nhạc nền</a:t>
            </a:r>
          </a:p>
        </p:txBody>
      </p:sp>
      <p:sp>
        <p:nvSpPr>
          <p:cNvPr id="22" name="TextBox 21"/>
          <p:cNvSpPr txBox="1"/>
          <p:nvPr/>
        </p:nvSpPr>
        <p:spPr>
          <a:xfrm>
            <a:off x="8743492" y="2057400"/>
            <a:ext cx="965606"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Ồn</a:t>
            </a:r>
          </a:p>
        </p:txBody>
      </p:sp>
      <p:sp>
        <p:nvSpPr>
          <p:cNvPr id="23" name="TextBox 22"/>
          <p:cNvSpPr txBox="1"/>
          <p:nvPr/>
        </p:nvSpPr>
        <p:spPr>
          <a:xfrm>
            <a:off x="9709099" y="2057400"/>
            <a:ext cx="965606"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Vang</a:t>
            </a:r>
          </a:p>
        </p:txBody>
      </p:sp>
      <p:sp>
        <p:nvSpPr>
          <p:cNvPr id="24" name="TextBox 23"/>
          <p:cNvSpPr txBox="1"/>
          <p:nvPr/>
        </p:nvSpPr>
        <p:spPr>
          <a:xfrm>
            <a:off x="10674705" y="2057400"/>
            <a:ext cx="965606" cy="320040"/>
          </a:xfrm>
          <a:prstGeom prst="rect">
            <a:avLst/>
          </a:prstGeom>
          <a:noFill/>
        </p:spPr>
        <p:txBody>
          <a:bodyPr wrap="square" lIns="0" rIns="0" tIns="0" bIns="0" anchor="t">
            <a:spAutoFit/>
          </a:bodyPr>
          <a:lstStyle/>
          <a:p>
            <a:pPr algn="ctr">
              <a:spcAft>
                <a:spcPts val="0"/>
              </a:spcAft>
            </a:pPr>
            <a:r>
              <a:rPr sz="1200" b="1" i="0">
                <a:solidFill>
                  <a:srgbClr val="5B6472"/>
                </a:solidFill>
                <a:latin typeface="Calibri"/>
              </a:rPr>
              <a:t>Nén mạnh</a:t>
            </a:r>
          </a:p>
        </p:txBody>
      </p:sp>
      <p:sp>
        <p:nvSpPr>
          <p:cNvPr id="25" name="TextBox 24"/>
          <p:cNvSpPr txBox="1"/>
          <p:nvPr/>
        </p:nvSpPr>
        <p:spPr>
          <a:xfrm>
            <a:off x="5120640" y="2423160"/>
            <a:ext cx="1600200"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Nói một người</a:t>
            </a:r>
          </a:p>
        </p:txBody>
      </p:sp>
      <p:sp>
        <p:nvSpPr>
          <p:cNvPr id="26" name="Rounded Rectangle 25"/>
          <p:cNvSpPr/>
          <p:nvPr/>
        </p:nvSpPr>
        <p:spPr>
          <a:xfrm>
            <a:off x="6848855" y="24231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Rounded Rectangle 26"/>
          <p:cNvSpPr/>
          <p:nvPr/>
        </p:nvSpPr>
        <p:spPr>
          <a:xfrm>
            <a:off x="7814462" y="24231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Rounded Rectangle 27"/>
          <p:cNvSpPr/>
          <p:nvPr/>
        </p:nvSpPr>
        <p:spPr>
          <a:xfrm>
            <a:off x="8780068" y="24231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Rounded Rectangle 28"/>
          <p:cNvSpPr/>
          <p:nvPr/>
        </p:nvSpPr>
        <p:spPr>
          <a:xfrm>
            <a:off x="9745675" y="24231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Rounded Rectangle 29"/>
          <p:cNvSpPr/>
          <p:nvPr/>
        </p:nvSpPr>
        <p:spPr>
          <a:xfrm>
            <a:off x="10711281" y="24231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1" name="TextBox 30"/>
          <p:cNvSpPr txBox="1"/>
          <p:nvPr/>
        </p:nvSpPr>
        <p:spPr>
          <a:xfrm>
            <a:off x="5120640" y="2971800"/>
            <a:ext cx="1600200"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Hội thoại, chồng lấn</a:t>
            </a:r>
          </a:p>
        </p:txBody>
      </p:sp>
      <p:sp>
        <p:nvSpPr>
          <p:cNvPr id="32" name="Rounded Rectangle 31"/>
          <p:cNvSpPr/>
          <p:nvPr/>
        </p:nvSpPr>
        <p:spPr>
          <a:xfrm>
            <a:off x="6848855" y="297180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3" name="Rounded Rectangle 32"/>
          <p:cNvSpPr/>
          <p:nvPr/>
        </p:nvSpPr>
        <p:spPr>
          <a:xfrm>
            <a:off x="7814462" y="297180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4" name="Rounded Rectangle 33"/>
          <p:cNvSpPr/>
          <p:nvPr/>
        </p:nvSpPr>
        <p:spPr>
          <a:xfrm>
            <a:off x="8780068" y="297180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5" name="Rounded Rectangle 34"/>
          <p:cNvSpPr/>
          <p:nvPr/>
        </p:nvSpPr>
        <p:spPr>
          <a:xfrm>
            <a:off x="9745675" y="297180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Rounded Rectangle 35"/>
          <p:cNvSpPr/>
          <p:nvPr/>
        </p:nvSpPr>
        <p:spPr>
          <a:xfrm>
            <a:off x="10711281" y="297180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TextBox 36"/>
          <p:cNvSpPr txBox="1"/>
          <p:nvPr/>
        </p:nvSpPr>
        <p:spPr>
          <a:xfrm>
            <a:off x="5120640" y="3520440"/>
            <a:ext cx="1600200"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Nói ở đám đông</a:t>
            </a:r>
          </a:p>
        </p:txBody>
      </p:sp>
      <p:sp>
        <p:nvSpPr>
          <p:cNvPr id="38" name="Rounded Rectangle 37"/>
          <p:cNvSpPr/>
          <p:nvPr/>
        </p:nvSpPr>
        <p:spPr>
          <a:xfrm>
            <a:off x="6848855" y="352044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9" name="Rounded Rectangle 38"/>
          <p:cNvSpPr/>
          <p:nvPr/>
        </p:nvSpPr>
        <p:spPr>
          <a:xfrm>
            <a:off x="7814462" y="352044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0" name="Rounded Rectangle 39"/>
          <p:cNvSpPr/>
          <p:nvPr/>
        </p:nvSpPr>
        <p:spPr>
          <a:xfrm>
            <a:off x="8780068" y="352044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Rounded Rectangle 40"/>
          <p:cNvSpPr/>
          <p:nvPr/>
        </p:nvSpPr>
        <p:spPr>
          <a:xfrm>
            <a:off x="9745675" y="352044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Rounded Rectangle 41"/>
          <p:cNvSpPr/>
          <p:nvPr/>
        </p:nvSpPr>
        <p:spPr>
          <a:xfrm>
            <a:off x="10711281" y="352044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3" name="TextBox 42"/>
          <p:cNvSpPr txBox="1"/>
          <p:nvPr/>
        </p:nvSpPr>
        <p:spPr>
          <a:xfrm>
            <a:off x="5120640" y="4069080"/>
            <a:ext cx="1600200"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Hát, bè, đồng ca</a:t>
            </a:r>
          </a:p>
        </p:txBody>
      </p:sp>
      <p:sp>
        <p:nvSpPr>
          <p:cNvPr id="44" name="Rounded Rectangle 43"/>
          <p:cNvSpPr/>
          <p:nvPr/>
        </p:nvSpPr>
        <p:spPr>
          <a:xfrm>
            <a:off x="6848855" y="406908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Rounded Rectangle 44"/>
          <p:cNvSpPr/>
          <p:nvPr/>
        </p:nvSpPr>
        <p:spPr>
          <a:xfrm>
            <a:off x="7814462" y="406908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6" name="Rounded Rectangle 45"/>
          <p:cNvSpPr/>
          <p:nvPr/>
        </p:nvSpPr>
        <p:spPr>
          <a:xfrm>
            <a:off x="8780068" y="406908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7" name="Rounded Rectangle 46"/>
          <p:cNvSpPr/>
          <p:nvPr/>
        </p:nvSpPr>
        <p:spPr>
          <a:xfrm>
            <a:off x="9745675" y="406908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8" name="Rounded Rectangle 47"/>
          <p:cNvSpPr/>
          <p:nvPr/>
        </p:nvSpPr>
        <p:spPr>
          <a:xfrm>
            <a:off x="10711281" y="406908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9" name="TextBox 48"/>
          <p:cNvSpPr txBox="1"/>
          <p:nvPr/>
        </p:nvSpPr>
        <p:spPr>
          <a:xfrm>
            <a:off x="5120640" y="4617720"/>
            <a:ext cx="1600200"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Rap, ngâm thơ</a:t>
            </a:r>
          </a:p>
        </p:txBody>
      </p:sp>
      <p:sp>
        <p:nvSpPr>
          <p:cNvPr id="50" name="Rounded Rectangle 49"/>
          <p:cNvSpPr/>
          <p:nvPr/>
        </p:nvSpPr>
        <p:spPr>
          <a:xfrm>
            <a:off x="6848855" y="461772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1" name="Rounded Rectangle 50"/>
          <p:cNvSpPr/>
          <p:nvPr/>
        </p:nvSpPr>
        <p:spPr>
          <a:xfrm>
            <a:off x="7814462" y="461772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Rounded Rectangle 51"/>
          <p:cNvSpPr/>
          <p:nvPr/>
        </p:nvSpPr>
        <p:spPr>
          <a:xfrm>
            <a:off x="8780068" y="461772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3" name="Rounded Rectangle 52"/>
          <p:cNvSpPr/>
          <p:nvPr/>
        </p:nvSpPr>
        <p:spPr>
          <a:xfrm>
            <a:off x="9745675" y="461772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4" name="Rounded Rectangle 53"/>
          <p:cNvSpPr/>
          <p:nvPr/>
        </p:nvSpPr>
        <p:spPr>
          <a:xfrm>
            <a:off x="10711281" y="461772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5" name="TextBox 54"/>
          <p:cNvSpPr txBox="1"/>
          <p:nvPr/>
        </p:nvSpPr>
        <p:spPr>
          <a:xfrm>
            <a:off x="5120640" y="5166360"/>
            <a:ext cx="1600200" cy="493776"/>
          </a:xfrm>
          <a:prstGeom prst="rect">
            <a:avLst/>
          </a:prstGeom>
          <a:noFill/>
        </p:spPr>
        <p:txBody>
          <a:bodyPr wrap="square" lIns="0" rIns="0" tIns="0" bIns="0" anchor="ctr">
            <a:spAutoFit/>
          </a:bodyPr>
          <a:lstStyle/>
          <a:p>
            <a:pPr algn="l">
              <a:spcAft>
                <a:spcPts val="0"/>
              </a:spcAft>
            </a:pPr>
            <a:r>
              <a:rPr sz="1200" b="0" i="0">
                <a:solidFill>
                  <a:srgbClr val="16202E"/>
                </a:solidFill>
                <a:latin typeface="Calibri"/>
              </a:rPr>
              <a:t>Không có giọng</a:t>
            </a:r>
          </a:p>
        </p:txBody>
      </p:sp>
      <p:sp>
        <p:nvSpPr>
          <p:cNvPr id="56" name="Rounded Rectangle 55"/>
          <p:cNvSpPr/>
          <p:nvPr/>
        </p:nvSpPr>
        <p:spPr>
          <a:xfrm>
            <a:off x="6848855" y="51663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7" name="Rounded Rectangle 56"/>
          <p:cNvSpPr/>
          <p:nvPr/>
        </p:nvSpPr>
        <p:spPr>
          <a:xfrm>
            <a:off x="7814462" y="51663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8" name="Rounded Rectangle 57"/>
          <p:cNvSpPr/>
          <p:nvPr/>
        </p:nvSpPr>
        <p:spPr>
          <a:xfrm>
            <a:off x="8780068" y="51663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9" name="Rounded Rectangle 58"/>
          <p:cNvSpPr/>
          <p:nvPr/>
        </p:nvSpPr>
        <p:spPr>
          <a:xfrm>
            <a:off x="9745675" y="51663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0" name="Rounded Rectangle 59"/>
          <p:cNvSpPr/>
          <p:nvPr/>
        </p:nvSpPr>
        <p:spPr>
          <a:xfrm>
            <a:off x="10711281" y="5166360"/>
            <a:ext cx="892454" cy="49377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1" name="TextBox 60"/>
          <p:cNvSpPr txBox="1"/>
          <p:nvPr/>
        </p:nvSpPr>
        <p:spPr>
          <a:xfrm>
            <a:off x="5120640" y="5897880"/>
            <a:ext cx="6492240" cy="320040"/>
          </a:xfrm>
          <a:prstGeom prst="rect">
            <a:avLst/>
          </a:prstGeom>
          <a:noFill/>
        </p:spPr>
        <p:txBody>
          <a:bodyPr wrap="square" lIns="0" rIns="0" tIns="0" bIns="0" anchor="t">
            <a:spAutoFit/>
          </a:bodyPr>
          <a:lstStyle/>
          <a:p>
            <a:pPr algn="l">
              <a:spcAft>
                <a:spcPts val="0"/>
              </a:spcAft>
            </a:pPr>
            <a:r>
              <a:rPr sz="1200" b="0" i="0">
                <a:solidFill>
                  <a:srgbClr val="8A93A0"/>
                </a:solidFill>
                <a:latin typeface="Calibri"/>
              </a:rPr>
              <a:t>Ghi số file vào từng ô và gắn tag cho mỗi file: ô nào trống là lát cần bổ sung.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59562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Tiêu chí thành công</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Thành công là đạt mọi tiêu chí ở mọi lát, không chỉ AUC cao</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8 / 15</a:t>
            </a:r>
          </a:p>
        </p:txBody>
      </p:sp>
      <p:graphicFrame>
        <p:nvGraphicFramePr>
          <p:cNvPr id="5" name="Table 4"/>
          <p:cNvGraphicFramePr>
            <a:graphicFrameLocks noGrp="1"/>
          </p:cNvGraphicFramePr>
          <p:nvPr/>
        </p:nvGraphicFramePr>
        <p:xfrm>
          <a:off x="548640" y="1783080"/>
          <a:ext cx="6766560" cy="3520440"/>
        </p:xfrm>
        <a:graphic>
          <a:graphicData uri="http://schemas.openxmlformats.org/drawingml/2006/table">
            <a:tbl>
              <a:tblPr firstRow="1" bandRow="1">
                <a:tableStyleId>{5C22544A-7EE6-4342-B048-85BDC9FD1C3A}</a:tableStyleId>
              </a:tblPr>
              <a:tblGrid>
                <a:gridCol w="2103120"/>
                <a:gridCol w="1783080"/>
                <a:gridCol w="2880360"/>
              </a:tblGrid>
              <a:tr h="502920">
                <a:tc>
                  <a:txBody>
                    <a:bodyPr wrap="square"/>
                    <a:lstStyle/>
                    <a:p>
                      <a:pPr algn="l"/>
                      <a:r>
                        <a:rPr sz="1200" b="1">
                          <a:solidFill>
                            <a:srgbClr val="FFFFFF"/>
                          </a:solidFill>
                          <a:latin typeface="Calibri"/>
                        </a:rPr>
                        <a:t>Tiêu chí</a:t>
                      </a:r>
                    </a:p>
                  </a:txBody>
                  <a:tcPr marL="91440" marR="91440" marT="27432" marB="27432" anchor="ctr">
                    <a:solidFill>
                      <a:srgbClr val="16202E"/>
                    </a:solidFill>
                  </a:tcPr>
                </a:tc>
                <a:tc>
                  <a:txBody>
                    <a:bodyPr wrap="square"/>
                    <a:lstStyle/>
                    <a:p>
                      <a:pPr algn="l"/>
                      <a:r>
                        <a:rPr sz="1200" b="1">
                          <a:solidFill>
                            <a:srgbClr val="FFFFFF"/>
                          </a:solidFill>
                          <a:latin typeface="Calibri"/>
                        </a:rPr>
                        <a:t>Mục tiêu gợi ý</a:t>
                      </a:r>
                    </a:p>
                  </a:txBody>
                  <a:tcPr marL="91440" marR="91440" marT="27432" marB="27432" anchor="ctr">
                    <a:solidFill>
                      <a:srgbClr val="16202E"/>
                    </a:solidFill>
                  </a:tcPr>
                </a:tc>
                <a:tc>
                  <a:txBody>
                    <a:bodyPr wrap="square"/>
                    <a:lstStyle/>
                    <a:p>
                      <a:pPr algn="l"/>
                      <a:r>
                        <a:rPr sz="1200" b="1">
                          <a:solidFill>
                            <a:srgbClr val="FFFFFF"/>
                          </a:solidFill>
                          <a:latin typeface="Calibri"/>
                        </a:rPr>
                        <a:t>Vì sao</a:t>
                      </a:r>
                    </a:p>
                  </a:txBody>
                  <a:tcPr marL="91440" marR="91440" marT="27432" marB="27432" anchor="ctr">
                    <a:solidFill>
                      <a:srgbClr val="16202E"/>
                    </a:solidFill>
                  </a:tcPr>
                </a:tc>
              </a:tr>
              <a:tr h="502920">
                <a:tc>
                  <a:txBody>
                    <a:bodyPr wrap="square"/>
                    <a:lstStyle/>
                    <a:p>
                      <a:pPr algn="l"/>
                      <a:r>
                        <a:rPr sz="1300" b="0">
                          <a:solidFill>
                            <a:srgbClr val="16202E"/>
                          </a:solidFill>
                          <a:latin typeface="Calibri"/>
                        </a:rPr>
                        <a:t>Miss rate (thời lượng)</a:t>
                      </a:r>
                    </a:p>
                  </a:txBody>
                  <a:tcPr marL="91440" marR="91440" marT="27432" marB="27432" anchor="ctr">
                    <a:solidFill>
                      <a:srgbClr val="FFFFFF"/>
                    </a:solidFill>
                  </a:tcPr>
                </a:tc>
                <a:tc>
                  <a:txBody>
                    <a:bodyPr wrap="square"/>
                    <a:lstStyle/>
                    <a:p>
                      <a:pPr algn="l"/>
                      <a:r>
                        <a:rPr sz="1300" b="1">
                          <a:solidFill>
                            <a:srgbClr val="0A5C5B"/>
                          </a:solidFill>
                          <a:latin typeface="Calibri"/>
                        </a:rPr>
                        <a:t>≤ 3%</a:t>
                      </a:r>
                    </a:p>
                  </a:txBody>
                  <a:tcPr marL="91440" marR="91440" marT="27432" marB="27432" anchor="ctr">
                    <a:solidFill>
                      <a:srgbClr val="FFFFFF"/>
                    </a:solidFill>
                  </a:tcPr>
                </a:tc>
                <a:tc>
                  <a:txBody>
                    <a:bodyPr wrap="square"/>
                    <a:lstStyle/>
                    <a:p>
                      <a:pPr algn="l"/>
                      <a:r>
                        <a:rPr sz="1300" b="0">
                          <a:solidFill>
                            <a:srgbClr val="5B6472"/>
                          </a:solidFill>
                          <a:latin typeface="Calibri"/>
                        </a:rPr>
                        <a:t>Bỏ sót giọng là mất nội dung</a:t>
                      </a:r>
                    </a:p>
                  </a:txBody>
                  <a:tcPr marL="91440" marR="91440" marT="27432" marB="27432" anchor="ctr">
                    <a:solidFill>
                      <a:srgbClr val="FFFFFF"/>
                    </a:solidFill>
                  </a:tcPr>
                </a:tc>
              </a:tr>
              <a:tr h="502920">
                <a:tc>
                  <a:txBody>
                    <a:bodyPr wrap="square"/>
                    <a:lstStyle/>
                    <a:p>
                      <a:pPr algn="l"/>
                      <a:r>
                        <a:rPr sz="1300" b="0">
                          <a:solidFill>
                            <a:srgbClr val="16202E"/>
                          </a:solidFill>
                          <a:latin typeface="Calibri"/>
                        </a:rPr>
                        <a:t>FA rate (thời lượng)</a:t>
                      </a:r>
                    </a:p>
                  </a:txBody>
                  <a:tcPr marL="91440" marR="91440" marT="27432" marB="27432" anchor="ctr">
                    <a:solidFill>
                      <a:srgbClr val="F3F5F8"/>
                    </a:solidFill>
                  </a:tcPr>
                </a:tc>
                <a:tc>
                  <a:txBody>
                    <a:bodyPr wrap="square"/>
                    <a:lstStyle/>
                    <a:p>
                      <a:pPr algn="l"/>
                      <a:r>
                        <a:rPr sz="1300" b="1">
                          <a:solidFill>
                            <a:srgbClr val="0A5C5B"/>
                          </a:solidFill>
                          <a:latin typeface="Calibri"/>
                        </a:rPr>
                        <a:t>≤ 5–8%</a:t>
                      </a:r>
                    </a:p>
                  </a:txBody>
                  <a:tcPr marL="91440" marR="91440" marT="27432" marB="27432" anchor="ctr">
                    <a:solidFill>
                      <a:srgbClr val="F3F5F8"/>
                    </a:solidFill>
                  </a:tcPr>
                </a:tc>
                <a:tc>
                  <a:txBody>
                    <a:bodyPr wrap="square"/>
                    <a:lstStyle/>
                    <a:p>
                      <a:pPr algn="l"/>
                      <a:r>
                        <a:rPr sz="1300" b="0">
                          <a:solidFill>
                            <a:srgbClr val="5B6472"/>
                          </a:solidFill>
                          <a:latin typeface="Calibri"/>
                        </a:rPr>
                        <a:t>Không cắt nhầm nhạc, ồn vào</a:t>
                      </a:r>
                    </a:p>
                  </a:txBody>
                  <a:tcPr marL="91440" marR="91440" marT="27432" marB="27432" anchor="ctr">
                    <a:solidFill>
                      <a:srgbClr val="F3F5F8"/>
                    </a:solidFill>
                  </a:tcPr>
                </a:tc>
              </a:tr>
              <a:tr h="502920">
                <a:tc>
                  <a:txBody>
                    <a:bodyPr wrap="square"/>
                    <a:lstStyle/>
                    <a:p>
                      <a:pPr algn="l"/>
                      <a:r>
                        <a:rPr sz="1300" b="0">
                          <a:solidFill>
                            <a:srgbClr val="16202E"/>
                          </a:solidFill>
                          <a:latin typeface="Calibri"/>
                        </a:rPr>
                        <a:t>Sai số biên P90</a:t>
                      </a:r>
                    </a:p>
                  </a:txBody>
                  <a:tcPr marL="91440" marR="91440" marT="27432" marB="27432" anchor="ctr">
                    <a:solidFill>
                      <a:srgbClr val="FFFFFF"/>
                    </a:solidFill>
                  </a:tcPr>
                </a:tc>
                <a:tc>
                  <a:txBody>
                    <a:bodyPr wrap="square"/>
                    <a:lstStyle/>
                    <a:p>
                      <a:pPr algn="l"/>
                      <a:r>
                        <a:rPr sz="1300" b="1">
                          <a:solidFill>
                            <a:srgbClr val="0A5C5B"/>
                          </a:solidFill>
                          <a:latin typeface="Calibri"/>
                        </a:rPr>
                        <a:t>≤ 250 ms</a:t>
                      </a:r>
                    </a:p>
                  </a:txBody>
                  <a:tcPr marL="91440" marR="91440" marT="27432" marB="27432" anchor="ctr">
                    <a:solidFill>
                      <a:srgbClr val="FFFFFF"/>
                    </a:solidFill>
                  </a:tcPr>
                </a:tc>
                <a:tc>
                  <a:txBody>
                    <a:bodyPr wrap="square"/>
                    <a:lstStyle/>
                    <a:p>
                      <a:pPr algn="l"/>
                      <a:r>
                        <a:rPr sz="1300" b="0">
                          <a:solidFill>
                            <a:srgbClr val="5B6472"/>
                          </a:solidFill>
                          <a:latin typeface="Calibri"/>
                        </a:rPr>
                        <a:t>Ngang độ phân giải nhãn 0,5 s</a:t>
                      </a:r>
                    </a:p>
                  </a:txBody>
                  <a:tcPr marL="91440" marR="91440" marT="27432" marB="27432" anchor="ctr">
                    <a:solidFill>
                      <a:srgbClr val="FFFFFF"/>
                    </a:solidFill>
                  </a:tcPr>
                </a:tc>
              </a:tr>
              <a:tr h="502920">
                <a:tc>
                  <a:txBody>
                    <a:bodyPr wrap="square"/>
                    <a:lstStyle/>
                    <a:p>
                      <a:pPr algn="l"/>
                      <a:r>
                        <a:rPr sz="1300" b="0">
                          <a:solidFill>
                            <a:srgbClr val="16202E"/>
                          </a:solidFill>
                          <a:latin typeface="Calibri"/>
                        </a:rPr>
                        <a:t>Lỗi ở lát tệ nhất</a:t>
                      </a:r>
                    </a:p>
                  </a:txBody>
                  <a:tcPr marL="91440" marR="91440" marT="27432" marB="27432" anchor="ctr">
                    <a:solidFill>
                      <a:srgbClr val="F3F5F8"/>
                    </a:solidFill>
                  </a:tcPr>
                </a:tc>
                <a:tc>
                  <a:txBody>
                    <a:bodyPr wrap="square"/>
                    <a:lstStyle/>
                    <a:p>
                      <a:pPr algn="l"/>
                      <a:r>
                        <a:rPr sz="1300" b="1">
                          <a:solidFill>
                            <a:srgbClr val="0A5C5B"/>
                          </a:solidFill>
                          <a:latin typeface="Calibri"/>
                        </a:rPr>
                        <a:t>≤ 10%</a:t>
                      </a:r>
                    </a:p>
                  </a:txBody>
                  <a:tcPr marL="91440" marR="91440" marT="27432" marB="27432" anchor="ctr">
                    <a:solidFill>
                      <a:srgbClr val="F3F5F8"/>
                    </a:solidFill>
                  </a:tcPr>
                </a:tc>
                <a:tc>
                  <a:txBody>
                    <a:bodyPr wrap="square"/>
                    <a:lstStyle/>
                    <a:p>
                      <a:pPr algn="l"/>
                      <a:r>
                        <a:rPr sz="1300" b="0">
                          <a:solidFill>
                            <a:srgbClr val="5B6472"/>
                          </a:solidFill>
                          <a:latin typeface="Calibri"/>
                        </a:rPr>
                        <a:t>Miss ở lát positive, FA ở lát negative</a:t>
                      </a:r>
                    </a:p>
                  </a:txBody>
                  <a:tcPr marL="91440" marR="91440" marT="27432" marB="27432" anchor="ctr">
                    <a:solidFill>
                      <a:srgbClr val="F3F5F8"/>
                    </a:solidFill>
                  </a:tcPr>
                </a:tc>
              </a:tr>
              <a:tr h="502920">
                <a:tc>
                  <a:txBody>
                    <a:bodyPr wrap="square"/>
                    <a:lstStyle/>
                    <a:p>
                      <a:pPr algn="l"/>
                      <a:r>
                        <a:rPr sz="1300" b="0">
                          <a:solidFill>
                            <a:srgbClr val="16202E"/>
                          </a:solidFill>
                          <a:latin typeface="Calibri"/>
                        </a:rPr>
                        <a:t>Recall trên hát</a:t>
                      </a:r>
                    </a:p>
                  </a:txBody>
                  <a:tcPr marL="91440" marR="91440" marT="27432" marB="27432" anchor="ctr">
                    <a:solidFill>
                      <a:srgbClr val="FFFFFF"/>
                    </a:solidFill>
                  </a:tcPr>
                </a:tc>
                <a:tc>
                  <a:txBody>
                    <a:bodyPr wrap="square"/>
                    <a:lstStyle/>
                    <a:p>
                      <a:pPr algn="l"/>
                      <a:r>
                        <a:rPr sz="1300" b="1">
                          <a:solidFill>
                            <a:srgbClr val="0A5C5B"/>
                          </a:solidFill>
                          <a:latin typeface="Calibri"/>
                        </a:rPr>
                        <a:t>≥ recall khi nói</a:t>
                      </a:r>
                    </a:p>
                  </a:txBody>
                  <a:tcPr marL="91440" marR="91440" marT="27432" marB="27432" anchor="ctr">
                    <a:solidFill>
                      <a:srgbClr val="FFFFFF"/>
                    </a:solidFill>
                  </a:tcPr>
                </a:tc>
                <a:tc>
                  <a:txBody>
                    <a:bodyPr wrap="square"/>
                    <a:lstStyle/>
                    <a:p>
                      <a:pPr algn="l"/>
                      <a:r>
                        <a:rPr sz="1300" b="0">
                          <a:solidFill>
                            <a:srgbClr val="5B6472"/>
                          </a:solidFill>
                          <a:latin typeface="Calibri"/>
                        </a:rPr>
                        <a:t>Hát là speech theo định nghĩa</a:t>
                      </a:r>
                    </a:p>
                  </a:txBody>
                  <a:tcPr marL="91440" marR="91440" marT="27432" marB="27432" anchor="ctr">
                    <a:solidFill>
                      <a:srgbClr val="FFFFFF"/>
                    </a:solidFill>
                  </a:tcPr>
                </a:tc>
              </a:tr>
              <a:tr h="502920">
                <a:tc>
                  <a:txBody>
                    <a:bodyPr wrap="square"/>
                    <a:lstStyle/>
                    <a:p>
                      <a:pPr algn="l"/>
                      <a:r>
                        <a:rPr sz="1300" b="0">
                          <a:solidFill>
                            <a:srgbClr val="16202E"/>
                          </a:solidFill>
                          <a:latin typeface="Calibri"/>
                        </a:rPr>
                        <a:t>RTF, bộ nhớ</a:t>
                      </a:r>
                    </a:p>
                  </a:txBody>
                  <a:tcPr marL="91440" marR="91440" marT="27432" marB="27432" anchor="ctr">
                    <a:solidFill>
                      <a:srgbClr val="F3F5F8"/>
                    </a:solidFill>
                  </a:tcPr>
                </a:tc>
                <a:tc>
                  <a:txBody>
                    <a:bodyPr wrap="square"/>
                    <a:lstStyle/>
                    <a:p>
                      <a:pPr algn="l"/>
                      <a:r>
                        <a:rPr sz="1300" b="1">
                          <a:solidFill>
                            <a:srgbClr val="0A5C5B"/>
                          </a:solidFill>
                          <a:latin typeface="Calibri"/>
                        </a:rPr>
                        <a:t>Không tệ hơn hiện tại</a:t>
                      </a:r>
                    </a:p>
                  </a:txBody>
                  <a:tcPr marL="91440" marR="91440" marT="27432" marB="27432" anchor="ctr">
                    <a:solidFill>
                      <a:srgbClr val="F3F5F8"/>
                    </a:solidFill>
                  </a:tcPr>
                </a:tc>
                <a:tc>
                  <a:txBody>
                    <a:bodyPr wrap="square"/>
                    <a:lstStyle/>
                    <a:p>
                      <a:pPr algn="l"/>
                      <a:r>
                        <a:rPr sz="1300" b="0">
                          <a:solidFill>
                            <a:srgbClr val="5B6472"/>
                          </a:solidFill>
                          <a:latin typeface="Calibri"/>
                        </a:rPr>
                        <a:t>Chạy trong lib.so</a:t>
                      </a:r>
                    </a:p>
                  </a:txBody>
                  <a:tcPr marL="91440" marR="91440" marT="27432" marB="27432" anchor="ctr">
                    <a:solidFill>
                      <a:srgbClr val="F3F5F8"/>
                    </a:solidFill>
                  </a:tcPr>
                </a:tc>
              </a:tr>
            </a:tbl>
          </a:graphicData>
        </a:graphic>
      </p:graphicFrame>
      <p:sp>
        <p:nvSpPr>
          <p:cNvPr id="6" name="TextBox 5"/>
          <p:cNvSpPr txBox="1"/>
          <p:nvPr/>
        </p:nvSpPr>
        <p:spPr>
          <a:xfrm>
            <a:off x="548640" y="5440680"/>
            <a:ext cx="6766560" cy="731520"/>
          </a:xfrm>
          <a:prstGeom prst="rect">
            <a:avLst/>
          </a:prstGeom>
          <a:noFill/>
        </p:spPr>
        <p:txBody>
          <a:bodyPr wrap="square" lIns="0" rIns="0" tIns="0" bIns="0" anchor="t">
            <a:spAutoFit/>
          </a:bodyPr>
          <a:lstStyle/>
          <a:p>
            <a:pPr algn="l">
              <a:spcAft>
                <a:spcPts val="0"/>
              </a:spcAft>
            </a:pPr>
            <a:r>
              <a:rPr sz="1200" b="0" i="0">
                <a:solidFill>
                  <a:srgbClr val="8A93A0"/>
                </a:solidFill>
                <a:latin typeface="Calibri"/>
              </a:rPr>
              <a:t>Ngưỡng Miss/FA sẽ chốt lại khi biết app dùng đoạn speech để làm gì.</a:t>
            </a:r>
          </a:p>
        </p:txBody>
      </p:sp>
      <p:sp>
        <p:nvSpPr>
          <p:cNvPr id="7" name="TextBox 6"/>
          <p:cNvSpPr txBox="1"/>
          <p:nvPr/>
        </p:nvSpPr>
        <p:spPr>
          <a:xfrm>
            <a:off x="7726679" y="1783080"/>
            <a:ext cx="3913632" cy="411480"/>
          </a:xfrm>
          <a:prstGeom prst="rect">
            <a:avLst/>
          </a:prstGeom>
          <a:noFill/>
        </p:spPr>
        <p:txBody>
          <a:bodyPr wrap="square" lIns="0" rIns="0" tIns="0" bIns="0" anchor="t">
            <a:spAutoFit/>
          </a:bodyPr>
          <a:lstStyle/>
          <a:p>
            <a:pPr algn="l">
              <a:spcAft>
                <a:spcPts val="0"/>
              </a:spcAft>
            </a:pPr>
            <a:r>
              <a:rPr sz="1800" b="1" i="0">
                <a:solidFill>
                  <a:srgbClr val="16202E"/>
                </a:solidFill>
                <a:latin typeface="Cambria"/>
              </a:rPr>
              <a:t>Đặt mục tiêu giữa hai mốc</a:t>
            </a:r>
          </a:p>
        </p:txBody>
      </p:sp>
      <p:cxnSp>
        <p:nvCxnSpPr>
          <p:cNvPr id="8" name="Connector 7"/>
          <p:cNvCxnSpPr/>
          <p:nvPr/>
        </p:nvCxnSpPr>
        <p:spPr>
          <a:xfrm>
            <a:off x="7818119" y="2788920"/>
            <a:ext cx="3730753" cy="0"/>
          </a:xfrm>
          <a:prstGeom prst="line">
            <a:avLst/>
          </a:prstGeom>
          <a:ln w="38100">
            <a:solidFill>
              <a:srgbClr val="B8C2CE"/>
            </a:solidFill>
          </a:ln>
        </p:spPr>
        <p:style>
          <a:lnRef idx="2">
            <a:schemeClr val="accent1"/>
          </a:lnRef>
          <a:fillRef idx="0">
            <a:schemeClr val="accent1"/>
          </a:fillRef>
          <a:effectRef idx="0">
            <a:schemeClr val="accent1"/>
          </a:effectRef>
          <a:fontRef idx="minor">
            <a:schemeClr val="tx1"/>
          </a:fontRef>
        </p:style>
      </p:cxnSp>
      <p:sp>
        <p:nvSpPr>
          <p:cNvPr id="9" name="Oval 8"/>
          <p:cNvSpPr/>
          <p:nvPr/>
        </p:nvSpPr>
        <p:spPr>
          <a:xfrm>
            <a:off x="7699247" y="2670048"/>
            <a:ext cx="237744" cy="237744"/>
          </a:xfrm>
          <a:prstGeom prst="ellipse">
            <a:avLst/>
          </a:prstGeom>
          <a:solidFill>
            <a:srgbClr val="5B64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TextBox 9"/>
          <p:cNvSpPr txBox="1"/>
          <p:nvPr/>
        </p:nvSpPr>
        <p:spPr>
          <a:xfrm>
            <a:off x="7818119" y="2221991"/>
            <a:ext cx="1280160" cy="320040"/>
          </a:xfrm>
          <a:prstGeom prst="rect">
            <a:avLst/>
          </a:prstGeom>
          <a:noFill/>
        </p:spPr>
        <p:txBody>
          <a:bodyPr wrap="square" lIns="0" rIns="0" tIns="0" bIns="0" anchor="t">
            <a:spAutoFit/>
          </a:bodyPr>
          <a:lstStyle/>
          <a:p>
            <a:pPr algn="l">
              <a:spcAft>
                <a:spcPts val="0"/>
              </a:spcAft>
            </a:pPr>
            <a:r>
              <a:rPr sz="1400" b="1" i="0">
                <a:solidFill>
                  <a:srgbClr val="5B6472"/>
                </a:solidFill>
                <a:latin typeface="Calibri"/>
              </a:rPr>
              <a:t>Sàn</a:t>
            </a:r>
          </a:p>
        </p:txBody>
      </p:sp>
      <p:sp>
        <p:nvSpPr>
          <p:cNvPr id="11" name="TextBox 10"/>
          <p:cNvSpPr txBox="1"/>
          <p:nvPr/>
        </p:nvSpPr>
        <p:spPr>
          <a:xfrm>
            <a:off x="7726679" y="3017520"/>
            <a:ext cx="1325880" cy="82296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Thắng baseline: Silero, WebRTC, bản hiện tại</a:t>
            </a:r>
          </a:p>
        </p:txBody>
      </p:sp>
      <p:sp>
        <p:nvSpPr>
          <p:cNvPr id="12" name="Oval 11"/>
          <p:cNvSpPr/>
          <p:nvPr/>
        </p:nvSpPr>
        <p:spPr>
          <a:xfrm>
            <a:off x="9564624" y="2670048"/>
            <a:ext cx="237744" cy="237744"/>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TextBox 12"/>
          <p:cNvSpPr txBox="1"/>
          <p:nvPr/>
        </p:nvSpPr>
        <p:spPr>
          <a:xfrm>
            <a:off x="9043416" y="2221991"/>
            <a:ext cx="1280160" cy="320040"/>
          </a:xfrm>
          <a:prstGeom prst="rect">
            <a:avLst/>
          </a:prstGeom>
          <a:noFill/>
        </p:spPr>
        <p:txBody>
          <a:bodyPr wrap="square" lIns="0" rIns="0" tIns="0" bIns="0" anchor="t">
            <a:spAutoFit/>
          </a:bodyPr>
          <a:lstStyle/>
          <a:p>
            <a:pPr algn="ctr">
              <a:spcAft>
                <a:spcPts val="0"/>
              </a:spcAft>
            </a:pPr>
            <a:r>
              <a:rPr sz="1400" b="1" i="0">
                <a:solidFill>
                  <a:srgbClr val="0E7C7B"/>
                </a:solidFill>
                <a:latin typeface="Calibri"/>
              </a:rPr>
              <a:t>Mục tiêu</a:t>
            </a:r>
          </a:p>
        </p:txBody>
      </p:sp>
      <p:sp>
        <p:nvSpPr>
          <p:cNvPr id="14" name="TextBox 13"/>
          <p:cNvSpPr txBox="1"/>
          <p:nvPr/>
        </p:nvSpPr>
        <p:spPr>
          <a:xfrm>
            <a:off x="8997696" y="3017520"/>
            <a:ext cx="1325880" cy="822960"/>
          </a:xfrm>
          <a:prstGeom prst="rect">
            <a:avLst/>
          </a:prstGeom>
          <a:noFill/>
        </p:spPr>
        <p:txBody>
          <a:bodyPr wrap="square" lIns="0" rIns="0" tIns="0" bIns="0" anchor="t">
            <a:spAutoFit/>
          </a:bodyPr>
          <a:lstStyle/>
          <a:p>
            <a:pPr algn="ctr">
              <a:spcAft>
                <a:spcPts val="0"/>
              </a:spcAft>
            </a:pPr>
            <a:r>
              <a:rPr sz="1100" b="0" i="0">
                <a:solidFill>
                  <a:srgbClr val="5B6472"/>
                </a:solidFill>
                <a:latin typeface="Calibri"/>
              </a:rPr>
              <a:t>Scorecard bên trái</a:t>
            </a:r>
          </a:p>
        </p:txBody>
      </p:sp>
      <p:sp>
        <p:nvSpPr>
          <p:cNvPr id="15" name="Oval 14"/>
          <p:cNvSpPr/>
          <p:nvPr/>
        </p:nvSpPr>
        <p:spPr>
          <a:xfrm>
            <a:off x="11429999" y="2670048"/>
            <a:ext cx="237744" cy="237744"/>
          </a:xfrm>
          <a:prstGeom prst="ellipse">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10268711" y="2221991"/>
            <a:ext cx="1280160" cy="320040"/>
          </a:xfrm>
          <a:prstGeom prst="rect">
            <a:avLst/>
          </a:prstGeom>
          <a:noFill/>
        </p:spPr>
        <p:txBody>
          <a:bodyPr wrap="square" lIns="0" rIns="0" tIns="0" bIns="0" anchor="t">
            <a:spAutoFit/>
          </a:bodyPr>
          <a:lstStyle/>
          <a:p>
            <a:pPr algn="r">
              <a:spcAft>
                <a:spcPts val="0"/>
              </a:spcAft>
            </a:pPr>
            <a:r>
              <a:rPr sz="1400" b="1" i="0">
                <a:solidFill>
                  <a:srgbClr val="16202E"/>
                </a:solidFill>
                <a:latin typeface="Calibri"/>
              </a:rPr>
              <a:t>Trần</a:t>
            </a:r>
          </a:p>
        </p:txBody>
      </p:sp>
      <p:sp>
        <p:nvSpPr>
          <p:cNvPr id="17" name="TextBox 16"/>
          <p:cNvSpPr txBox="1"/>
          <p:nvPr/>
        </p:nvSpPr>
        <p:spPr>
          <a:xfrm>
            <a:off x="10222992" y="3017520"/>
            <a:ext cx="1325880" cy="822960"/>
          </a:xfrm>
          <a:prstGeom prst="rect">
            <a:avLst/>
          </a:prstGeom>
          <a:noFill/>
        </p:spPr>
        <p:txBody>
          <a:bodyPr wrap="square" lIns="0" rIns="0" tIns="0" bIns="0" anchor="t">
            <a:spAutoFit/>
          </a:bodyPr>
          <a:lstStyle/>
          <a:p>
            <a:pPr algn="r">
              <a:spcAft>
                <a:spcPts val="0"/>
              </a:spcAft>
            </a:pPr>
            <a:r>
              <a:rPr sz="1100" b="0" i="0">
                <a:solidFill>
                  <a:srgbClr val="5B6472"/>
                </a:solidFill>
                <a:latin typeface="Calibri"/>
              </a:rPr>
              <a:t>Đồng thuận người: consensus so với label2</a:t>
            </a:r>
          </a:p>
        </p:txBody>
      </p:sp>
      <p:sp>
        <p:nvSpPr>
          <p:cNvPr id="18" name="Rounded Rectangle 17"/>
          <p:cNvSpPr/>
          <p:nvPr/>
        </p:nvSpPr>
        <p:spPr>
          <a:xfrm>
            <a:off x="7726679" y="4160520"/>
            <a:ext cx="3913632" cy="1691640"/>
          </a:xfrm>
          <a:prstGeom prst="roundRect">
            <a:avLst>
              <a:gd name="adj" fmla="val 6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9" name="TextBox 18"/>
          <p:cNvSpPr txBox="1"/>
          <p:nvPr/>
        </p:nvSpPr>
        <p:spPr>
          <a:xfrm>
            <a:off x="7955279" y="4279392"/>
            <a:ext cx="3456432" cy="365760"/>
          </a:xfrm>
          <a:prstGeom prst="rect">
            <a:avLst/>
          </a:prstGeom>
          <a:noFill/>
        </p:spPr>
        <p:txBody>
          <a:bodyPr wrap="square" lIns="0" rIns="0" tIns="0" bIns="0" anchor="t">
            <a:spAutoFit/>
          </a:bodyPr>
          <a:lstStyle/>
          <a:p>
            <a:pPr algn="l">
              <a:spcAft>
                <a:spcPts val="0"/>
              </a:spcAft>
            </a:pPr>
            <a:r>
              <a:rPr sz="1600" b="1" i="0">
                <a:solidFill>
                  <a:srgbClr val="7A5200"/>
                </a:solidFill>
                <a:latin typeface="Cambria"/>
              </a:rPr>
              <a:t>Ba cái bẫy</a:t>
            </a:r>
          </a:p>
        </p:txBody>
      </p:sp>
      <p:sp>
        <p:nvSpPr>
          <p:cNvPr id="20" name="TextBox 19"/>
          <p:cNvSpPr txBox="1"/>
          <p:nvPr/>
        </p:nvSpPr>
        <p:spPr>
          <a:xfrm>
            <a:off x="7955279" y="4663440"/>
            <a:ext cx="3502152" cy="1188720"/>
          </a:xfrm>
          <a:prstGeom prst="rect">
            <a:avLst/>
          </a:prstGeom>
          <a:noFill/>
        </p:spPr>
        <p:txBody>
          <a:bodyPr wrap="square" lIns="0" rIns="0" tIns="0" bIns="0" anchor="t">
            <a:spAutoFit/>
          </a:bodyPr>
          <a:lstStyle/>
          <a:p>
            <a:pPr algn="l" marL="201168" indent="-201168">
              <a:spcAft>
                <a:spcPts val="500"/>
              </a:spcAft>
              <a:buFont typeface="Arial"/>
              <a:buChar char="•"/>
            </a:pPr>
            <a:r>
              <a:rPr sz="1300" b="0" i="0">
                <a:solidFill>
                  <a:srgbClr val="7A5200"/>
                </a:solidFill>
                <a:latin typeface="Calibri"/>
              </a:rPr>
              <a:t>AUC 0,9995 trên dữ liệu thiết kế chưa phải bằng chứng</a:t>
            </a:r>
          </a:p>
          <a:p>
            <a:pPr algn="l" marL="201168" indent="-201168">
              <a:spcAft>
                <a:spcPts val="500"/>
              </a:spcAft>
              <a:buFont typeface="Arial"/>
              <a:buChar char="•"/>
            </a:pPr>
            <a:r>
              <a:rPr sz="1300" b="0" i="0">
                <a:solidFill>
                  <a:srgbClr val="7A5200"/>
                </a:solidFill>
                <a:latin typeface="Calibri"/>
              </a:rPr>
              <a:t>Chọn ngưỡng trên tập dev, không trên test</a:t>
            </a:r>
          </a:p>
          <a:p>
            <a:pPr algn="l" marL="201168" indent="-201168">
              <a:spcAft>
                <a:spcPts val="500"/>
              </a:spcAft>
              <a:buFont typeface="Arial"/>
              <a:buChar char="•"/>
            </a:pPr>
            <a:r>
              <a:rPr sz="1300" b="0" i="0">
                <a:solidFill>
                  <a:srgbClr val="7A5200"/>
                </a:solidFill>
                <a:latin typeface="Calibri"/>
              </a:rPr>
              <a:t>Báo cáo CI 95% (bootstrap theo file)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77266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Dữ liệu</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Dataset chia theo file gốc, nhãn dạng đoạn, kiểm tra trước khi train</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9 / 15</a:t>
            </a:r>
          </a:p>
        </p:txBody>
      </p:sp>
      <p:sp>
        <p:nvSpPr>
          <p:cNvPr id="5" name="TextBox 4"/>
          <p:cNvSpPr txBox="1"/>
          <p:nvPr/>
        </p:nvSpPr>
        <p:spPr>
          <a:xfrm>
            <a:off x="548640" y="1691640"/>
            <a:ext cx="329184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Chia tập</a:t>
            </a:r>
          </a:p>
        </p:txBody>
      </p:sp>
      <p:sp>
        <p:nvSpPr>
          <p:cNvPr id="6" name="Rounded Rectangle 5"/>
          <p:cNvSpPr/>
          <p:nvPr/>
        </p:nvSpPr>
        <p:spPr>
          <a:xfrm>
            <a:off x="548640" y="2148840"/>
            <a:ext cx="3291840" cy="749808"/>
          </a:xfrm>
          <a:prstGeom prst="roundRect">
            <a:avLst>
              <a:gd name="adj" fmla="val 6000"/>
            </a:avLst>
          </a:prstGeom>
          <a:solidFill>
            <a:srgbClr val="E3EE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731520" y="2148840"/>
            <a:ext cx="822960" cy="749808"/>
          </a:xfrm>
          <a:prstGeom prst="rect">
            <a:avLst/>
          </a:prstGeom>
          <a:noFill/>
        </p:spPr>
        <p:txBody>
          <a:bodyPr wrap="square" lIns="0" rIns="0" tIns="0" bIns="0" anchor="ctr">
            <a:spAutoFit/>
          </a:bodyPr>
          <a:lstStyle/>
          <a:p>
            <a:pPr algn="l">
              <a:spcAft>
                <a:spcPts val="0"/>
              </a:spcAft>
            </a:pPr>
            <a:r>
              <a:rPr sz="1600" b="1" i="0">
                <a:solidFill>
                  <a:srgbClr val="0C447C"/>
                </a:solidFill>
                <a:latin typeface="Calibri"/>
              </a:rPr>
              <a:t>Train</a:t>
            </a:r>
          </a:p>
        </p:txBody>
      </p:sp>
      <p:sp>
        <p:nvSpPr>
          <p:cNvPr id="8" name="TextBox 7"/>
          <p:cNvSpPr txBox="1"/>
          <p:nvPr/>
        </p:nvSpPr>
        <p:spPr>
          <a:xfrm>
            <a:off x="1508760" y="2148840"/>
            <a:ext cx="2194560" cy="749808"/>
          </a:xfrm>
          <a:prstGeom prst="rect">
            <a:avLst/>
          </a:prstGeom>
          <a:noFill/>
        </p:spPr>
        <p:txBody>
          <a:bodyPr wrap="square" lIns="0" rIns="0" tIns="0" bIns="0" anchor="ctr">
            <a:spAutoFit/>
          </a:bodyPr>
          <a:lstStyle/>
          <a:p>
            <a:pPr algn="l">
              <a:spcAft>
                <a:spcPts val="0"/>
              </a:spcAft>
            </a:pPr>
            <a:r>
              <a:rPr sz="1300" b="0" i="0">
                <a:solidFill>
                  <a:srgbClr val="0C447C"/>
                </a:solidFill>
                <a:latin typeface="Calibri"/>
              </a:rPr>
              <a:t>Học tham số model</a:t>
            </a:r>
          </a:p>
        </p:txBody>
      </p:sp>
      <p:sp>
        <p:nvSpPr>
          <p:cNvPr id="9" name="Rounded Rectangle 8"/>
          <p:cNvSpPr/>
          <p:nvPr/>
        </p:nvSpPr>
        <p:spPr>
          <a:xfrm>
            <a:off x="548640" y="3017520"/>
            <a:ext cx="3291840" cy="749808"/>
          </a:xfrm>
          <a:prstGeom prst="roundRect">
            <a:avLst>
              <a:gd name="adj" fmla="val 6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TextBox 9"/>
          <p:cNvSpPr txBox="1"/>
          <p:nvPr/>
        </p:nvSpPr>
        <p:spPr>
          <a:xfrm>
            <a:off x="731520" y="3017520"/>
            <a:ext cx="822960" cy="749808"/>
          </a:xfrm>
          <a:prstGeom prst="rect">
            <a:avLst/>
          </a:prstGeom>
          <a:noFill/>
        </p:spPr>
        <p:txBody>
          <a:bodyPr wrap="square" lIns="0" rIns="0" tIns="0" bIns="0" anchor="ctr">
            <a:spAutoFit/>
          </a:bodyPr>
          <a:lstStyle/>
          <a:p>
            <a:pPr algn="l">
              <a:spcAft>
                <a:spcPts val="0"/>
              </a:spcAft>
            </a:pPr>
            <a:r>
              <a:rPr sz="1600" b="1" i="0">
                <a:solidFill>
                  <a:srgbClr val="0A5C5B"/>
                </a:solidFill>
                <a:latin typeface="Calibri"/>
              </a:rPr>
              <a:t>Dev</a:t>
            </a:r>
          </a:p>
        </p:txBody>
      </p:sp>
      <p:sp>
        <p:nvSpPr>
          <p:cNvPr id="11" name="TextBox 10"/>
          <p:cNvSpPr txBox="1"/>
          <p:nvPr/>
        </p:nvSpPr>
        <p:spPr>
          <a:xfrm>
            <a:off x="1508760" y="3017520"/>
            <a:ext cx="2194560" cy="749808"/>
          </a:xfrm>
          <a:prstGeom prst="rect">
            <a:avLst/>
          </a:prstGeom>
          <a:noFill/>
        </p:spPr>
        <p:txBody>
          <a:bodyPr wrap="square" lIns="0" rIns="0" tIns="0" bIns="0" anchor="ctr">
            <a:spAutoFit/>
          </a:bodyPr>
          <a:lstStyle/>
          <a:p>
            <a:pPr algn="l">
              <a:spcAft>
                <a:spcPts val="0"/>
              </a:spcAft>
            </a:pPr>
            <a:r>
              <a:rPr sz="1300" b="0" i="0">
                <a:solidFill>
                  <a:srgbClr val="0A5C5B"/>
                </a:solidFill>
                <a:latin typeface="Calibri"/>
              </a:rPr>
              <a:t>Chọn ngưỡng và tham số hậu xử lý</a:t>
            </a:r>
          </a:p>
        </p:txBody>
      </p:sp>
      <p:sp>
        <p:nvSpPr>
          <p:cNvPr id="12" name="Rounded Rectangle 11"/>
          <p:cNvSpPr/>
          <p:nvPr/>
        </p:nvSpPr>
        <p:spPr>
          <a:xfrm>
            <a:off x="548640" y="3886200"/>
            <a:ext cx="3291840" cy="749808"/>
          </a:xfrm>
          <a:prstGeom prst="roundRect">
            <a:avLst>
              <a:gd name="adj" fmla="val 6000"/>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TextBox 12"/>
          <p:cNvSpPr txBox="1"/>
          <p:nvPr/>
        </p:nvSpPr>
        <p:spPr>
          <a:xfrm>
            <a:off x="731520" y="3886200"/>
            <a:ext cx="822960" cy="749808"/>
          </a:xfrm>
          <a:prstGeom prst="rect">
            <a:avLst/>
          </a:prstGeom>
          <a:noFill/>
        </p:spPr>
        <p:txBody>
          <a:bodyPr wrap="square" lIns="0" rIns="0" tIns="0" bIns="0" anchor="ctr">
            <a:spAutoFit/>
          </a:bodyPr>
          <a:lstStyle/>
          <a:p>
            <a:pPr algn="l">
              <a:spcAft>
                <a:spcPts val="0"/>
              </a:spcAft>
            </a:pPr>
            <a:r>
              <a:rPr sz="1600" b="1" i="0">
                <a:solidFill>
                  <a:srgbClr val="FFFFFF"/>
                </a:solidFill>
                <a:latin typeface="Calibri"/>
              </a:rPr>
              <a:t>Test</a:t>
            </a:r>
          </a:p>
        </p:txBody>
      </p:sp>
      <p:sp>
        <p:nvSpPr>
          <p:cNvPr id="14" name="TextBox 13"/>
          <p:cNvSpPr txBox="1"/>
          <p:nvPr/>
        </p:nvSpPr>
        <p:spPr>
          <a:xfrm>
            <a:off x="1508760" y="3886200"/>
            <a:ext cx="2194560" cy="749808"/>
          </a:xfrm>
          <a:prstGeom prst="rect">
            <a:avLst/>
          </a:prstGeom>
          <a:noFill/>
        </p:spPr>
        <p:txBody>
          <a:bodyPr wrap="square" lIns="0" rIns="0" tIns="0" bIns="0" anchor="ctr">
            <a:spAutoFit/>
          </a:bodyPr>
          <a:lstStyle/>
          <a:p>
            <a:pPr algn="l">
              <a:spcAft>
                <a:spcPts val="0"/>
              </a:spcAft>
            </a:pPr>
            <a:r>
              <a:rPr sz="1300" b="0" i="0">
                <a:solidFill>
                  <a:srgbClr val="FFFFFF"/>
                </a:solidFill>
                <a:latin typeface="Calibri"/>
              </a:rPr>
              <a:t>Khóa lại, chỉ chạy khi chốt</a:t>
            </a:r>
          </a:p>
        </p:txBody>
      </p:sp>
      <p:sp>
        <p:nvSpPr>
          <p:cNvPr id="15" name="TextBox 14"/>
          <p:cNvSpPr txBox="1"/>
          <p:nvPr/>
        </p:nvSpPr>
        <p:spPr>
          <a:xfrm>
            <a:off x="548640" y="4846320"/>
            <a:ext cx="3291840" cy="1325880"/>
          </a:xfrm>
          <a:prstGeom prst="rect">
            <a:avLst/>
          </a:prstGeom>
          <a:noFill/>
        </p:spPr>
        <p:txBody>
          <a:bodyPr wrap="square" lIns="0" rIns="0" tIns="0" bIns="0" anchor="t">
            <a:spAutoFit/>
          </a:bodyPr>
          <a:lstStyle/>
          <a:p>
            <a:pPr algn="l">
              <a:spcAft>
                <a:spcPts val="600"/>
              </a:spcAft>
            </a:pPr>
            <a:r>
              <a:rPr sz="1300" b="1" i="0">
                <a:solidFill>
                  <a:srgbClr val="16202E"/>
                </a:solidFill>
                <a:latin typeface="Calibri"/>
              </a:rPr>
              <a:t>Chia theo file gốc và nguồn. </a:t>
            </a:r>
            <a:r>
              <a:rPr sz="1300" b="0" i="0">
                <a:solidFill>
                  <a:srgbClr val="5B6472"/>
                </a:solidFill>
                <a:latin typeface="Calibri"/>
              </a:rPr>
              <a:t>Hai đoạn 10 s cắt từ cùng một file mà nằm ở hai tập là rò rỉ dữ liệu.</a:t>
            </a:r>
          </a:p>
          <a:p>
            <a:pPr algn="l">
              <a:spcAft>
                <a:spcPts val="600"/>
              </a:spcAft>
            </a:pPr>
            <a:r>
              <a:rPr sz="1300" b="1" i="0">
                <a:solidFill>
                  <a:srgbClr val="16202E"/>
                </a:solidFill>
                <a:latin typeface="Calibri"/>
              </a:rPr>
              <a:t>Nhãn lưu dạng đoạn (start, end), </a:t>
            </a:r>
            <a:r>
              <a:rPr sz="1300" b="0" i="0">
                <a:solidFill>
                  <a:srgbClr val="5B6472"/>
                </a:solidFill>
                <a:latin typeface="Calibri"/>
              </a:rPr>
              <a:t>không theo lưới 0,5 s.</a:t>
            </a:r>
          </a:p>
        </p:txBody>
      </p:sp>
      <p:sp>
        <p:nvSpPr>
          <p:cNvPr id="16" name="TextBox 15"/>
          <p:cNvSpPr txBox="1"/>
          <p:nvPr/>
        </p:nvSpPr>
        <p:spPr>
          <a:xfrm>
            <a:off x="4114800" y="1691640"/>
            <a:ext cx="370332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Nguồn dữ liệu</a:t>
            </a:r>
          </a:p>
        </p:txBody>
      </p:sp>
      <p:sp>
        <p:nvSpPr>
          <p:cNvPr id="17" name="Rounded Rectangle 16"/>
          <p:cNvSpPr/>
          <p:nvPr/>
        </p:nvSpPr>
        <p:spPr>
          <a:xfrm>
            <a:off x="4114800" y="2148840"/>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4251960" y="2148840"/>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Trong miền: </a:t>
            </a:r>
            <a:r>
              <a:rPr sz="1200" b="0" i="0">
                <a:solidFill>
                  <a:srgbClr val="5B6472"/>
                </a:solidFill>
                <a:latin typeface="Calibri"/>
              </a:rPr>
              <a:t>File thật của app: nguồn chính</a:t>
            </a:r>
          </a:p>
        </p:txBody>
      </p:sp>
      <p:sp>
        <p:nvSpPr>
          <p:cNvPr id="19" name="Rounded Rectangle 18"/>
          <p:cNvSpPr/>
          <p:nvPr/>
        </p:nvSpPr>
        <p:spPr>
          <a:xfrm>
            <a:off x="4114800" y="2807208"/>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4251960" y="2807208"/>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Speech: </a:t>
            </a:r>
            <a:r>
              <a:rPr sz="1200" b="0" i="0">
                <a:solidFill>
                  <a:srgbClr val="5B6472"/>
                </a:solidFill>
                <a:latin typeface="Calibri"/>
              </a:rPr>
              <a:t>Common Voice vi, VIVOS</a:t>
            </a:r>
          </a:p>
        </p:txBody>
      </p:sp>
      <p:sp>
        <p:nvSpPr>
          <p:cNvPr id="21" name="Rounded Rectangle 20"/>
          <p:cNvSpPr/>
          <p:nvPr/>
        </p:nvSpPr>
        <p:spPr>
          <a:xfrm>
            <a:off x="4114800" y="3465576"/>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TextBox 21"/>
          <p:cNvSpPr txBox="1"/>
          <p:nvPr/>
        </p:nvSpPr>
        <p:spPr>
          <a:xfrm>
            <a:off x="4251960" y="3465576"/>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Hát: </a:t>
            </a:r>
            <a:r>
              <a:rPr sz="1200" b="0" i="0">
                <a:solidFill>
                  <a:srgbClr val="5B6472"/>
                </a:solidFill>
                <a:latin typeface="Calibri"/>
              </a:rPr>
              <a:t>MUSDB18: stem giọng làm nhãn, stem nhạc đệm làm negative</a:t>
            </a:r>
          </a:p>
        </p:txBody>
      </p:sp>
      <p:sp>
        <p:nvSpPr>
          <p:cNvPr id="23" name="Rounded Rectangle 22"/>
          <p:cNvSpPr/>
          <p:nvPr/>
        </p:nvSpPr>
        <p:spPr>
          <a:xfrm>
            <a:off x="4114800" y="4123944"/>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TextBox 23"/>
          <p:cNvSpPr txBox="1"/>
          <p:nvPr/>
        </p:nvSpPr>
        <p:spPr>
          <a:xfrm>
            <a:off x="4251960" y="4123944"/>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Negative khó: </a:t>
            </a:r>
            <a:r>
              <a:rPr sz="1200" b="0" i="0">
                <a:solidFill>
                  <a:srgbClr val="5B6472"/>
                </a:solidFill>
                <a:latin typeface="Calibri"/>
              </a:rPr>
              <a:t>AudioSet: Crowd, Babble, Laughter, Cough; FSD50K</a:t>
            </a:r>
          </a:p>
        </p:txBody>
      </p:sp>
      <p:sp>
        <p:nvSpPr>
          <p:cNvPr id="25" name="Rounded Rectangle 24"/>
          <p:cNvSpPr/>
          <p:nvPr/>
        </p:nvSpPr>
        <p:spPr>
          <a:xfrm>
            <a:off x="4114800" y="4782312"/>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TextBox 25"/>
          <p:cNvSpPr txBox="1"/>
          <p:nvPr/>
        </p:nvSpPr>
        <p:spPr>
          <a:xfrm>
            <a:off x="4251960" y="4782312"/>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Nhạc: </a:t>
            </a:r>
            <a:r>
              <a:rPr sz="1200" b="0" i="0">
                <a:solidFill>
                  <a:srgbClr val="5B6472"/>
                </a:solidFill>
                <a:latin typeface="Calibri"/>
              </a:rPr>
              <a:t>MUSAN, đã lọc bài có lời</a:t>
            </a:r>
          </a:p>
        </p:txBody>
      </p:sp>
      <p:sp>
        <p:nvSpPr>
          <p:cNvPr id="27" name="Rounded Rectangle 26"/>
          <p:cNvSpPr/>
          <p:nvPr/>
        </p:nvSpPr>
        <p:spPr>
          <a:xfrm>
            <a:off x="4114800" y="5440679"/>
            <a:ext cx="3703320" cy="585216"/>
          </a:xfrm>
          <a:prstGeom prst="roundRect">
            <a:avLst>
              <a:gd name="adj" fmla="val 12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TextBox 27"/>
          <p:cNvSpPr txBox="1"/>
          <p:nvPr/>
        </p:nvSpPr>
        <p:spPr>
          <a:xfrm>
            <a:off x="4251960" y="5440679"/>
            <a:ext cx="3429000" cy="585216"/>
          </a:xfrm>
          <a:prstGeom prst="rect">
            <a:avLst/>
          </a:prstGeom>
          <a:noFill/>
        </p:spPr>
        <p:txBody>
          <a:bodyPr wrap="square" lIns="0" rIns="0" tIns="0" bIns="0" anchor="ctr">
            <a:spAutoFit/>
          </a:bodyPr>
          <a:lstStyle/>
          <a:p>
            <a:pPr algn="l">
              <a:spcAft>
                <a:spcPts val="0"/>
              </a:spcAft>
            </a:pPr>
            <a:r>
              <a:rPr sz="1200" b="1" i="0">
                <a:solidFill>
                  <a:srgbClr val="16202E"/>
                </a:solidFill>
                <a:latin typeface="Calibri"/>
              </a:rPr>
              <a:t>Trộn: </a:t>
            </a:r>
            <a:r>
              <a:rPr sz="1200" b="0" i="0">
                <a:solidFill>
                  <a:srgbClr val="5B6472"/>
                </a:solidFill>
                <a:latin typeface="Calibri"/>
              </a:rPr>
              <a:t>SNR −5…20 dB; tỉ lệ giọng/nhạc đệm; vang</a:t>
            </a:r>
          </a:p>
        </p:txBody>
      </p:sp>
      <p:sp>
        <p:nvSpPr>
          <p:cNvPr id="29" name="Rounded Rectangle 28"/>
          <p:cNvSpPr/>
          <p:nvPr/>
        </p:nvSpPr>
        <p:spPr>
          <a:xfrm>
            <a:off x="8092440" y="1691640"/>
            <a:ext cx="3547872" cy="4480560"/>
          </a:xfrm>
          <a:prstGeom prst="roundRect">
            <a:avLst>
              <a:gd name="adj" fmla="val 6000"/>
            </a:avLst>
          </a:prstGeom>
          <a:solidFill>
            <a:srgbClr val="FFFFFF"/>
          </a:solidFill>
          <a:ln w="12700">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TextBox 29"/>
          <p:cNvSpPr txBox="1"/>
          <p:nvPr/>
        </p:nvSpPr>
        <p:spPr>
          <a:xfrm>
            <a:off x="8321040" y="1810512"/>
            <a:ext cx="309067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Kiểm tra trước khi train</a:t>
            </a:r>
          </a:p>
        </p:txBody>
      </p:sp>
      <p:sp>
        <p:nvSpPr>
          <p:cNvPr id="31" name="Oval 30"/>
          <p:cNvSpPr/>
          <p:nvPr/>
        </p:nvSpPr>
        <p:spPr>
          <a:xfrm>
            <a:off x="8321040" y="2377439"/>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2" name="Picture 31" descr="check_w.png"/>
          <p:cNvPicPr>
            <a:picLocks noChangeAspect="1"/>
          </p:cNvPicPr>
          <p:nvPr/>
        </p:nvPicPr>
        <p:blipFill>
          <a:blip r:embed="rId2"/>
          <a:stretch>
            <a:fillRect/>
          </a:stretch>
        </p:blipFill>
        <p:spPr>
          <a:xfrm>
            <a:off x="8375904" y="2432303"/>
            <a:ext cx="237744" cy="237744"/>
          </a:xfrm>
          <a:prstGeom prst="rect">
            <a:avLst/>
          </a:prstGeom>
        </p:spPr>
      </p:pic>
      <p:sp>
        <p:nvSpPr>
          <p:cNvPr id="33" name="TextBox 32"/>
          <p:cNvSpPr txBox="1"/>
          <p:nvPr/>
        </p:nvSpPr>
        <p:spPr>
          <a:xfrm>
            <a:off x="8805672" y="2331720"/>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Rà nhãn cũ theo định nghĩa mới (hát, đám đông, cười/ho)</a:t>
            </a:r>
          </a:p>
        </p:txBody>
      </p:sp>
      <p:sp>
        <p:nvSpPr>
          <p:cNvPr id="34" name="Oval 33"/>
          <p:cNvSpPr/>
          <p:nvPr/>
        </p:nvSpPr>
        <p:spPr>
          <a:xfrm>
            <a:off x="8321040" y="3127247"/>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5" name="Picture 34" descr="check_w.png"/>
          <p:cNvPicPr>
            <a:picLocks noChangeAspect="1"/>
          </p:cNvPicPr>
          <p:nvPr/>
        </p:nvPicPr>
        <p:blipFill>
          <a:blip r:embed="rId2"/>
          <a:stretch>
            <a:fillRect/>
          </a:stretch>
        </p:blipFill>
        <p:spPr>
          <a:xfrm>
            <a:off x="8375904" y="3182111"/>
            <a:ext cx="237744" cy="237744"/>
          </a:xfrm>
          <a:prstGeom prst="rect">
            <a:avLst/>
          </a:prstGeom>
        </p:spPr>
      </p:pic>
      <p:sp>
        <p:nvSpPr>
          <p:cNvPr id="36" name="TextBox 35"/>
          <p:cNvSpPr txBox="1"/>
          <p:nvPr/>
        </p:nvSpPr>
        <p:spPr>
          <a:xfrm>
            <a:off x="8805672" y="3081527"/>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Tỉ lệ speech theo thời lượng, tách theo lát</a:t>
            </a:r>
          </a:p>
        </p:txBody>
      </p:sp>
      <p:sp>
        <p:nvSpPr>
          <p:cNvPr id="37" name="Oval 36"/>
          <p:cNvSpPr/>
          <p:nvPr/>
        </p:nvSpPr>
        <p:spPr>
          <a:xfrm>
            <a:off x="8321040" y="3877055"/>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8" name="Picture 37" descr="check_w.png"/>
          <p:cNvPicPr>
            <a:picLocks noChangeAspect="1"/>
          </p:cNvPicPr>
          <p:nvPr/>
        </p:nvPicPr>
        <p:blipFill>
          <a:blip r:embed="rId2"/>
          <a:stretch>
            <a:fillRect/>
          </a:stretch>
        </p:blipFill>
        <p:spPr>
          <a:xfrm>
            <a:off x="8375904" y="3931920"/>
            <a:ext cx="237744" cy="237744"/>
          </a:xfrm>
          <a:prstGeom prst="rect">
            <a:avLst/>
          </a:prstGeom>
        </p:spPr>
      </p:pic>
      <p:sp>
        <p:nvSpPr>
          <p:cNvPr id="39" name="TextBox 38"/>
          <p:cNvSpPr txBox="1"/>
          <p:nvPr/>
        </p:nvSpPr>
        <p:spPr>
          <a:xfrm>
            <a:off x="8805672" y="3831335"/>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Đồng thuận consensus so với label2 (kappa): chính là trần</a:t>
            </a:r>
          </a:p>
        </p:txBody>
      </p:sp>
      <p:sp>
        <p:nvSpPr>
          <p:cNvPr id="40" name="Oval 39"/>
          <p:cNvSpPr/>
          <p:nvPr/>
        </p:nvSpPr>
        <p:spPr>
          <a:xfrm>
            <a:off x="8321040" y="4626864"/>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41" name="Picture 40" descr="check_w.png"/>
          <p:cNvPicPr>
            <a:picLocks noChangeAspect="1"/>
          </p:cNvPicPr>
          <p:nvPr/>
        </p:nvPicPr>
        <p:blipFill>
          <a:blip r:embed="rId2"/>
          <a:stretch>
            <a:fillRect/>
          </a:stretch>
        </p:blipFill>
        <p:spPr>
          <a:xfrm>
            <a:off x="8375904" y="4681728"/>
            <a:ext cx="237744" cy="237744"/>
          </a:xfrm>
          <a:prstGeom prst="rect">
            <a:avLst/>
          </a:prstGeom>
        </p:spPr>
      </p:pic>
      <p:sp>
        <p:nvSpPr>
          <p:cNvPr id="42" name="TextBox 41"/>
          <p:cNvSpPr txBox="1"/>
          <p:nvPr/>
        </p:nvSpPr>
        <p:spPr>
          <a:xfrm>
            <a:off x="8805672" y="4581144"/>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Đoạn mà model và Silero cùng bất đồng với nhãn → xem lại</a:t>
            </a:r>
          </a:p>
        </p:txBody>
      </p:sp>
      <p:sp>
        <p:nvSpPr>
          <p:cNvPr id="43" name="Oval 42"/>
          <p:cNvSpPr/>
          <p:nvPr/>
        </p:nvSpPr>
        <p:spPr>
          <a:xfrm>
            <a:off x="8321040" y="5376672"/>
            <a:ext cx="347472" cy="347472"/>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44" name="Picture 43" descr="check_w.png"/>
          <p:cNvPicPr>
            <a:picLocks noChangeAspect="1"/>
          </p:cNvPicPr>
          <p:nvPr/>
        </p:nvPicPr>
        <p:blipFill>
          <a:blip r:embed="rId2"/>
          <a:stretch>
            <a:fillRect/>
          </a:stretch>
        </p:blipFill>
        <p:spPr>
          <a:xfrm>
            <a:off x="8375904" y="5431536"/>
            <a:ext cx="237744" cy="237744"/>
          </a:xfrm>
          <a:prstGeom prst="rect">
            <a:avLst/>
          </a:prstGeom>
        </p:spPr>
      </p:pic>
      <p:sp>
        <p:nvSpPr>
          <p:cNvPr id="45" name="TextBox 44"/>
          <p:cNvSpPr txBox="1"/>
          <p:nvPr/>
        </p:nvSpPr>
        <p:spPr>
          <a:xfrm>
            <a:off x="8805672" y="5330952"/>
            <a:ext cx="2633472" cy="685800"/>
          </a:xfrm>
          <a:prstGeom prst="rect">
            <a:avLst/>
          </a:prstGeom>
          <a:noFill/>
        </p:spPr>
        <p:txBody>
          <a:bodyPr wrap="square" lIns="0" rIns="0" tIns="0" bIns="0" anchor="t">
            <a:spAutoFit/>
          </a:bodyPr>
          <a:lstStyle/>
          <a:p>
            <a:pPr algn="l">
              <a:spcAft>
                <a:spcPts val="0"/>
              </a:spcAft>
            </a:pPr>
            <a:r>
              <a:rPr sz="1300" b="0" i="0">
                <a:solidFill>
                  <a:srgbClr val="16202E"/>
                </a:solidFill>
                <a:latin typeface="Calibri"/>
              </a:rPr>
              <a:t>Trùng lặp audio giữa train và 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97840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Thử nghiệm</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Mỗi thử nghiệm đổi một biến và được chấm bằng cùng scorecard</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10 / 15</a:t>
            </a:r>
          </a:p>
        </p:txBody>
      </p:sp>
      <p:graphicFrame>
        <p:nvGraphicFramePr>
          <p:cNvPr id="5" name="Table 4"/>
          <p:cNvGraphicFramePr>
            <a:graphicFrameLocks noGrp="1"/>
          </p:cNvGraphicFramePr>
          <p:nvPr/>
        </p:nvGraphicFramePr>
        <p:xfrm>
          <a:off x="548640" y="1737360"/>
          <a:ext cx="11091672" cy="4169656"/>
        </p:xfrm>
        <a:graphic>
          <a:graphicData uri="http://schemas.openxmlformats.org/drawingml/2006/table">
            <a:tbl>
              <a:tblPr firstRow="1" bandRow="1">
                <a:tableStyleId>{5C22544A-7EE6-4342-B048-85BDC9FD1C3A}</a:tableStyleId>
              </a:tblPr>
              <a:tblGrid>
                <a:gridCol w="548640"/>
                <a:gridCol w="4023360"/>
                <a:gridCol w="4142232"/>
                <a:gridCol w="2377440"/>
              </a:tblGrid>
              <a:tr h="521207">
                <a:tc>
                  <a:txBody>
                    <a:bodyPr wrap="square"/>
                    <a:lstStyle/>
                    <a:p>
                      <a:pPr algn="ctr"/>
                      <a:r>
                        <a:rPr sz="1200" b="1">
                          <a:solidFill>
                            <a:srgbClr val="FFFFFF"/>
                          </a:solidFill>
                          <a:latin typeface="Calibri"/>
                        </a:rPr>
                        <a:t>#</a:t>
                      </a:r>
                    </a:p>
                  </a:txBody>
                  <a:tcPr marL="91440" marR="91440" marT="27432" marB="27432" anchor="ctr">
                    <a:solidFill>
                      <a:srgbClr val="16202E"/>
                    </a:solidFill>
                  </a:tcPr>
                </a:tc>
                <a:tc>
                  <a:txBody>
                    <a:bodyPr wrap="square"/>
                    <a:lstStyle/>
                    <a:p>
                      <a:pPr algn="l"/>
                      <a:r>
                        <a:rPr sz="1200" b="1">
                          <a:solidFill>
                            <a:srgbClr val="FFFFFF"/>
                          </a:solidFill>
                          <a:latin typeface="Calibri"/>
                        </a:rPr>
                        <a:t>Thử nghiệm</a:t>
                      </a:r>
                    </a:p>
                  </a:txBody>
                  <a:tcPr marL="91440" marR="91440" marT="27432" marB="27432" anchor="ctr">
                    <a:solidFill>
                      <a:srgbClr val="16202E"/>
                    </a:solidFill>
                  </a:tcPr>
                </a:tc>
                <a:tc>
                  <a:txBody>
                    <a:bodyPr wrap="square"/>
                    <a:lstStyle/>
                    <a:p>
                      <a:pPr algn="l"/>
                      <a:r>
                        <a:rPr sz="1200" b="1">
                          <a:solidFill>
                            <a:srgbClr val="FFFFFF"/>
                          </a:solidFill>
                          <a:latin typeface="Calibri"/>
                        </a:rPr>
                        <a:t>Giả thuyết</a:t>
                      </a:r>
                    </a:p>
                  </a:txBody>
                  <a:tcPr marL="91440" marR="91440" marT="27432" marB="27432" anchor="ctr">
                    <a:solidFill>
                      <a:srgbClr val="16202E"/>
                    </a:solidFill>
                  </a:tcPr>
                </a:tc>
                <a:tc>
                  <a:txBody>
                    <a:bodyPr wrap="square"/>
                    <a:lstStyle/>
                    <a:p>
                      <a:pPr algn="l"/>
                      <a:r>
                        <a:rPr sz="1200" b="1">
                          <a:solidFill>
                            <a:srgbClr val="FFFFFF"/>
                          </a:solidFill>
                          <a:latin typeface="Calibri"/>
                        </a:rPr>
                        <a:t>Metric theo dõi</a:t>
                      </a:r>
                    </a:p>
                  </a:txBody>
                  <a:tcPr marL="91440" marR="91440" marT="27432" marB="27432" anchor="ctr">
                    <a:solidFill>
                      <a:srgbClr val="16202E"/>
                    </a:solidFill>
                  </a:tcPr>
                </a:tc>
              </a:tr>
              <a:tr h="521207">
                <a:tc>
                  <a:txBody>
                    <a:bodyPr wrap="square"/>
                    <a:lstStyle/>
                    <a:p>
                      <a:pPr algn="ctr"/>
                      <a:r>
                        <a:rPr sz="1300" b="1">
                          <a:solidFill>
                            <a:srgbClr val="0A5C5B"/>
                          </a:solidFill>
                          <a:latin typeface="Calibri"/>
                        </a:rPr>
                        <a:t>E0</a:t>
                      </a:r>
                    </a:p>
                  </a:txBody>
                  <a:tcPr marL="91440" marR="91440" marT="27432" marB="27432" anchor="ctr">
                    <a:solidFill>
                      <a:srgbClr val="FFFFFF"/>
                    </a:solidFill>
                  </a:tcPr>
                </a:tc>
                <a:tc>
                  <a:txBody>
                    <a:bodyPr wrap="square"/>
                    <a:lstStyle/>
                    <a:p>
                      <a:pPr algn="l"/>
                      <a:r>
                        <a:rPr sz="1300" b="0">
                          <a:solidFill>
                            <a:srgbClr val="16202E"/>
                          </a:solidFill>
                          <a:latin typeface="Calibri"/>
                        </a:rPr>
                        <a:t>Baseline: YAMNet hiện tại, Silero, WebRTC</a:t>
                      </a:r>
                    </a:p>
                  </a:txBody>
                  <a:tcPr marL="91440" marR="91440" marT="27432" marB="27432" anchor="ctr">
                    <a:solidFill>
                      <a:srgbClr val="FFFFFF"/>
                    </a:solidFill>
                  </a:tcPr>
                </a:tc>
                <a:tc>
                  <a:txBody>
                    <a:bodyPr wrap="square"/>
                    <a:lstStyle/>
                    <a:p>
                      <a:pPr algn="l"/>
                      <a:r>
                        <a:rPr sz="1300" b="0">
                          <a:solidFill>
                            <a:srgbClr val="5B6472"/>
                          </a:solidFill>
                          <a:latin typeface="Calibri"/>
                        </a:rPr>
                        <a:t>Có sàn để so</a:t>
                      </a:r>
                    </a:p>
                  </a:txBody>
                  <a:tcPr marL="91440" marR="91440" marT="27432" marB="27432" anchor="ctr">
                    <a:solidFill>
                      <a:srgbClr val="FFFFFF"/>
                    </a:solidFill>
                  </a:tcPr>
                </a:tc>
                <a:tc>
                  <a:txBody>
                    <a:bodyPr wrap="square"/>
                    <a:lstStyle/>
                    <a:p>
                      <a:pPr algn="l"/>
                      <a:r>
                        <a:rPr sz="1300" b="0">
                          <a:solidFill>
                            <a:srgbClr val="5B6472"/>
                          </a:solidFill>
                          <a:latin typeface="Calibri"/>
                        </a:rPr>
                        <a:t>Toàn bộ scorecard</a:t>
                      </a:r>
                    </a:p>
                  </a:txBody>
                  <a:tcPr marL="91440" marR="91440" marT="27432" marB="27432" anchor="ctr">
                    <a:solidFill>
                      <a:srgbClr val="FFFFFF"/>
                    </a:solidFill>
                  </a:tcPr>
                </a:tc>
              </a:tr>
              <a:tr h="521207">
                <a:tc>
                  <a:txBody>
                    <a:bodyPr wrap="square"/>
                    <a:lstStyle/>
                    <a:p>
                      <a:pPr algn="ctr"/>
                      <a:r>
                        <a:rPr sz="1300" b="1">
                          <a:solidFill>
                            <a:srgbClr val="0A5C5B"/>
                          </a:solidFill>
                          <a:latin typeface="Calibri"/>
                        </a:rPr>
                        <a:t>E1</a:t>
                      </a:r>
                    </a:p>
                  </a:txBody>
                  <a:tcPr marL="91440" marR="91440" marT="27432" marB="27432" anchor="ctr">
                    <a:solidFill>
                      <a:srgbClr val="F3F5F8"/>
                    </a:solidFill>
                  </a:tcPr>
                </a:tc>
                <a:tc>
                  <a:txBody>
                    <a:bodyPr wrap="square"/>
                    <a:lstStyle/>
                    <a:p>
                      <a:pPr algn="l"/>
                      <a:r>
                        <a:rPr sz="1300" b="0">
                          <a:solidFill>
                            <a:srgbClr val="16202E"/>
                          </a:solidFill>
                          <a:latin typeface="Calibri"/>
                        </a:rPr>
                        <a:t>Hậu xử lý: hysteresis, padding, gộp khoảng trống</a:t>
                      </a:r>
                    </a:p>
                  </a:txBody>
                  <a:tcPr marL="91440" marR="91440" marT="27432" marB="27432" anchor="ctr">
                    <a:solidFill>
                      <a:srgbClr val="F3F5F8"/>
                    </a:solidFill>
                  </a:tcPr>
                </a:tc>
                <a:tc>
                  <a:txBody>
                    <a:bodyPr wrap="square"/>
                    <a:lstStyle/>
                    <a:p>
                      <a:pPr algn="l"/>
                      <a:r>
                        <a:rPr sz="1300" b="0">
                          <a:solidFill>
                            <a:srgbClr val="5B6472"/>
                          </a:solidFill>
                          <a:latin typeface="Calibri"/>
                        </a:rPr>
                        <a:t>Pad 100/120 ms và gộp &lt; 500 ms làm FA ở biên tăng</a:t>
                      </a:r>
                    </a:p>
                  </a:txBody>
                  <a:tcPr marL="91440" marR="91440" marT="27432" marB="27432" anchor="ctr">
                    <a:solidFill>
                      <a:srgbClr val="F3F5F8"/>
                    </a:solidFill>
                  </a:tcPr>
                </a:tc>
                <a:tc>
                  <a:txBody>
                    <a:bodyPr wrap="square"/>
                    <a:lstStyle/>
                    <a:p>
                      <a:pPr algn="l"/>
                      <a:r>
                        <a:rPr sz="1300" b="0">
                          <a:solidFill>
                            <a:srgbClr val="5B6472"/>
                          </a:solidFill>
                          <a:latin typeface="Calibri"/>
                        </a:rPr>
                        <a:t>FA biên, P90</a:t>
                      </a:r>
                    </a:p>
                  </a:txBody>
                  <a:tcPr marL="91440" marR="91440" marT="27432" marB="27432" anchor="ctr">
                    <a:solidFill>
                      <a:srgbClr val="F3F5F8"/>
                    </a:solidFill>
                  </a:tcPr>
                </a:tc>
              </a:tr>
              <a:tr h="521207">
                <a:tc>
                  <a:txBody>
                    <a:bodyPr wrap="square"/>
                    <a:lstStyle/>
                    <a:p>
                      <a:pPr algn="ctr"/>
                      <a:r>
                        <a:rPr sz="1300" b="1">
                          <a:solidFill>
                            <a:srgbClr val="0A5C5B"/>
                          </a:solidFill>
                          <a:latin typeface="Calibri"/>
                        </a:rPr>
                        <a:t>E2</a:t>
                      </a:r>
                    </a:p>
                  </a:txBody>
                  <a:tcPr marL="91440" marR="91440" marT="27432" marB="27432" anchor="ctr">
                    <a:solidFill>
                      <a:srgbClr val="FFFFFF"/>
                    </a:solidFill>
                  </a:tcPr>
                </a:tc>
                <a:tc>
                  <a:txBody>
                    <a:bodyPr wrap="square"/>
                    <a:lstStyle/>
                    <a:p>
                      <a:pPr algn="l"/>
                      <a:r>
                        <a:rPr sz="1300" b="0">
                          <a:solidFill>
                            <a:srgbClr val="16202E"/>
                          </a:solidFill>
                          <a:latin typeface="Calibri"/>
                        </a:rPr>
                        <a:t>BiGRU/TCN trên chuỗi embedding</a:t>
                      </a:r>
                    </a:p>
                  </a:txBody>
                  <a:tcPr marL="91440" marR="91440" marT="27432" marB="27432" anchor="ctr">
                    <a:solidFill>
                      <a:srgbClr val="FFFFFF"/>
                    </a:solidFill>
                  </a:tcPr>
                </a:tc>
                <a:tc>
                  <a:txBody>
                    <a:bodyPr wrap="square"/>
                    <a:lstStyle/>
                    <a:p>
                      <a:pPr algn="l"/>
                      <a:r>
                        <a:rPr sz="1300" b="0">
                          <a:solidFill>
                            <a:srgbClr val="5B6472"/>
                          </a:solidFill>
                          <a:latin typeface="Calibri"/>
                        </a:rPr>
                        <a:t>Ngữ cảnh thời gian làm biên mượt hơn</a:t>
                      </a:r>
                    </a:p>
                  </a:txBody>
                  <a:tcPr marL="91440" marR="91440" marT="27432" marB="27432" anchor="ctr">
                    <a:solidFill>
                      <a:srgbClr val="FFFFFF"/>
                    </a:solidFill>
                  </a:tcPr>
                </a:tc>
                <a:tc>
                  <a:txBody>
                    <a:bodyPr wrap="square"/>
                    <a:lstStyle/>
                    <a:p>
                      <a:pPr algn="l"/>
                      <a:r>
                        <a:rPr sz="1300" b="0">
                          <a:solidFill>
                            <a:srgbClr val="5B6472"/>
                          </a:solidFill>
                          <a:latin typeface="Calibri"/>
                        </a:rPr>
                        <a:t>P90, Miss</a:t>
                      </a:r>
                    </a:p>
                  </a:txBody>
                  <a:tcPr marL="91440" marR="91440" marT="27432" marB="27432" anchor="ctr">
                    <a:solidFill>
                      <a:srgbClr val="FFFFFF"/>
                    </a:solidFill>
                  </a:tcPr>
                </a:tc>
              </a:tr>
              <a:tr h="521207">
                <a:tc>
                  <a:txBody>
                    <a:bodyPr wrap="square"/>
                    <a:lstStyle/>
                    <a:p>
                      <a:pPr algn="ctr"/>
                      <a:r>
                        <a:rPr sz="1300" b="1">
                          <a:solidFill>
                            <a:srgbClr val="0A5C5B"/>
                          </a:solidFill>
                          <a:latin typeface="Calibri"/>
                        </a:rPr>
                        <a:t>E3</a:t>
                      </a:r>
                    </a:p>
                  </a:txBody>
                  <a:tcPr marL="91440" marR="91440" marT="27432" marB="27432" anchor="ctr">
                    <a:solidFill>
                      <a:srgbClr val="F3F5F8"/>
                    </a:solidFill>
                  </a:tcPr>
                </a:tc>
                <a:tc>
                  <a:txBody>
                    <a:bodyPr wrap="square"/>
                    <a:lstStyle/>
                    <a:p>
                      <a:pPr algn="l"/>
                      <a:r>
                        <a:rPr sz="1300" b="0">
                          <a:solidFill>
                            <a:srgbClr val="16202E"/>
                          </a:solidFill>
                          <a:latin typeface="Calibri"/>
                        </a:rPr>
                        <a:t>Nhánh log-mel 10 ms + fusion</a:t>
                      </a:r>
                    </a:p>
                  </a:txBody>
                  <a:tcPr marL="91440" marR="91440" marT="27432" marB="27432" anchor="ctr">
                    <a:solidFill>
                      <a:srgbClr val="F3F5F8"/>
                    </a:solidFill>
                  </a:tcPr>
                </a:tc>
                <a:tc>
                  <a:txBody>
                    <a:bodyPr wrap="square"/>
                    <a:lstStyle/>
                    <a:p>
                      <a:pPr algn="l"/>
                      <a:r>
                        <a:rPr sz="1300" b="0">
                          <a:solidFill>
                            <a:srgbClr val="5B6472"/>
                          </a:solidFill>
                          <a:latin typeface="Calibri"/>
                        </a:rPr>
                        <a:t>Độ phân giải cao hơn giúp biên chính xác</a:t>
                      </a:r>
                    </a:p>
                  </a:txBody>
                  <a:tcPr marL="91440" marR="91440" marT="27432" marB="27432" anchor="ctr">
                    <a:solidFill>
                      <a:srgbClr val="F3F5F8"/>
                    </a:solidFill>
                  </a:tcPr>
                </a:tc>
                <a:tc>
                  <a:txBody>
                    <a:bodyPr wrap="square"/>
                    <a:lstStyle/>
                    <a:p>
                      <a:pPr algn="l"/>
                      <a:r>
                        <a:rPr sz="1300" b="0">
                          <a:solidFill>
                            <a:srgbClr val="5B6472"/>
                          </a:solidFill>
                          <a:latin typeface="Calibri"/>
                        </a:rPr>
                        <a:t>P90</a:t>
                      </a:r>
                    </a:p>
                  </a:txBody>
                  <a:tcPr marL="91440" marR="91440" marT="27432" marB="27432" anchor="ctr">
                    <a:solidFill>
                      <a:srgbClr val="F3F5F8"/>
                    </a:solidFill>
                  </a:tcPr>
                </a:tc>
              </a:tr>
              <a:tr h="521207">
                <a:tc>
                  <a:txBody>
                    <a:bodyPr wrap="square"/>
                    <a:lstStyle/>
                    <a:p>
                      <a:pPr algn="ctr"/>
                      <a:r>
                        <a:rPr sz="1300" b="1">
                          <a:solidFill>
                            <a:srgbClr val="0A5C5B"/>
                          </a:solidFill>
                          <a:latin typeface="Calibri"/>
                        </a:rPr>
                        <a:t>E4</a:t>
                      </a:r>
                    </a:p>
                  </a:txBody>
                  <a:tcPr marL="91440" marR="91440" marT="27432" marB="27432" anchor="ctr">
                    <a:solidFill>
                      <a:srgbClr val="FFFFFF"/>
                    </a:solidFill>
                  </a:tcPr>
                </a:tc>
                <a:tc>
                  <a:txBody>
                    <a:bodyPr wrap="square"/>
                    <a:lstStyle/>
                    <a:p>
                      <a:pPr algn="l"/>
                      <a:r>
                        <a:rPr sz="1300" b="0">
                          <a:solidFill>
                            <a:srgbClr val="16202E"/>
                          </a:solidFill>
                          <a:latin typeface="Calibri"/>
                        </a:rPr>
                        <a:t>Dữ liệu lát khó: đám đông, cười/ho, nhạc cụ, giọng bị che</a:t>
                      </a:r>
                    </a:p>
                  </a:txBody>
                  <a:tcPr marL="91440" marR="91440" marT="27432" marB="27432" anchor="ctr">
                    <a:solidFill>
                      <a:srgbClr val="FFFFFF"/>
                    </a:solidFill>
                  </a:tcPr>
                </a:tc>
                <a:tc>
                  <a:txBody>
                    <a:bodyPr wrap="square"/>
                    <a:lstStyle/>
                    <a:p>
                      <a:pPr algn="l"/>
                      <a:r>
                        <a:rPr sz="1300" b="0">
                          <a:solidFill>
                            <a:srgbClr val="5B6472"/>
                          </a:solidFill>
                          <a:latin typeface="Calibri"/>
                        </a:rPr>
                        <a:t>Lỗi phân loại ở lát khó giảm</a:t>
                      </a:r>
                    </a:p>
                  </a:txBody>
                  <a:tcPr marL="91440" marR="91440" marT="27432" marB="27432" anchor="ctr">
                    <a:solidFill>
                      <a:srgbClr val="FFFFFF"/>
                    </a:solidFill>
                  </a:tcPr>
                </a:tc>
                <a:tc>
                  <a:txBody>
                    <a:bodyPr wrap="square"/>
                    <a:lstStyle/>
                    <a:p>
                      <a:pPr algn="l"/>
                      <a:r>
                        <a:rPr sz="1300" b="0">
                          <a:solidFill>
                            <a:srgbClr val="5B6472"/>
                          </a:solidFill>
                          <a:latin typeface="Calibri"/>
                        </a:rPr>
                        <a:t>Lỗi theo lát</a:t>
                      </a:r>
                    </a:p>
                  </a:txBody>
                  <a:tcPr marL="91440" marR="91440" marT="27432" marB="27432" anchor="ctr">
                    <a:solidFill>
                      <a:srgbClr val="FFFFFF"/>
                    </a:solidFill>
                  </a:tcPr>
                </a:tc>
              </a:tr>
              <a:tr h="521207">
                <a:tc>
                  <a:txBody>
                    <a:bodyPr wrap="square"/>
                    <a:lstStyle/>
                    <a:p>
                      <a:pPr algn="ctr"/>
                      <a:r>
                        <a:rPr sz="1300" b="1">
                          <a:solidFill>
                            <a:srgbClr val="0A5C5B"/>
                          </a:solidFill>
                          <a:latin typeface="Calibri"/>
                        </a:rPr>
                        <a:t>E5</a:t>
                      </a:r>
                    </a:p>
                  </a:txBody>
                  <a:tcPr marL="91440" marR="91440" marT="27432" marB="27432" anchor="ctr">
                    <a:solidFill>
                      <a:srgbClr val="F3F5F8"/>
                    </a:solidFill>
                  </a:tcPr>
                </a:tc>
                <a:tc>
                  <a:txBody>
                    <a:bodyPr wrap="square"/>
                    <a:lstStyle/>
                    <a:p>
                      <a:pPr algn="l"/>
                      <a:r>
                        <a:rPr sz="1300" b="0">
                          <a:solidFill>
                            <a:srgbClr val="16202E"/>
                          </a:solidFill>
                          <a:latin typeface="Calibri"/>
                        </a:rPr>
                        <a:t>Logit Speech + Singing của YAMNet; fine-tune một phần</a:t>
                      </a:r>
                    </a:p>
                  </a:txBody>
                  <a:tcPr marL="91440" marR="91440" marT="27432" marB="27432" anchor="ctr">
                    <a:solidFill>
                      <a:srgbClr val="F3F5F8"/>
                    </a:solidFill>
                  </a:tcPr>
                </a:tc>
                <a:tc>
                  <a:txBody>
                    <a:bodyPr wrap="square"/>
                    <a:lstStyle/>
                    <a:p>
                      <a:pPr algn="l"/>
                      <a:r>
                        <a:rPr sz="1300" b="0">
                          <a:solidFill>
                            <a:srgbClr val="5B6472"/>
                          </a:solidFill>
                          <a:latin typeface="Calibri"/>
                        </a:rPr>
                        <a:t>Tận dụng kiến thức AudioSet</a:t>
                      </a:r>
                    </a:p>
                  </a:txBody>
                  <a:tcPr marL="91440" marR="91440" marT="27432" marB="27432" anchor="ctr">
                    <a:solidFill>
                      <a:srgbClr val="F3F5F8"/>
                    </a:solidFill>
                  </a:tcPr>
                </a:tc>
                <a:tc>
                  <a:txBody>
                    <a:bodyPr wrap="square"/>
                    <a:lstStyle/>
                    <a:p>
                      <a:pPr algn="l"/>
                      <a:r>
                        <a:rPr sz="1300" b="0">
                          <a:solidFill>
                            <a:srgbClr val="5B6472"/>
                          </a:solidFill>
                          <a:latin typeface="Calibri"/>
                        </a:rPr>
                        <a:t>Lỗi theo lát</a:t>
                      </a:r>
                    </a:p>
                  </a:txBody>
                  <a:tcPr marL="91440" marR="91440" marT="27432" marB="27432" anchor="ctr">
                    <a:solidFill>
                      <a:srgbClr val="F3F5F8"/>
                    </a:solidFill>
                  </a:tcPr>
                </a:tc>
              </a:tr>
              <a:tr h="521207">
                <a:tc>
                  <a:txBody>
                    <a:bodyPr wrap="square"/>
                    <a:lstStyle/>
                    <a:p>
                      <a:pPr algn="ctr"/>
                      <a:r>
                        <a:rPr sz="1300" b="1">
                          <a:solidFill>
                            <a:srgbClr val="0A5C5B"/>
                          </a:solidFill>
                          <a:latin typeface="Calibri"/>
                        </a:rPr>
                        <a:t>E6</a:t>
                      </a:r>
                    </a:p>
                  </a:txBody>
                  <a:tcPr marL="91440" marR="91440" marT="27432" marB="27432" anchor="ctr">
                    <a:solidFill>
                      <a:srgbClr val="FFFFFF"/>
                    </a:solidFill>
                  </a:tcPr>
                </a:tc>
                <a:tc>
                  <a:txBody>
                    <a:bodyPr wrap="square"/>
                    <a:lstStyle/>
                    <a:p>
                      <a:pPr algn="l"/>
                      <a:r>
                        <a:rPr sz="1300" b="0">
                          <a:solidFill>
                            <a:srgbClr val="16202E"/>
                          </a:solidFill>
                          <a:latin typeface="Calibri"/>
                        </a:rPr>
                        <a:t>Student nhẹ (distillation)</a:t>
                      </a:r>
                    </a:p>
                  </a:txBody>
                  <a:tcPr marL="91440" marR="91440" marT="27432" marB="27432" anchor="ctr">
                    <a:solidFill>
                      <a:srgbClr val="FFFFFF"/>
                    </a:solidFill>
                  </a:tcPr>
                </a:tc>
                <a:tc>
                  <a:txBody>
                    <a:bodyPr wrap="square"/>
                    <a:lstStyle/>
                    <a:p>
                      <a:pPr algn="l"/>
                      <a:r>
                        <a:rPr sz="1300" b="0">
                          <a:solidFill>
                            <a:srgbClr val="5B6472"/>
                          </a:solidFill>
                          <a:latin typeface="Calibri"/>
                        </a:rPr>
                        <a:t>Giữ chất lượng, giảm tài nguyên</a:t>
                      </a:r>
                    </a:p>
                  </a:txBody>
                  <a:tcPr marL="91440" marR="91440" marT="27432" marB="27432" anchor="ctr">
                    <a:solidFill>
                      <a:srgbClr val="FFFFFF"/>
                    </a:solidFill>
                  </a:tcPr>
                </a:tc>
                <a:tc>
                  <a:txBody>
                    <a:bodyPr wrap="square"/>
                    <a:lstStyle/>
                    <a:p>
                      <a:pPr algn="l"/>
                      <a:r>
                        <a:rPr sz="1300" b="0">
                          <a:solidFill>
                            <a:srgbClr val="5B6472"/>
                          </a:solidFill>
                          <a:latin typeface="Calibri"/>
                        </a:rPr>
                        <a:t>RTF, RAM</a:t>
                      </a:r>
                    </a:p>
                  </a:txBody>
                  <a:tcPr marL="91440" marR="91440" marT="27432" marB="27432" anchor="ctr">
                    <a:solidFill>
                      <a:srgbClr val="FFFFFF"/>
                    </a:solidFill>
                  </a:tcPr>
                </a:tc>
              </a:tr>
            </a:tbl>
          </a:graphicData>
        </a:graphic>
      </p:graphicFrame>
      <p:sp>
        <p:nvSpPr>
          <p:cNvPr id="6" name="TextBox 5"/>
          <p:cNvSpPr txBox="1"/>
          <p:nvPr/>
        </p:nvSpPr>
        <p:spPr>
          <a:xfrm>
            <a:off x="548640" y="6035040"/>
            <a:ext cx="11091672" cy="320040"/>
          </a:xfrm>
          <a:prstGeom prst="rect">
            <a:avLst/>
          </a:prstGeom>
          <a:noFill/>
        </p:spPr>
        <p:txBody>
          <a:bodyPr wrap="square" lIns="0" rIns="0" tIns="0" bIns="0" anchor="t">
            <a:spAutoFit/>
          </a:bodyPr>
          <a:lstStyle/>
          <a:p>
            <a:pPr algn="l">
              <a:spcAft>
                <a:spcPts val="0"/>
              </a:spcAft>
            </a:pPr>
            <a:r>
              <a:rPr sz="1200" b="0" i="0">
                <a:solidFill>
                  <a:srgbClr val="8A93A0"/>
                </a:solidFill>
                <a:latin typeface="Calibri"/>
              </a:rPr>
              <a:t>Mỗi kết quả báo cáo kèm CI 95% (bootstrap theo file). E1 làm đầu tiên vì rẻ nhất.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32130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Kết quả giả lập</a:t>
            </a:r>
          </a:p>
        </p:txBody>
      </p:sp>
      <p:sp>
        <p:nvSpPr>
          <p:cNvPr id="3" name="Rounded Rectangle 2"/>
          <p:cNvSpPr/>
          <p:nvPr/>
        </p:nvSpPr>
        <p:spPr>
          <a:xfrm>
            <a:off x="10319004" y="384048"/>
            <a:ext cx="1321308" cy="274320"/>
          </a:xfrm>
          <a:prstGeom prst="roundRect">
            <a:avLst>
              <a:gd name="adj" fmla="val 50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7A5200"/>
                </a:solidFill>
                <a:latin typeface="Calibri"/>
              </a:rPr>
              <a:t>Dữ liệu giả lập</a:t>
            </a:r>
          </a:p>
        </p:txBody>
      </p:sp>
      <p:sp>
        <p:nvSpPr>
          <p:cNvPr id="4" name="TextBox 3"/>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Tách lỗi biên thì ngưỡng 0,57 chạm vùng đạt về tổng thể</a:t>
            </a:r>
          </a:p>
        </p:txBody>
      </p:sp>
      <p:sp>
        <p:nvSpPr>
          <p:cNvPr id="5" name="TextBox 4"/>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11 / 15</a:t>
            </a:r>
          </a:p>
        </p:txBody>
      </p:sp>
      <p:graphicFrame>
        <p:nvGraphicFramePr>
          <p:cNvPr id="6" name="Chart 5"/>
          <p:cNvGraphicFramePr>
            <a:graphicFrameLocks noGrp="1"/>
          </p:cNvGraphicFramePr>
          <p:nvPr/>
        </p:nvGraphicFramePr>
        <p:xfrm>
          <a:off x="548640" y="1691640"/>
          <a:ext cx="7223760" cy="4343400"/>
        </p:xfrm>
        <a:graphic>
          <a:graphicData uri="http://schemas.openxmlformats.org/drawingml/2006/chart">
            <c:chart xmlns:c="http://schemas.openxmlformats.org/drawingml/2006/chart" r:id="rId2"/>
          </a:graphicData>
        </a:graphic>
      </p:graphicFrame>
      <p:cxnSp>
        <p:nvCxnSpPr>
          <p:cNvPr id="7" name="Connector 6"/>
          <p:cNvCxnSpPr/>
          <p:nvPr/>
        </p:nvCxnSpPr>
        <p:spPr>
          <a:xfrm>
            <a:off x="1280160" y="6181344"/>
            <a:ext cx="310896" cy="0"/>
          </a:xfrm>
          <a:prstGeom prst="line">
            <a:avLst/>
          </a:prstGeom>
          <a:ln w="28575">
            <a:solidFill>
              <a:srgbClr val="2A78D6"/>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1664207" y="605332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Tính chung</a:t>
            </a:r>
          </a:p>
        </p:txBody>
      </p:sp>
      <p:cxnSp>
        <p:nvCxnSpPr>
          <p:cNvPr id="9" name="Connector 8"/>
          <p:cNvCxnSpPr/>
          <p:nvPr/>
        </p:nvCxnSpPr>
        <p:spPr>
          <a:xfrm>
            <a:off x="3108960" y="6181344"/>
            <a:ext cx="310896" cy="0"/>
          </a:xfrm>
          <a:prstGeom prst="line">
            <a:avLst/>
          </a:prstGeom>
          <a:ln w="28575">
            <a:solidFill>
              <a:srgbClr val="0E7C7B"/>
            </a:solidFill>
            <a:prstDash val="dash"/>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493008" y="605332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Trừ lỗi biên (±200 ms)</a:t>
            </a:r>
          </a:p>
        </p:txBody>
      </p:sp>
      <p:cxnSp>
        <p:nvCxnSpPr>
          <p:cNvPr id="11" name="Connector 10"/>
          <p:cNvCxnSpPr/>
          <p:nvPr/>
        </p:nvCxnSpPr>
        <p:spPr>
          <a:xfrm>
            <a:off x="5760720" y="6181344"/>
            <a:ext cx="310896" cy="0"/>
          </a:xfrm>
          <a:prstGeom prst="line">
            <a:avLst/>
          </a:prstGeom>
          <a:ln w="28575">
            <a:solidFill>
              <a:srgbClr val="1E8E3E"/>
            </a:solidFill>
            <a:prstDash val="sysDash"/>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144768" y="605332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Miss ≤ 3%, FA ≤ 8%</a:t>
            </a:r>
          </a:p>
        </p:txBody>
      </p:sp>
      <p:sp>
        <p:nvSpPr>
          <p:cNvPr id="13" name="TextBox 12"/>
          <p:cNvSpPr txBox="1"/>
          <p:nvPr/>
        </p:nvSpPr>
        <p:spPr>
          <a:xfrm>
            <a:off x="8183879" y="1783080"/>
            <a:ext cx="3474720" cy="731520"/>
          </a:xfrm>
          <a:prstGeom prst="rect">
            <a:avLst/>
          </a:prstGeom>
          <a:noFill/>
        </p:spPr>
        <p:txBody>
          <a:bodyPr wrap="square" lIns="0" rIns="0" tIns="0" bIns="0" anchor="t">
            <a:spAutoFit/>
          </a:bodyPr>
          <a:lstStyle/>
          <a:p>
            <a:pPr algn="l">
              <a:spcAft>
                <a:spcPts val="0"/>
              </a:spcAft>
            </a:pPr>
            <a:r>
              <a:rPr sz="4000" b="1" i="0">
                <a:solidFill>
                  <a:srgbClr val="16202E"/>
                </a:solidFill>
                <a:latin typeface="Cambria"/>
              </a:rPr>
              <a:t>0,966</a:t>
            </a:r>
          </a:p>
        </p:txBody>
      </p:sp>
      <p:sp>
        <p:nvSpPr>
          <p:cNvPr id="14" name="TextBox 13"/>
          <p:cNvSpPr txBox="1"/>
          <p:nvPr/>
        </p:nvSpPr>
        <p:spPr>
          <a:xfrm>
            <a:off x="8183879" y="2418080"/>
            <a:ext cx="347472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AUC: tốt, nhưng không đổi khi kéo ngưỡng</a:t>
            </a:r>
          </a:p>
        </p:txBody>
      </p:sp>
      <p:sp>
        <p:nvSpPr>
          <p:cNvPr id="15" name="Rounded Rectangle 14"/>
          <p:cNvSpPr/>
          <p:nvPr/>
        </p:nvSpPr>
        <p:spPr>
          <a:xfrm>
            <a:off x="8183879" y="3246120"/>
            <a:ext cx="3456432"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8412480" y="3310128"/>
            <a:ext cx="3017520" cy="1188720"/>
          </a:xfrm>
          <a:prstGeom prst="rect">
            <a:avLst/>
          </a:prstGeom>
          <a:noFill/>
        </p:spPr>
        <p:txBody>
          <a:bodyPr wrap="square" lIns="0" rIns="0" tIns="0" bIns="0" anchor="ctr">
            <a:spAutoFit/>
          </a:bodyPr>
          <a:lstStyle/>
          <a:p>
            <a:pPr algn="l">
              <a:spcAft>
                <a:spcPts val="400"/>
              </a:spcAft>
            </a:pPr>
            <a:r>
              <a:rPr sz="1400" b="1" i="0">
                <a:solidFill>
                  <a:srgbClr val="16202E"/>
                </a:solidFill>
                <a:latin typeface="Calibri"/>
              </a:rPr>
              <a:t>Ngưỡng 0,57</a:t>
            </a:r>
          </a:p>
          <a:p>
            <a:pPr algn="l">
              <a:spcAft>
                <a:spcPts val="400"/>
              </a:spcAft>
            </a:pPr>
            <a:r>
              <a:rPr sz="1400" b="0" i="0">
                <a:solidFill>
                  <a:srgbClr val="16202E"/>
                </a:solidFill>
                <a:latin typeface="Calibri"/>
              </a:rPr>
              <a:t>Miss 7,3% · FA 12,4%</a:t>
            </a:r>
          </a:p>
          <a:p>
            <a:pPr algn="l">
              <a:spcAft>
                <a:spcPts val="400"/>
              </a:spcAft>
            </a:pPr>
            <a:r>
              <a:rPr sz="1400" b="0" i="0">
                <a:solidFill>
                  <a:srgbClr val="0A5C5B"/>
                </a:solidFill>
                <a:latin typeface="Calibri"/>
              </a:rPr>
              <a:t>Trừ biên: Miss 2,8% · FA 7,6%</a:t>
            </a:r>
          </a:p>
        </p:txBody>
      </p:sp>
      <p:sp>
        <p:nvSpPr>
          <p:cNvPr id="17" name="TextBox 16"/>
          <p:cNvSpPr txBox="1"/>
          <p:nvPr/>
        </p:nvSpPr>
        <p:spPr>
          <a:xfrm>
            <a:off x="8183879" y="4754880"/>
            <a:ext cx="3456432" cy="1371600"/>
          </a:xfrm>
          <a:prstGeom prst="rect">
            <a:avLst/>
          </a:prstGeom>
          <a:noFill/>
        </p:spPr>
        <p:txBody>
          <a:bodyPr wrap="square" lIns="0" rIns="0" tIns="0" bIns="0" anchor="t">
            <a:spAutoFit/>
          </a:bodyPr>
          <a:lstStyle/>
          <a:p>
            <a:pPr algn="l">
              <a:spcAft>
                <a:spcPts val="0"/>
              </a:spcAft>
            </a:pPr>
            <a:r>
              <a:rPr sz="1400" b="0" i="0">
                <a:solidFill>
                  <a:srgbClr val="5B6472"/>
                </a:solidFill>
                <a:latin typeface="Calibri"/>
              </a:rPr>
              <a:t>Nhưng con số tổng đạt chưa có nghĩa từng loại âm thanh đều đạt (xem slide 13).</a:t>
            </a:r>
          </a:p>
        </p:txBody>
      </p:sp>
      <p:sp>
        <p:nvSpPr>
          <p:cNvPr id="18" name="TextBox 17"/>
          <p:cNvSpPr txBox="1"/>
          <p:nvPr/>
        </p:nvSpPr>
        <p:spPr>
          <a:xfrm>
            <a:off x="548640" y="6419088"/>
            <a:ext cx="10241280" cy="274320"/>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Giả lập: 56 file × 10 s, 7 nhóm âm thanh, frame 100 ms; hát là speech; đám đông rì rầm, nhạc cụ, cười/ho là non-speech.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32130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Kết quả giả lập</a:t>
            </a:r>
          </a:p>
        </p:txBody>
      </p:sp>
      <p:sp>
        <p:nvSpPr>
          <p:cNvPr id="3" name="Rounded Rectangle 2"/>
          <p:cNvSpPr/>
          <p:nvPr/>
        </p:nvSpPr>
        <p:spPr>
          <a:xfrm>
            <a:off x="10319004" y="384048"/>
            <a:ext cx="1321308" cy="274320"/>
          </a:xfrm>
          <a:prstGeom prst="roundRect">
            <a:avLst>
              <a:gd name="adj" fmla="val 50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7A5200"/>
                </a:solidFill>
                <a:latin typeface="Calibri"/>
              </a:rPr>
              <a:t>Dữ liệu giả lập</a:t>
            </a:r>
          </a:p>
        </p:txBody>
      </p:sp>
      <p:sp>
        <p:nvSpPr>
          <p:cNvPr id="4" name="TextBox 3"/>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Khoảng 39% FA là lỗi biên, phần còn lại là lỗi phân loại</a:t>
            </a:r>
          </a:p>
        </p:txBody>
      </p:sp>
      <p:sp>
        <p:nvSpPr>
          <p:cNvPr id="5" name="TextBox 4"/>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12 / 15</a:t>
            </a:r>
          </a:p>
        </p:txBody>
      </p:sp>
      <p:sp>
        <p:nvSpPr>
          <p:cNvPr id="6" name="TextBox 5"/>
          <p:cNvSpPr txBox="1"/>
          <p:nvPr/>
        </p:nvSpPr>
        <p:spPr>
          <a:xfrm>
            <a:off x="548640" y="1645920"/>
            <a:ext cx="7863840" cy="320040"/>
          </a:xfrm>
          <a:prstGeom prst="rect">
            <a:avLst/>
          </a:prstGeom>
          <a:noFill/>
        </p:spPr>
        <p:txBody>
          <a:bodyPr wrap="square" lIns="0" rIns="0" tIns="0" bIns="0" anchor="t">
            <a:spAutoFit/>
          </a:bodyPr>
          <a:lstStyle/>
          <a:p>
            <a:pPr algn="l">
              <a:spcAft>
                <a:spcPts val="0"/>
              </a:spcAft>
            </a:pPr>
            <a:r>
              <a:rPr sz="1400" b="1" i="0">
                <a:solidFill>
                  <a:srgbClr val="16202E"/>
                </a:solidFill>
                <a:latin typeface="Calibri"/>
              </a:rPr>
              <a:t>Tính chung: </a:t>
            </a:r>
            <a:r>
              <a:rPr sz="1400" b="0" i="0">
                <a:solidFill>
                  <a:srgbClr val="16202E"/>
                </a:solidFill>
                <a:latin typeface="Calibri"/>
              </a:rPr>
              <a:t>28 frame sai, tô theo loại lỗi</a:t>
            </a:r>
          </a:p>
        </p:txBody>
      </p:sp>
      <p:sp>
        <p:nvSpPr>
          <p:cNvPr id="7" name="Rectangle 6"/>
          <p:cNvSpPr/>
          <p:nvPr/>
        </p:nvSpPr>
        <p:spPr>
          <a:xfrm>
            <a:off x="1417319" y="2011680"/>
            <a:ext cx="6995159" cy="845820"/>
          </a:xfrm>
          <a:prstGeom prst="rect">
            <a:avLst/>
          </a:prstGeom>
          <a:solidFill>
            <a:srgbClr val="FFFFFF"/>
          </a:solidFill>
          <a:ln w="9525">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cxnSp>
        <p:nvCxnSpPr>
          <p:cNvPr id="8" name="Connector 7"/>
          <p:cNvCxnSpPr/>
          <p:nvPr/>
        </p:nvCxnSpPr>
        <p:spPr>
          <a:xfrm>
            <a:off x="1417319" y="2375382"/>
            <a:ext cx="6995161" cy="0"/>
          </a:xfrm>
          <a:prstGeom prst="line">
            <a:avLst/>
          </a:prstGeom>
          <a:ln w="12700">
            <a:solidFill>
              <a:srgbClr val="8A93A0"/>
            </a:solidFill>
            <a:prstDash val="dash"/>
          </a:ln>
        </p:spPr>
        <p:style>
          <a:lnRef idx="2">
            <a:schemeClr val="accent1"/>
          </a:lnRef>
          <a:fillRef idx="0">
            <a:schemeClr val="accent1"/>
          </a:fillRef>
          <a:effectRef idx="0">
            <a:schemeClr val="accent1"/>
          </a:effectRef>
          <a:fontRef idx="minor">
            <a:schemeClr val="tx1"/>
          </a:fontRef>
        </p:style>
      </p:cxnSp>
      <p:sp>
        <p:nvSpPr>
          <p:cNvPr id="9" name="Freeform 8"/>
          <p:cNvSpPr/>
          <p:nvPr/>
        </p:nvSpPr>
        <p:spPr>
          <a:xfrm>
            <a:off x="1452295" y="2011680"/>
            <a:ext cx="6925209" cy="520716"/>
          </a:xfrm>
          <a:custGeom>
            <a:avLst/>
            <a:gdLst/>
            <a:ahLst/>
            <a:cxnLst/>
            <a:rect l="l" t="t" r="r" b="b"/>
            <a:pathLst>
              <a:path w="6925209" h="520716">
                <a:moveTo>
                  <a:pt x="0" y="156192"/>
                </a:moveTo>
                <a:lnTo>
                  <a:pt x="69952" y="239340"/>
                </a:lnTo>
                <a:lnTo>
                  <a:pt x="139903" y="243480"/>
                </a:lnTo>
                <a:lnTo>
                  <a:pt x="209855" y="247983"/>
                </a:lnTo>
                <a:lnTo>
                  <a:pt x="279807" y="183691"/>
                </a:lnTo>
                <a:lnTo>
                  <a:pt x="349758" y="300679"/>
                </a:lnTo>
                <a:lnTo>
                  <a:pt x="419710" y="190673"/>
                </a:lnTo>
                <a:lnTo>
                  <a:pt x="489661" y="279753"/>
                </a:lnTo>
                <a:lnTo>
                  <a:pt x="559613" y="288478"/>
                </a:lnTo>
                <a:lnTo>
                  <a:pt x="629565" y="286838"/>
                </a:lnTo>
                <a:lnTo>
                  <a:pt x="699516" y="292597"/>
                </a:lnTo>
                <a:lnTo>
                  <a:pt x="769468" y="230241"/>
                </a:lnTo>
                <a:lnTo>
                  <a:pt x="839419" y="294648"/>
                </a:lnTo>
                <a:lnTo>
                  <a:pt x="909371" y="474121"/>
                </a:lnTo>
                <a:lnTo>
                  <a:pt x="979323" y="328310"/>
                </a:lnTo>
                <a:lnTo>
                  <a:pt x="1049274" y="360153"/>
                </a:lnTo>
                <a:lnTo>
                  <a:pt x="1119226" y="220388"/>
                </a:lnTo>
                <a:lnTo>
                  <a:pt x="1189178" y="199246"/>
                </a:lnTo>
                <a:lnTo>
                  <a:pt x="1259129" y="274218"/>
                </a:lnTo>
                <a:lnTo>
                  <a:pt x="1329081" y="249206"/>
                </a:lnTo>
                <a:lnTo>
                  <a:pt x="1399032" y="232105"/>
                </a:lnTo>
                <a:lnTo>
                  <a:pt x="1468984" y="229236"/>
                </a:lnTo>
                <a:lnTo>
                  <a:pt x="1538936" y="288584"/>
                </a:lnTo>
                <a:lnTo>
                  <a:pt x="1608887" y="359096"/>
                </a:lnTo>
                <a:lnTo>
                  <a:pt x="1678839" y="394122"/>
                </a:lnTo>
                <a:lnTo>
                  <a:pt x="1748790" y="519115"/>
                </a:lnTo>
                <a:lnTo>
                  <a:pt x="1818742" y="520716"/>
                </a:lnTo>
                <a:lnTo>
                  <a:pt x="1888693" y="517026"/>
                </a:lnTo>
                <a:lnTo>
                  <a:pt x="1958645" y="366689"/>
                </a:lnTo>
                <a:lnTo>
                  <a:pt x="2028597" y="424169"/>
                </a:lnTo>
                <a:lnTo>
                  <a:pt x="2098548" y="278715"/>
                </a:lnTo>
                <a:lnTo>
                  <a:pt x="2168500" y="314436"/>
                </a:lnTo>
                <a:lnTo>
                  <a:pt x="2238452" y="320089"/>
                </a:lnTo>
                <a:lnTo>
                  <a:pt x="2308403" y="349899"/>
                </a:lnTo>
                <a:lnTo>
                  <a:pt x="2378355" y="238108"/>
                </a:lnTo>
                <a:lnTo>
                  <a:pt x="2448306" y="366356"/>
                </a:lnTo>
                <a:lnTo>
                  <a:pt x="2518258" y="424217"/>
                </a:lnTo>
                <a:lnTo>
                  <a:pt x="2588209" y="374916"/>
                </a:lnTo>
                <a:lnTo>
                  <a:pt x="2658161" y="162091"/>
                </a:lnTo>
                <a:lnTo>
                  <a:pt x="2728113" y="259984"/>
                </a:lnTo>
                <a:lnTo>
                  <a:pt x="2798064" y="176744"/>
                </a:lnTo>
                <a:lnTo>
                  <a:pt x="2868016" y="122881"/>
                </a:lnTo>
                <a:lnTo>
                  <a:pt x="2937968" y="0"/>
                </a:lnTo>
                <a:lnTo>
                  <a:pt x="3007919" y="121902"/>
                </a:lnTo>
                <a:lnTo>
                  <a:pt x="3077871" y="221635"/>
                </a:lnTo>
                <a:lnTo>
                  <a:pt x="3147822" y="217431"/>
                </a:lnTo>
                <a:lnTo>
                  <a:pt x="3217774" y="119146"/>
                </a:lnTo>
                <a:lnTo>
                  <a:pt x="3287726" y="112025"/>
                </a:lnTo>
                <a:lnTo>
                  <a:pt x="3357677" y="226494"/>
                </a:lnTo>
                <a:lnTo>
                  <a:pt x="3427629" y="241495"/>
                </a:lnTo>
                <a:lnTo>
                  <a:pt x="3497580" y="353961"/>
                </a:lnTo>
                <a:lnTo>
                  <a:pt x="3567532" y="373994"/>
                </a:lnTo>
                <a:lnTo>
                  <a:pt x="3637484" y="274672"/>
                </a:lnTo>
                <a:lnTo>
                  <a:pt x="3707435" y="289266"/>
                </a:lnTo>
                <a:lnTo>
                  <a:pt x="3777387" y="321508"/>
                </a:lnTo>
                <a:lnTo>
                  <a:pt x="3847338" y="403882"/>
                </a:lnTo>
                <a:lnTo>
                  <a:pt x="3917290" y="306451"/>
                </a:lnTo>
                <a:lnTo>
                  <a:pt x="3987242" y="298182"/>
                </a:lnTo>
                <a:lnTo>
                  <a:pt x="4057193" y="354348"/>
                </a:lnTo>
                <a:lnTo>
                  <a:pt x="4127145" y="271781"/>
                </a:lnTo>
                <a:lnTo>
                  <a:pt x="4197096" y="315092"/>
                </a:lnTo>
                <a:lnTo>
                  <a:pt x="4267048" y="392286"/>
                </a:lnTo>
                <a:lnTo>
                  <a:pt x="4337000" y="424880"/>
                </a:lnTo>
                <a:lnTo>
                  <a:pt x="4406951" y="319871"/>
                </a:lnTo>
                <a:lnTo>
                  <a:pt x="4476903" y="330050"/>
                </a:lnTo>
                <a:lnTo>
                  <a:pt x="4546854" y="211635"/>
                </a:lnTo>
                <a:lnTo>
                  <a:pt x="4616806" y="139303"/>
                </a:lnTo>
                <a:lnTo>
                  <a:pt x="4686758" y="164951"/>
                </a:lnTo>
                <a:lnTo>
                  <a:pt x="4756709" y="268395"/>
                </a:lnTo>
                <a:lnTo>
                  <a:pt x="4826661" y="355281"/>
                </a:lnTo>
                <a:lnTo>
                  <a:pt x="4896612" y="350585"/>
                </a:lnTo>
                <a:lnTo>
                  <a:pt x="4966564" y="328778"/>
                </a:lnTo>
                <a:lnTo>
                  <a:pt x="5036516" y="285715"/>
                </a:lnTo>
                <a:lnTo>
                  <a:pt x="5106467" y="331499"/>
                </a:lnTo>
                <a:lnTo>
                  <a:pt x="5176419" y="100691"/>
                </a:lnTo>
                <a:lnTo>
                  <a:pt x="5246370" y="69566"/>
                </a:lnTo>
                <a:lnTo>
                  <a:pt x="5316322" y="171195"/>
                </a:lnTo>
                <a:lnTo>
                  <a:pt x="5386274" y="229643"/>
                </a:lnTo>
                <a:lnTo>
                  <a:pt x="5456225" y="229178"/>
                </a:lnTo>
                <a:lnTo>
                  <a:pt x="5526177" y="270455"/>
                </a:lnTo>
                <a:lnTo>
                  <a:pt x="5596128" y="280833"/>
                </a:lnTo>
                <a:lnTo>
                  <a:pt x="5666080" y="328874"/>
                </a:lnTo>
                <a:lnTo>
                  <a:pt x="5736032" y="249882"/>
                </a:lnTo>
                <a:lnTo>
                  <a:pt x="5805983" y="194742"/>
                </a:lnTo>
                <a:lnTo>
                  <a:pt x="5875935" y="286573"/>
                </a:lnTo>
                <a:lnTo>
                  <a:pt x="5945886" y="263325"/>
                </a:lnTo>
                <a:lnTo>
                  <a:pt x="6015838" y="181871"/>
                </a:lnTo>
                <a:lnTo>
                  <a:pt x="6085789" y="243285"/>
                </a:lnTo>
                <a:lnTo>
                  <a:pt x="6155741" y="321858"/>
                </a:lnTo>
                <a:lnTo>
                  <a:pt x="6225693" y="340020"/>
                </a:lnTo>
                <a:lnTo>
                  <a:pt x="6295644" y="233649"/>
                </a:lnTo>
                <a:lnTo>
                  <a:pt x="6365596" y="360543"/>
                </a:lnTo>
                <a:lnTo>
                  <a:pt x="6435547" y="357175"/>
                </a:lnTo>
                <a:lnTo>
                  <a:pt x="6505499" y="360221"/>
                </a:lnTo>
                <a:lnTo>
                  <a:pt x="6575451" y="352739"/>
                </a:lnTo>
                <a:lnTo>
                  <a:pt x="6645402" y="207920"/>
                </a:lnTo>
                <a:lnTo>
                  <a:pt x="6715354" y="276895"/>
                </a:lnTo>
                <a:lnTo>
                  <a:pt x="6785305" y="480909"/>
                </a:lnTo>
                <a:lnTo>
                  <a:pt x="6855257" y="407410"/>
                </a:lnTo>
                <a:lnTo>
                  <a:pt x="6925209" y="312434"/>
                </a:lnTo>
              </a:path>
            </a:pathLst>
          </a:custGeom>
          <a:noFill/>
          <a:ln w="22225">
            <a:solidFill>
              <a:srgbClr val="16202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48640" y="2029968"/>
            <a:ext cx="7772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Score</a:t>
            </a:r>
          </a:p>
        </p:txBody>
      </p:sp>
      <p:sp>
        <p:nvSpPr>
          <p:cNvPr id="11" name="TextBox 10"/>
          <p:cNvSpPr txBox="1"/>
          <p:nvPr/>
        </p:nvSpPr>
        <p:spPr>
          <a:xfrm>
            <a:off x="8458200" y="2256510"/>
            <a:ext cx="457200" cy="237744"/>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0,57</a:t>
            </a:r>
          </a:p>
        </p:txBody>
      </p:sp>
      <p:sp>
        <p:nvSpPr>
          <p:cNvPr id="12" name="Rectangle 11"/>
          <p:cNvSpPr/>
          <p:nvPr/>
        </p:nvSpPr>
        <p:spPr>
          <a:xfrm>
            <a:off x="1417319" y="3022092"/>
            <a:ext cx="174878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Rectangle 12"/>
          <p:cNvSpPr/>
          <p:nvPr/>
        </p:nvSpPr>
        <p:spPr>
          <a:xfrm>
            <a:off x="3166109" y="3022092"/>
            <a:ext cx="1049274"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Rectangle 13"/>
          <p:cNvSpPr/>
          <p:nvPr/>
        </p:nvSpPr>
        <p:spPr>
          <a:xfrm>
            <a:off x="4215383" y="3022092"/>
            <a:ext cx="83941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Rectangle 14"/>
          <p:cNvSpPr/>
          <p:nvPr/>
        </p:nvSpPr>
        <p:spPr>
          <a:xfrm>
            <a:off x="5054803" y="3022092"/>
            <a:ext cx="979322"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Rectangle 15"/>
          <p:cNvSpPr/>
          <p:nvPr/>
        </p:nvSpPr>
        <p:spPr>
          <a:xfrm>
            <a:off x="6034125" y="3022092"/>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Rectangle 16"/>
          <p:cNvSpPr/>
          <p:nvPr/>
        </p:nvSpPr>
        <p:spPr>
          <a:xfrm>
            <a:off x="7712963" y="3022092"/>
            <a:ext cx="699516"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548640" y="3022092"/>
            <a:ext cx="777240" cy="237744"/>
          </a:xfrm>
          <a:prstGeom prst="rect">
            <a:avLst/>
          </a:prstGeom>
          <a:noFill/>
        </p:spPr>
        <p:txBody>
          <a:bodyPr wrap="square" lIns="0" rIns="0" tIns="0" bIns="0" anchor="ctr">
            <a:spAutoFit/>
          </a:bodyPr>
          <a:lstStyle/>
          <a:p>
            <a:pPr algn="l">
              <a:spcAft>
                <a:spcPts val="0"/>
              </a:spcAft>
            </a:pPr>
            <a:r>
              <a:rPr sz="1100" b="0" i="0">
                <a:solidFill>
                  <a:srgbClr val="5B6472"/>
                </a:solidFill>
                <a:latin typeface="Calibri"/>
              </a:rPr>
              <a:t>GT</a:t>
            </a:r>
          </a:p>
        </p:txBody>
      </p:sp>
      <p:sp>
        <p:nvSpPr>
          <p:cNvPr id="19" name="Rectangle 18"/>
          <p:cNvSpPr/>
          <p:nvPr/>
        </p:nvSpPr>
        <p:spPr>
          <a:xfrm>
            <a:off x="1417319" y="3369564"/>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Rectangle 19"/>
          <p:cNvSpPr/>
          <p:nvPr/>
        </p:nvSpPr>
        <p:spPr>
          <a:xfrm>
            <a:off x="3096158" y="3369564"/>
            <a:ext cx="69951" cy="237744"/>
          </a:xfrm>
          <a:prstGeom prst="rect">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Rectangle 20"/>
          <p:cNvSpPr/>
          <p:nvPr/>
        </p:nvSpPr>
        <p:spPr>
          <a:xfrm>
            <a:off x="3515868" y="3369564"/>
            <a:ext cx="349758"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Rectangle 21"/>
          <p:cNvSpPr/>
          <p:nvPr/>
        </p:nvSpPr>
        <p:spPr>
          <a:xfrm>
            <a:off x="4075480" y="3369564"/>
            <a:ext cx="139903"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Rectangle 22"/>
          <p:cNvSpPr/>
          <p:nvPr/>
        </p:nvSpPr>
        <p:spPr>
          <a:xfrm>
            <a:off x="4215383" y="3369564"/>
            <a:ext cx="83941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Rectangle 23"/>
          <p:cNvSpPr/>
          <p:nvPr/>
        </p:nvSpPr>
        <p:spPr>
          <a:xfrm>
            <a:off x="5054803" y="3369564"/>
            <a:ext cx="629564"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Rectangle 24"/>
          <p:cNvSpPr/>
          <p:nvPr/>
        </p:nvSpPr>
        <p:spPr>
          <a:xfrm>
            <a:off x="5824270" y="3369564"/>
            <a:ext cx="209854"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Rectangle 25"/>
          <p:cNvSpPr/>
          <p:nvPr/>
        </p:nvSpPr>
        <p:spPr>
          <a:xfrm>
            <a:off x="6034125" y="3369564"/>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Rectangle 26"/>
          <p:cNvSpPr/>
          <p:nvPr/>
        </p:nvSpPr>
        <p:spPr>
          <a:xfrm>
            <a:off x="7712963" y="3369564"/>
            <a:ext cx="48966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Rectangle 27"/>
          <p:cNvSpPr/>
          <p:nvPr/>
        </p:nvSpPr>
        <p:spPr>
          <a:xfrm>
            <a:off x="8342528" y="3369564"/>
            <a:ext cx="6995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TextBox 28"/>
          <p:cNvSpPr txBox="1"/>
          <p:nvPr/>
        </p:nvSpPr>
        <p:spPr>
          <a:xfrm>
            <a:off x="548640" y="3369564"/>
            <a:ext cx="777240" cy="237744"/>
          </a:xfrm>
          <a:prstGeom prst="rect">
            <a:avLst/>
          </a:prstGeom>
          <a:noFill/>
        </p:spPr>
        <p:txBody>
          <a:bodyPr wrap="square" lIns="0" rIns="0" tIns="0" bIns="0" anchor="ctr">
            <a:spAutoFit/>
          </a:bodyPr>
          <a:lstStyle/>
          <a:p>
            <a:pPr algn="l">
              <a:spcAft>
                <a:spcPts val="0"/>
              </a:spcAft>
            </a:pPr>
            <a:r>
              <a:rPr sz="1100" b="0" i="0">
                <a:solidFill>
                  <a:srgbClr val="5B6472"/>
                </a:solidFill>
                <a:latin typeface="Calibri"/>
              </a:rPr>
              <a:t>Dự đoán</a:t>
            </a:r>
          </a:p>
        </p:txBody>
      </p:sp>
      <p:sp>
        <p:nvSpPr>
          <p:cNvPr id="30" name="TextBox 29"/>
          <p:cNvSpPr txBox="1"/>
          <p:nvPr/>
        </p:nvSpPr>
        <p:spPr>
          <a:xfrm>
            <a:off x="548640" y="3858768"/>
            <a:ext cx="7863840" cy="320040"/>
          </a:xfrm>
          <a:prstGeom prst="rect">
            <a:avLst/>
          </a:prstGeom>
          <a:noFill/>
        </p:spPr>
        <p:txBody>
          <a:bodyPr wrap="square" lIns="0" rIns="0" tIns="0" bIns="0" anchor="t">
            <a:spAutoFit/>
          </a:bodyPr>
          <a:lstStyle/>
          <a:p>
            <a:pPr algn="l">
              <a:spcAft>
                <a:spcPts val="0"/>
              </a:spcAft>
            </a:pPr>
            <a:r>
              <a:rPr sz="1400" b="1" i="0">
                <a:solidFill>
                  <a:srgbClr val="16202E"/>
                </a:solidFill>
                <a:latin typeface="Calibri"/>
              </a:rPr>
              <a:t>Tách lỗi biên (±200 ms): </a:t>
            </a:r>
            <a:r>
              <a:rPr sz="1400" b="0" i="0">
                <a:solidFill>
                  <a:srgbClr val="16202E"/>
                </a:solidFill>
                <a:latin typeface="Calibri"/>
              </a:rPr>
              <a:t>9 frame xám là lỗi biên, 19 frame là lỗi phân loại</a:t>
            </a:r>
          </a:p>
        </p:txBody>
      </p:sp>
      <p:sp>
        <p:nvSpPr>
          <p:cNvPr id="31" name="Rectangle 30"/>
          <p:cNvSpPr/>
          <p:nvPr/>
        </p:nvSpPr>
        <p:spPr>
          <a:xfrm>
            <a:off x="1417319" y="4224528"/>
            <a:ext cx="6995159" cy="845820"/>
          </a:xfrm>
          <a:prstGeom prst="rect">
            <a:avLst/>
          </a:prstGeom>
          <a:solidFill>
            <a:srgbClr val="FFFFFF"/>
          </a:solidFill>
          <a:ln w="9525">
            <a:solidFill>
              <a:srgbClr val="DDE2E8"/>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cxnSp>
        <p:nvCxnSpPr>
          <p:cNvPr id="32" name="Connector 31"/>
          <p:cNvCxnSpPr/>
          <p:nvPr/>
        </p:nvCxnSpPr>
        <p:spPr>
          <a:xfrm>
            <a:off x="1417319" y="4588230"/>
            <a:ext cx="6995161" cy="0"/>
          </a:xfrm>
          <a:prstGeom prst="line">
            <a:avLst/>
          </a:prstGeom>
          <a:ln w="12700">
            <a:solidFill>
              <a:srgbClr val="8A93A0"/>
            </a:solidFill>
            <a:prstDash val="dash"/>
          </a:ln>
        </p:spPr>
        <p:style>
          <a:lnRef idx="2">
            <a:schemeClr val="accent1"/>
          </a:lnRef>
          <a:fillRef idx="0">
            <a:schemeClr val="accent1"/>
          </a:fillRef>
          <a:effectRef idx="0">
            <a:schemeClr val="accent1"/>
          </a:effectRef>
          <a:fontRef idx="minor">
            <a:schemeClr val="tx1"/>
          </a:fontRef>
        </p:style>
      </p:cxnSp>
      <p:sp>
        <p:nvSpPr>
          <p:cNvPr id="33" name="Freeform 32"/>
          <p:cNvSpPr/>
          <p:nvPr/>
        </p:nvSpPr>
        <p:spPr>
          <a:xfrm>
            <a:off x="1452295" y="4224528"/>
            <a:ext cx="6925209" cy="520716"/>
          </a:xfrm>
          <a:custGeom>
            <a:avLst/>
            <a:gdLst/>
            <a:ahLst/>
            <a:cxnLst/>
            <a:rect l="l" t="t" r="r" b="b"/>
            <a:pathLst>
              <a:path w="6925209" h="520716">
                <a:moveTo>
                  <a:pt x="0" y="156192"/>
                </a:moveTo>
                <a:lnTo>
                  <a:pt x="69952" y="239340"/>
                </a:lnTo>
                <a:lnTo>
                  <a:pt x="139903" y="243480"/>
                </a:lnTo>
                <a:lnTo>
                  <a:pt x="209855" y="247983"/>
                </a:lnTo>
                <a:lnTo>
                  <a:pt x="279807" y="183691"/>
                </a:lnTo>
                <a:lnTo>
                  <a:pt x="349758" y="300679"/>
                </a:lnTo>
                <a:lnTo>
                  <a:pt x="419710" y="190673"/>
                </a:lnTo>
                <a:lnTo>
                  <a:pt x="489661" y="279753"/>
                </a:lnTo>
                <a:lnTo>
                  <a:pt x="559613" y="288478"/>
                </a:lnTo>
                <a:lnTo>
                  <a:pt x="629565" y="286838"/>
                </a:lnTo>
                <a:lnTo>
                  <a:pt x="699516" y="292597"/>
                </a:lnTo>
                <a:lnTo>
                  <a:pt x="769468" y="230241"/>
                </a:lnTo>
                <a:lnTo>
                  <a:pt x="839419" y="294648"/>
                </a:lnTo>
                <a:lnTo>
                  <a:pt x="909371" y="474121"/>
                </a:lnTo>
                <a:lnTo>
                  <a:pt x="979323" y="328310"/>
                </a:lnTo>
                <a:lnTo>
                  <a:pt x="1049274" y="360153"/>
                </a:lnTo>
                <a:lnTo>
                  <a:pt x="1119226" y="220388"/>
                </a:lnTo>
                <a:lnTo>
                  <a:pt x="1189178" y="199246"/>
                </a:lnTo>
                <a:lnTo>
                  <a:pt x="1259129" y="274218"/>
                </a:lnTo>
                <a:lnTo>
                  <a:pt x="1329081" y="249206"/>
                </a:lnTo>
                <a:lnTo>
                  <a:pt x="1399032" y="232105"/>
                </a:lnTo>
                <a:lnTo>
                  <a:pt x="1468984" y="229236"/>
                </a:lnTo>
                <a:lnTo>
                  <a:pt x="1538936" y="288584"/>
                </a:lnTo>
                <a:lnTo>
                  <a:pt x="1608887" y="359096"/>
                </a:lnTo>
                <a:lnTo>
                  <a:pt x="1678839" y="394122"/>
                </a:lnTo>
                <a:lnTo>
                  <a:pt x="1748790" y="519115"/>
                </a:lnTo>
                <a:lnTo>
                  <a:pt x="1818742" y="520716"/>
                </a:lnTo>
                <a:lnTo>
                  <a:pt x="1888693" y="517026"/>
                </a:lnTo>
                <a:lnTo>
                  <a:pt x="1958645" y="366689"/>
                </a:lnTo>
                <a:lnTo>
                  <a:pt x="2028597" y="424169"/>
                </a:lnTo>
                <a:lnTo>
                  <a:pt x="2098548" y="278715"/>
                </a:lnTo>
                <a:lnTo>
                  <a:pt x="2168500" y="314436"/>
                </a:lnTo>
                <a:lnTo>
                  <a:pt x="2238452" y="320089"/>
                </a:lnTo>
                <a:lnTo>
                  <a:pt x="2308403" y="349899"/>
                </a:lnTo>
                <a:lnTo>
                  <a:pt x="2378355" y="238108"/>
                </a:lnTo>
                <a:lnTo>
                  <a:pt x="2448306" y="366356"/>
                </a:lnTo>
                <a:lnTo>
                  <a:pt x="2518258" y="424217"/>
                </a:lnTo>
                <a:lnTo>
                  <a:pt x="2588209" y="374916"/>
                </a:lnTo>
                <a:lnTo>
                  <a:pt x="2658161" y="162091"/>
                </a:lnTo>
                <a:lnTo>
                  <a:pt x="2728113" y="259984"/>
                </a:lnTo>
                <a:lnTo>
                  <a:pt x="2798064" y="176744"/>
                </a:lnTo>
                <a:lnTo>
                  <a:pt x="2868016" y="122881"/>
                </a:lnTo>
                <a:lnTo>
                  <a:pt x="2937968" y="0"/>
                </a:lnTo>
                <a:lnTo>
                  <a:pt x="3007919" y="121902"/>
                </a:lnTo>
                <a:lnTo>
                  <a:pt x="3077871" y="221635"/>
                </a:lnTo>
                <a:lnTo>
                  <a:pt x="3147822" y="217431"/>
                </a:lnTo>
                <a:lnTo>
                  <a:pt x="3217774" y="119146"/>
                </a:lnTo>
                <a:lnTo>
                  <a:pt x="3287726" y="112025"/>
                </a:lnTo>
                <a:lnTo>
                  <a:pt x="3357677" y="226494"/>
                </a:lnTo>
                <a:lnTo>
                  <a:pt x="3427629" y="241495"/>
                </a:lnTo>
                <a:lnTo>
                  <a:pt x="3497580" y="353961"/>
                </a:lnTo>
                <a:lnTo>
                  <a:pt x="3567532" y="373994"/>
                </a:lnTo>
                <a:lnTo>
                  <a:pt x="3637484" y="274672"/>
                </a:lnTo>
                <a:lnTo>
                  <a:pt x="3707435" y="289266"/>
                </a:lnTo>
                <a:lnTo>
                  <a:pt x="3777387" y="321508"/>
                </a:lnTo>
                <a:lnTo>
                  <a:pt x="3847338" y="403882"/>
                </a:lnTo>
                <a:lnTo>
                  <a:pt x="3917290" y="306451"/>
                </a:lnTo>
                <a:lnTo>
                  <a:pt x="3987242" y="298182"/>
                </a:lnTo>
                <a:lnTo>
                  <a:pt x="4057193" y="354348"/>
                </a:lnTo>
                <a:lnTo>
                  <a:pt x="4127145" y="271781"/>
                </a:lnTo>
                <a:lnTo>
                  <a:pt x="4197096" y="315092"/>
                </a:lnTo>
                <a:lnTo>
                  <a:pt x="4267048" y="392286"/>
                </a:lnTo>
                <a:lnTo>
                  <a:pt x="4337000" y="424880"/>
                </a:lnTo>
                <a:lnTo>
                  <a:pt x="4406951" y="319871"/>
                </a:lnTo>
                <a:lnTo>
                  <a:pt x="4476903" y="330050"/>
                </a:lnTo>
                <a:lnTo>
                  <a:pt x="4546854" y="211635"/>
                </a:lnTo>
                <a:lnTo>
                  <a:pt x="4616806" y="139303"/>
                </a:lnTo>
                <a:lnTo>
                  <a:pt x="4686758" y="164951"/>
                </a:lnTo>
                <a:lnTo>
                  <a:pt x="4756709" y="268395"/>
                </a:lnTo>
                <a:lnTo>
                  <a:pt x="4826661" y="355281"/>
                </a:lnTo>
                <a:lnTo>
                  <a:pt x="4896612" y="350585"/>
                </a:lnTo>
                <a:lnTo>
                  <a:pt x="4966564" y="328778"/>
                </a:lnTo>
                <a:lnTo>
                  <a:pt x="5036516" y="285715"/>
                </a:lnTo>
                <a:lnTo>
                  <a:pt x="5106467" y="331499"/>
                </a:lnTo>
                <a:lnTo>
                  <a:pt x="5176419" y="100691"/>
                </a:lnTo>
                <a:lnTo>
                  <a:pt x="5246370" y="69566"/>
                </a:lnTo>
                <a:lnTo>
                  <a:pt x="5316322" y="171195"/>
                </a:lnTo>
                <a:lnTo>
                  <a:pt x="5386274" y="229643"/>
                </a:lnTo>
                <a:lnTo>
                  <a:pt x="5456225" y="229178"/>
                </a:lnTo>
                <a:lnTo>
                  <a:pt x="5526177" y="270455"/>
                </a:lnTo>
                <a:lnTo>
                  <a:pt x="5596128" y="280833"/>
                </a:lnTo>
                <a:lnTo>
                  <a:pt x="5666080" y="328874"/>
                </a:lnTo>
                <a:lnTo>
                  <a:pt x="5736032" y="249882"/>
                </a:lnTo>
                <a:lnTo>
                  <a:pt x="5805983" y="194742"/>
                </a:lnTo>
                <a:lnTo>
                  <a:pt x="5875935" y="286573"/>
                </a:lnTo>
                <a:lnTo>
                  <a:pt x="5945886" y="263325"/>
                </a:lnTo>
                <a:lnTo>
                  <a:pt x="6015838" y="181871"/>
                </a:lnTo>
                <a:lnTo>
                  <a:pt x="6085789" y="243285"/>
                </a:lnTo>
                <a:lnTo>
                  <a:pt x="6155741" y="321858"/>
                </a:lnTo>
                <a:lnTo>
                  <a:pt x="6225693" y="340020"/>
                </a:lnTo>
                <a:lnTo>
                  <a:pt x="6295644" y="233649"/>
                </a:lnTo>
                <a:lnTo>
                  <a:pt x="6365596" y="360543"/>
                </a:lnTo>
                <a:lnTo>
                  <a:pt x="6435547" y="357175"/>
                </a:lnTo>
                <a:lnTo>
                  <a:pt x="6505499" y="360221"/>
                </a:lnTo>
                <a:lnTo>
                  <a:pt x="6575451" y="352739"/>
                </a:lnTo>
                <a:lnTo>
                  <a:pt x="6645402" y="207920"/>
                </a:lnTo>
                <a:lnTo>
                  <a:pt x="6715354" y="276895"/>
                </a:lnTo>
                <a:lnTo>
                  <a:pt x="6785305" y="480909"/>
                </a:lnTo>
                <a:lnTo>
                  <a:pt x="6855257" y="407410"/>
                </a:lnTo>
                <a:lnTo>
                  <a:pt x="6925209" y="312434"/>
                </a:lnTo>
              </a:path>
            </a:pathLst>
          </a:custGeom>
          <a:noFill/>
          <a:ln w="22225">
            <a:solidFill>
              <a:srgbClr val="16202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48640" y="4242816"/>
            <a:ext cx="7772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Score</a:t>
            </a:r>
          </a:p>
        </p:txBody>
      </p:sp>
      <p:sp>
        <p:nvSpPr>
          <p:cNvPr id="35" name="TextBox 34"/>
          <p:cNvSpPr txBox="1"/>
          <p:nvPr/>
        </p:nvSpPr>
        <p:spPr>
          <a:xfrm>
            <a:off x="8458200" y="4469358"/>
            <a:ext cx="457200" cy="237744"/>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0,57</a:t>
            </a:r>
          </a:p>
        </p:txBody>
      </p:sp>
      <p:sp>
        <p:nvSpPr>
          <p:cNvPr id="36" name="Rectangle 35"/>
          <p:cNvSpPr/>
          <p:nvPr/>
        </p:nvSpPr>
        <p:spPr>
          <a:xfrm>
            <a:off x="1417319" y="5234940"/>
            <a:ext cx="174878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Rectangle 36"/>
          <p:cNvSpPr/>
          <p:nvPr/>
        </p:nvSpPr>
        <p:spPr>
          <a:xfrm>
            <a:off x="3166109" y="5234940"/>
            <a:ext cx="1049274"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Rectangle 37"/>
          <p:cNvSpPr/>
          <p:nvPr/>
        </p:nvSpPr>
        <p:spPr>
          <a:xfrm>
            <a:off x="4215383" y="5234940"/>
            <a:ext cx="83941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9" name="Rectangle 38"/>
          <p:cNvSpPr/>
          <p:nvPr/>
        </p:nvSpPr>
        <p:spPr>
          <a:xfrm>
            <a:off x="5054803" y="5234940"/>
            <a:ext cx="979322"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0" name="Rectangle 39"/>
          <p:cNvSpPr/>
          <p:nvPr/>
        </p:nvSpPr>
        <p:spPr>
          <a:xfrm>
            <a:off x="6034125" y="5234940"/>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Rectangle 40"/>
          <p:cNvSpPr/>
          <p:nvPr/>
        </p:nvSpPr>
        <p:spPr>
          <a:xfrm>
            <a:off x="7712963" y="5234940"/>
            <a:ext cx="699516" cy="23774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TextBox 41"/>
          <p:cNvSpPr txBox="1"/>
          <p:nvPr/>
        </p:nvSpPr>
        <p:spPr>
          <a:xfrm>
            <a:off x="548640" y="5234940"/>
            <a:ext cx="777240" cy="237744"/>
          </a:xfrm>
          <a:prstGeom prst="rect">
            <a:avLst/>
          </a:prstGeom>
          <a:noFill/>
        </p:spPr>
        <p:txBody>
          <a:bodyPr wrap="square" lIns="0" rIns="0" tIns="0" bIns="0" anchor="ctr">
            <a:spAutoFit/>
          </a:bodyPr>
          <a:lstStyle/>
          <a:p>
            <a:pPr algn="l">
              <a:spcAft>
                <a:spcPts val="0"/>
              </a:spcAft>
            </a:pPr>
            <a:r>
              <a:rPr sz="1100" b="0" i="0">
                <a:solidFill>
                  <a:srgbClr val="5B6472"/>
                </a:solidFill>
                <a:latin typeface="Calibri"/>
              </a:rPr>
              <a:t>GT</a:t>
            </a:r>
          </a:p>
        </p:txBody>
      </p:sp>
      <p:sp>
        <p:nvSpPr>
          <p:cNvPr id="43" name="Rectangle 42"/>
          <p:cNvSpPr/>
          <p:nvPr/>
        </p:nvSpPr>
        <p:spPr>
          <a:xfrm>
            <a:off x="1417319" y="5582412"/>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4" name="Rectangle 43"/>
          <p:cNvSpPr/>
          <p:nvPr/>
        </p:nvSpPr>
        <p:spPr>
          <a:xfrm>
            <a:off x="3096158" y="5582412"/>
            <a:ext cx="69951"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Rectangle 44"/>
          <p:cNvSpPr/>
          <p:nvPr/>
        </p:nvSpPr>
        <p:spPr>
          <a:xfrm>
            <a:off x="3515868" y="5582412"/>
            <a:ext cx="349758"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6" name="Rectangle 45"/>
          <p:cNvSpPr/>
          <p:nvPr/>
        </p:nvSpPr>
        <p:spPr>
          <a:xfrm>
            <a:off x="4075480" y="5582412"/>
            <a:ext cx="139903"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7" name="Rectangle 46"/>
          <p:cNvSpPr/>
          <p:nvPr/>
        </p:nvSpPr>
        <p:spPr>
          <a:xfrm>
            <a:off x="4215383" y="5582412"/>
            <a:ext cx="839419"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8" name="Rectangle 47"/>
          <p:cNvSpPr/>
          <p:nvPr/>
        </p:nvSpPr>
        <p:spPr>
          <a:xfrm>
            <a:off x="5054803" y="5582412"/>
            <a:ext cx="139903"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9" name="Rectangle 48"/>
          <p:cNvSpPr/>
          <p:nvPr/>
        </p:nvSpPr>
        <p:spPr>
          <a:xfrm>
            <a:off x="5194706" y="5582412"/>
            <a:ext cx="48966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0" name="Rectangle 49"/>
          <p:cNvSpPr/>
          <p:nvPr/>
        </p:nvSpPr>
        <p:spPr>
          <a:xfrm>
            <a:off x="5824270" y="5582412"/>
            <a:ext cx="6995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1" name="Rectangle 50"/>
          <p:cNvSpPr/>
          <p:nvPr/>
        </p:nvSpPr>
        <p:spPr>
          <a:xfrm>
            <a:off x="5894222" y="5582412"/>
            <a:ext cx="139903"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Rectangle 51"/>
          <p:cNvSpPr/>
          <p:nvPr/>
        </p:nvSpPr>
        <p:spPr>
          <a:xfrm>
            <a:off x="6034125" y="5582412"/>
            <a:ext cx="1678838" cy="23774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3" name="Rectangle 52"/>
          <p:cNvSpPr/>
          <p:nvPr/>
        </p:nvSpPr>
        <p:spPr>
          <a:xfrm>
            <a:off x="7712963" y="5582412"/>
            <a:ext cx="139903" cy="23774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4" name="Rectangle 53"/>
          <p:cNvSpPr/>
          <p:nvPr/>
        </p:nvSpPr>
        <p:spPr>
          <a:xfrm>
            <a:off x="7852867" y="5582412"/>
            <a:ext cx="349758"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5" name="Rectangle 54"/>
          <p:cNvSpPr/>
          <p:nvPr/>
        </p:nvSpPr>
        <p:spPr>
          <a:xfrm>
            <a:off x="8342528" y="5582412"/>
            <a:ext cx="69951" cy="23774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6" name="TextBox 55"/>
          <p:cNvSpPr txBox="1"/>
          <p:nvPr/>
        </p:nvSpPr>
        <p:spPr>
          <a:xfrm>
            <a:off x="548640" y="5582412"/>
            <a:ext cx="777240" cy="237744"/>
          </a:xfrm>
          <a:prstGeom prst="rect">
            <a:avLst/>
          </a:prstGeom>
          <a:noFill/>
        </p:spPr>
        <p:txBody>
          <a:bodyPr wrap="square" lIns="0" rIns="0" tIns="0" bIns="0" anchor="ctr">
            <a:spAutoFit/>
          </a:bodyPr>
          <a:lstStyle/>
          <a:p>
            <a:pPr algn="l">
              <a:spcAft>
                <a:spcPts val="0"/>
              </a:spcAft>
            </a:pPr>
            <a:r>
              <a:rPr sz="1100" b="0" i="0">
                <a:solidFill>
                  <a:srgbClr val="5B6472"/>
                </a:solidFill>
                <a:latin typeface="Calibri"/>
              </a:rPr>
              <a:t>Dự đoán</a:t>
            </a:r>
          </a:p>
        </p:txBody>
      </p:sp>
      <p:sp>
        <p:nvSpPr>
          <p:cNvPr id="57" name="TextBox 56"/>
          <p:cNvSpPr txBox="1"/>
          <p:nvPr/>
        </p:nvSpPr>
        <p:spPr>
          <a:xfrm>
            <a:off x="1142999"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0 s</a:t>
            </a:r>
          </a:p>
        </p:txBody>
      </p:sp>
      <p:sp>
        <p:nvSpPr>
          <p:cNvPr id="58" name="TextBox 57"/>
          <p:cNvSpPr txBox="1"/>
          <p:nvPr/>
        </p:nvSpPr>
        <p:spPr>
          <a:xfrm>
            <a:off x="2542032"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2 s</a:t>
            </a:r>
          </a:p>
        </p:txBody>
      </p:sp>
      <p:sp>
        <p:nvSpPr>
          <p:cNvPr id="59" name="TextBox 58"/>
          <p:cNvSpPr txBox="1"/>
          <p:nvPr/>
        </p:nvSpPr>
        <p:spPr>
          <a:xfrm>
            <a:off x="3941063"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4 s</a:t>
            </a:r>
          </a:p>
        </p:txBody>
      </p:sp>
      <p:sp>
        <p:nvSpPr>
          <p:cNvPr id="60" name="TextBox 59"/>
          <p:cNvSpPr txBox="1"/>
          <p:nvPr/>
        </p:nvSpPr>
        <p:spPr>
          <a:xfrm>
            <a:off x="5340096"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6 s</a:t>
            </a:r>
          </a:p>
        </p:txBody>
      </p:sp>
      <p:sp>
        <p:nvSpPr>
          <p:cNvPr id="61" name="TextBox 60"/>
          <p:cNvSpPr txBox="1"/>
          <p:nvPr/>
        </p:nvSpPr>
        <p:spPr>
          <a:xfrm>
            <a:off x="6739128"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8 s</a:t>
            </a:r>
          </a:p>
        </p:txBody>
      </p:sp>
      <p:sp>
        <p:nvSpPr>
          <p:cNvPr id="62" name="TextBox 61"/>
          <p:cNvSpPr txBox="1"/>
          <p:nvPr/>
        </p:nvSpPr>
        <p:spPr>
          <a:xfrm>
            <a:off x="8138159" y="5865875"/>
            <a:ext cx="548640" cy="228600"/>
          </a:xfrm>
          <a:prstGeom prst="rect">
            <a:avLst/>
          </a:prstGeom>
          <a:noFill/>
        </p:spPr>
        <p:txBody>
          <a:bodyPr wrap="square" lIns="0" rIns="0" tIns="0" bIns="0" anchor="t">
            <a:spAutoFit/>
          </a:bodyPr>
          <a:lstStyle/>
          <a:p>
            <a:pPr algn="ctr">
              <a:spcAft>
                <a:spcPts val="0"/>
              </a:spcAft>
            </a:pPr>
            <a:r>
              <a:rPr sz="1000" b="0" i="0">
                <a:solidFill>
                  <a:srgbClr val="8A93A0"/>
                </a:solidFill>
                <a:latin typeface="Calibri"/>
              </a:rPr>
              <a:t>10 s</a:t>
            </a:r>
          </a:p>
        </p:txBody>
      </p:sp>
      <p:sp>
        <p:nvSpPr>
          <p:cNvPr id="63" name="Rectangle 62"/>
          <p:cNvSpPr/>
          <p:nvPr/>
        </p:nvSpPr>
        <p:spPr>
          <a:xfrm>
            <a:off x="1417320" y="6199631"/>
            <a:ext cx="146304" cy="146304"/>
          </a:xfrm>
          <a:prstGeom prst="rect">
            <a:avLst/>
          </a:prstGeom>
          <a:solidFill>
            <a:srgbClr val="2A78D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4" name="TextBox 63"/>
          <p:cNvSpPr txBox="1"/>
          <p:nvPr/>
        </p:nvSpPr>
        <p:spPr>
          <a:xfrm>
            <a:off x="163677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Speech đúng</a:t>
            </a:r>
          </a:p>
        </p:txBody>
      </p:sp>
      <p:sp>
        <p:nvSpPr>
          <p:cNvPr id="65" name="Rectangle 64"/>
          <p:cNvSpPr/>
          <p:nvPr/>
        </p:nvSpPr>
        <p:spPr>
          <a:xfrm>
            <a:off x="2834640" y="6199631"/>
            <a:ext cx="146304" cy="146304"/>
          </a:xfrm>
          <a:prstGeom prst="rect">
            <a:avLst/>
          </a:prstGeom>
          <a:solidFill>
            <a:srgbClr val="D03B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6" name="TextBox 65"/>
          <p:cNvSpPr txBox="1"/>
          <p:nvPr/>
        </p:nvSpPr>
        <p:spPr>
          <a:xfrm>
            <a:off x="305409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Miss</a:t>
            </a:r>
          </a:p>
        </p:txBody>
      </p:sp>
      <p:sp>
        <p:nvSpPr>
          <p:cNvPr id="67" name="Rectangle 66"/>
          <p:cNvSpPr/>
          <p:nvPr/>
        </p:nvSpPr>
        <p:spPr>
          <a:xfrm>
            <a:off x="4251960" y="6199631"/>
            <a:ext cx="146304" cy="146304"/>
          </a:xfrm>
          <a:prstGeom prst="rect">
            <a:avLst/>
          </a:prstGeom>
          <a:solidFill>
            <a:srgbClr val="E0A1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8" name="TextBox 67"/>
          <p:cNvSpPr txBox="1"/>
          <p:nvPr/>
        </p:nvSpPr>
        <p:spPr>
          <a:xfrm>
            <a:off x="447141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FA</a:t>
            </a:r>
          </a:p>
        </p:txBody>
      </p:sp>
      <p:sp>
        <p:nvSpPr>
          <p:cNvPr id="69" name="Rectangle 68"/>
          <p:cNvSpPr/>
          <p:nvPr/>
        </p:nvSpPr>
        <p:spPr>
          <a:xfrm>
            <a:off x="5669280" y="6199631"/>
            <a:ext cx="146304" cy="146304"/>
          </a:xfrm>
          <a:prstGeom prst="rect">
            <a:avLst/>
          </a:prstGeom>
          <a:solidFill>
            <a:srgbClr val="8A8A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0" name="TextBox 69"/>
          <p:cNvSpPr txBox="1"/>
          <p:nvPr/>
        </p:nvSpPr>
        <p:spPr>
          <a:xfrm>
            <a:off x="588873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Lỗi biên</a:t>
            </a:r>
          </a:p>
        </p:txBody>
      </p:sp>
      <p:sp>
        <p:nvSpPr>
          <p:cNvPr id="71" name="Rectangle 70"/>
          <p:cNvSpPr/>
          <p:nvPr/>
        </p:nvSpPr>
        <p:spPr>
          <a:xfrm>
            <a:off x="7086600" y="6199631"/>
            <a:ext cx="146304" cy="146304"/>
          </a:xfrm>
          <a:prstGeom prst="rect">
            <a:avLst/>
          </a:prstGeom>
          <a:solidFill>
            <a:srgbClr val="F2C9A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2" name="TextBox 71"/>
          <p:cNvSpPr txBox="1"/>
          <p:nvPr/>
        </p:nvSpPr>
        <p:spPr>
          <a:xfrm>
            <a:off x="7306056" y="6144768"/>
            <a:ext cx="2377440" cy="274320"/>
          </a:xfrm>
          <a:prstGeom prst="rect">
            <a:avLst/>
          </a:prstGeom>
          <a:noFill/>
        </p:spPr>
        <p:txBody>
          <a:bodyPr wrap="square" lIns="0" rIns="0" tIns="0" bIns="0" anchor="t">
            <a:spAutoFit/>
          </a:bodyPr>
          <a:lstStyle/>
          <a:p>
            <a:pPr algn="l">
              <a:spcAft>
                <a:spcPts val="0"/>
              </a:spcAft>
            </a:pPr>
            <a:r>
              <a:rPr sz="1100" b="0" i="0">
                <a:solidFill>
                  <a:srgbClr val="5B6472"/>
                </a:solidFill>
                <a:latin typeface="Calibri"/>
              </a:rPr>
              <a:t>Đám đông rì rầm (GT)</a:t>
            </a:r>
          </a:p>
        </p:txBody>
      </p:sp>
      <p:sp>
        <p:nvSpPr>
          <p:cNvPr id="73" name="TextBox 72"/>
          <p:cNvSpPr txBox="1"/>
          <p:nvPr/>
        </p:nvSpPr>
        <p:spPr>
          <a:xfrm>
            <a:off x="8915400" y="1783080"/>
            <a:ext cx="2743200" cy="731520"/>
          </a:xfrm>
          <a:prstGeom prst="rect">
            <a:avLst/>
          </a:prstGeom>
          <a:noFill/>
        </p:spPr>
        <p:txBody>
          <a:bodyPr wrap="square" lIns="0" rIns="0" tIns="0" bIns="0" anchor="t">
            <a:spAutoFit/>
          </a:bodyPr>
          <a:lstStyle/>
          <a:p>
            <a:pPr algn="l">
              <a:spcAft>
                <a:spcPts val="0"/>
              </a:spcAft>
            </a:pPr>
            <a:r>
              <a:rPr sz="5400" b="1" i="0">
                <a:solidFill>
                  <a:srgbClr val="8A8A85"/>
                </a:solidFill>
                <a:latin typeface="Cambria"/>
              </a:rPr>
              <a:t>39%</a:t>
            </a:r>
          </a:p>
        </p:txBody>
      </p:sp>
      <p:sp>
        <p:nvSpPr>
          <p:cNvPr id="74" name="TextBox 73"/>
          <p:cNvSpPr txBox="1"/>
          <p:nvPr/>
        </p:nvSpPr>
        <p:spPr>
          <a:xfrm>
            <a:off x="8915400" y="2640330"/>
            <a:ext cx="274320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số frame FA ở ngưỡng 0,57 nằm trong ±200 ms quanh biên</a:t>
            </a:r>
          </a:p>
        </p:txBody>
      </p:sp>
      <p:sp>
        <p:nvSpPr>
          <p:cNvPr id="75" name="TextBox 74"/>
          <p:cNvSpPr txBox="1"/>
          <p:nvPr/>
        </p:nvSpPr>
        <p:spPr>
          <a:xfrm>
            <a:off x="8915400" y="3520440"/>
            <a:ext cx="2743200" cy="731520"/>
          </a:xfrm>
          <a:prstGeom prst="rect">
            <a:avLst/>
          </a:prstGeom>
          <a:noFill/>
        </p:spPr>
        <p:txBody>
          <a:bodyPr wrap="square" lIns="0" rIns="0" tIns="0" bIns="0" anchor="t">
            <a:spAutoFit/>
          </a:bodyPr>
          <a:lstStyle/>
          <a:p>
            <a:pPr algn="l">
              <a:spcAft>
                <a:spcPts val="0"/>
              </a:spcAft>
            </a:pPr>
            <a:r>
              <a:rPr sz="3000" b="1" i="0">
                <a:solidFill>
                  <a:srgbClr val="0E7C7B"/>
                </a:solidFill>
                <a:latin typeface="Cambria"/>
              </a:rPr>
              <a:t>12,4% → 7,6%</a:t>
            </a:r>
          </a:p>
        </p:txBody>
      </p:sp>
      <p:sp>
        <p:nvSpPr>
          <p:cNvPr id="76" name="TextBox 75"/>
          <p:cNvSpPr txBox="1"/>
          <p:nvPr/>
        </p:nvSpPr>
        <p:spPr>
          <a:xfrm>
            <a:off x="8915400" y="3996690"/>
            <a:ext cx="2743200" cy="64008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FA trên toàn bộ 56 file khi tách lỗi biên</a:t>
            </a:r>
          </a:p>
        </p:txBody>
      </p:sp>
      <p:sp>
        <p:nvSpPr>
          <p:cNvPr id="77" name="Rounded Rectangle 76"/>
          <p:cNvSpPr/>
          <p:nvPr/>
        </p:nvSpPr>
        <p:spPr>
          <a:xfrm>
            <a:off x="8915400" y="4846320"/>
            <a:ext cx="2724912" cy="132588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8" name="TextBox 77"/>
          <p:cNvSpPr txBox="1"/>
          <p:nvPr/>
        </p:nvSpPr>
        <p:spPr>
          <a:xfrm>
            <a:off x="9098280" y="4892040"/>
            <a:ext cx="2377440" cy="1234440"/>
          </a:xfrm>
          <a:prstGeom prst="rect">
            <a:avLst/>
          </a:prstGeom>
          <a:noFill/>
        </p:spPr>
        <p:txBody>
          <a:bodyPr wrap="square" lIns="0" rIns="0" tIns="0" bIns="0" anchor="ctr">
            <a:spAutoFit/>
          </a:bodyPr>
          <a:lstStyle/>
          <a:p>
            <a:pPr algn="l">
              <a:spcAft>
                <a:spcPts val="0"/>
              </a:spcAft>
            </a:pPr>
            <a:r>
              <a:rPr sz="1300" b="0" i="0">
                <a:solidFill>
                  <a:srgbClr val="16202E"/>
                </a:solidFill>
                <a:latin typeface="Calibri"/>
              </a:rPr>
              <a:t>Lỗi biên sửa bằng độ phân giải (E1–E3); lỗi phân loại sửa bằng dữ liệu (E4).</a:t>
            </a:r>
          </a:p>
        </p:txBody>
      </p:sp>
      <p:sp>
        <p:nvSpPr>
          <p:cNvPr id="79" name="TextBox 78"/>
          <p:cNvSpPr txBox="1"/>
          <p:nvPr/>
        </p:nvSpPr>
        <p:spPr>
          <a:xfrm>
            <a:off x="548640" y="6419088"/>
            <a:ext cx="10241280" cy="274320"/>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File mẫu: nhóm "Đám đông", ngưỡng 0,57. Lỗi biên = frame sai nằm trong ±200 ms quanh chuyển tiếp của GT.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32130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Kết quả giả lập</a:t>
            </a:r>
          </a:p>
        </p:txBody>
      </p:sp>
      <p:sp>
        <p:nvSpPr>
          <p:cNvPr id="3" name="Rounded Rectangle 2"/>
          <p:cNvSpPr/>
          <p:nvPr/>
        </p:nvSpPr>
        <p:spPr>
          <a:xfrm>
            <a:off x="10319004" y="384048"/>
            <a:ext cx="1321308" cy="274320"/>
          </a:xfrm>
          <a:prstGeom prst="roundRect">
            <a:avLst>
              <a:gd name="adj" fmla="val 50000"/>
            </a:avLst>
          </a:prstGeom>
          <a:solidFill>
            <a:srgbClr val="FDF3D8"/>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7A5200"/>
                </a:solidFill>
                <a:latin typeface="Calibri"/>
              </a:rPr>
              <a:t>Dữ liệu giả lập</a:t>
            </a:r>
          </a:p>
        </p:txBody>
      </p:sp>
      <p:sp>
        <p:nvSpPr>
          <p:cNvPr id="4" name="TextBox 3"/>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Tổng đạt nhưng bốn lát vẫn trượt: phải sửa bằng dữ liệu</a:t>
            </a:r>
          </a:p>
        </p:txBody>
      </p:sp>
      <p:sp>
        <p:nvSpPr>
          <p:cNvPr id="5" name="TextBox 4"/>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13 / 15</a:t>
            </a:r>
          </a:p>
        </p:txBody>
      </p:sp>
      <p:graphicFrame>
        <p:nvGraphicFramePr>
          <p:cNvPr id="6" name="Chart 5"/>
          <p:cNvGraphicFramePr>
            <a:graphicFrameLocks noGrp="1"/>
          </p:cNvGraphicFramePr>
          <p:nvPr/>
        </p:nvGraphicFramePr>
        <p:xfrm>
          <a:off x="548640" y="1783080"/>
          <a:ext cx="6949440" cy="4206240"/>
        </p:xfrm>
        <a:graphic>
          <a:graphicData uri="http://schemas.openxmlformats.org/drawingml/2006/chart">
            <c:chart xmlns:c="http://schemas.openxmlformats.org/drawingml/2006/chart" r:id="rId2"/>
          </a:graphicData>
        </a:graphic>
      </p:graphicFrame>
      <p:cxnSp>
        <p:nvCxnSpPr>
          <p:cNvPr id="7" name="Connector 6"/>
          <p:cNvCxnSpPr/>
          <p:nvPr/>
        </p:nvCxnSpPr>
        <p:spPr>
          <a:xfrm>
            <a:off x="3853484" y="1863547"/>
            <a:ext cx="0" cy="3999585"/>
          </a:xfrm>
          <a:prstGeom prst="line">
            <a:avLst/>
          </a:prstGeom>
          <a:ln w="19050">
            <a:solidFill>
              <a:srgbClr val="16202E"/>
            </a:solidFill>
            <a:prstDash val="dash"/>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3030524" y="1508760"/>
            <a:ext cx="1645920" cy="274320"/>
          </a:xfrm>
          <a:prstGeom prst="rect">
            <a:avLst/>
          </a:prstGeom>
          <a:noFill/>
        </p:spPr>
        <p:txBody>
          <a:bodyPr wrap="square" lIns="0" rIns="0" tIns="0" bIns="0" anchor="t">
            <a:spAutoFit/>
          </a:bodyPr>
          <a:lstStyle/>
          <a:p>
            <a:pPr algn="ctr">
              <a:spcAft>
                <a:spcPts val="0"/>
              </a:spcAft>
            </a:pPr>
            <a:r>
              <a:rPr sz="1100" b="1" i="0">
                <a:solidFill>
                  <a:srgbClr val="16202E"/>
                </a:solidFill>
                <a:latin typeface="Calibri"/>
              </a:rPr>
              <a:t>Giới hạn 10%</a:t>
            </a:r>
          </a:p>
        </p:txBody>
      </p:sp>
      <p:sp>
        <p:nvSpPr>
          <p:cNvPr id="9" name="TextBox 8"/>
          <p:cNvSpPr txBox="1"/>
          <p:nvPr/>
        </p:nvSpPr>
        <p:spPr>
          <a:xfrm>
            <a:off x="548640" y="6035040"/>
            <a:ext cx="6949440" cy="320040"/>
          </a:xfrm>
          <a:prstGeom prst="rect">
            <a:avLst/>
          </a:prstGeom>
          <a:noFill/>
        </p:spPr>
        <p:txBody>
          <a:bodyPr wrap="square" lIns="0" rIns="0" tIns="0" bIns="0" anchor="t">
            <a:spAutoFit/>
          </a:bodyPr>
          <a:lstStyle/>
          <a:p>
            <a:pPr algn="l">
              <a:spcAft>
                <a:spcPts val="0"/>
              </a:spcAft>
            </a:pPr>
            <a:r>
              <a:rPr sz="1200" b="0" i="0">
                <a:solidFill>
                  <a:srgbClr val="8A93A0"/>
                </a:solidFill>
                <a:latin typeface="Calibri"/>
              </a:rPr>
              <a:t>Ngưỡng 0,57, đã trừ lỗi biên. Miss tính trên lát positive, FA trên lát negative.</a:t>
            </a:r>
          </a:p>
        </p:txBody>
      </p:sp>
      <p:sp>
        <p:nvSpPr>
          <p:cNvPr id="10" name="TextBox 9"/>
          <p:cNvSpPr txBox="1"/>
          <p:nvPr/>
        </p:nvSpPr>
        <p:spPr>
          <a:xfrm>
            <a:off x="7818120" y="1783080"/>
            <a:ext cx="3822191" cy="365760"/>
          </a:xfrm>
          <a:prstGeom prst="rect">
            <a:avLst/>
          </a:prstGeom>
          <a:noFill/>
        </p:spPr>
        <p:txBody>
          <a:bodyPr wrap="square" lIns="0" rIns="0" tIns="0" bIns="0" anchor="t">
            <a:spAutoFit/>
          </a:bodyPr>
          <a:lstStyle/>
          <a:p>
            <a:pPr algn="l">
              <a:spcAft>
                <a:spcPts val="0"/>
              </a:spcAft>
            </a:pPr>
            <a:r>
              <a:rPr sz="1800" b="1" i="0">
                <a:solidFill>
                  <a:srgbClr val="16202E"/>
                </a:solidFill>
                <a:latin typeface="Cambria"/>
              </a:rPr>
              <a:t>Kéo ngưỡng chỉ dời lỗi</a:t>
            </a:r>
          </a:p>
        </p:txBody>
      </p:sp>
      <p:graphicFrame>
        <p:nvGraphicFramePr>
          <p:cNvPr id="11" name="Table 10"/>
          <p:cNvGraphicFramePr>
            <a:graphicFrameLocks noGrp="1"/>
          </p:cNvGraphicFramePr>
          <p:nvPr/>
        </p:nvGraphicFramePr>
        <p:xfrm>
          <a:off x="7818120" y="2240280"/>
          <a:ext cx="3822192" cy="1828800"/>
        </p:xfrm>
        <a:graphic>
          <a:graphicData uri="http://schemas.openxmlformats.org/drawingml/2006/table">
            <a:tbl>
              <a:tblPr firstRow="1" bandRow="1">
                <a:tableStyleId>{5C22544A-7EE6-4342-B048-85BDC9FD1C3A}</a:tableStyleId>
              </a:tblPr>
              <a:tblGrid>
                <a:gridCol w="786384"/>
                <a:gridCol w="1078992"/>
                <a:gridCol w="978408"/>
                <a:gridCol w="978408"/>
              </a:tblGrid>
              <a:tr h="457200">
                <a:tc>
                  <a:txBody>
                    <a:bodyPr wrap="square"/>
                    <a:lstStyle/>
                    <a:p>
                      <a:pPr algn="ctr"/>
                      <a:r>
                        <a:rPr sz="1100" b="1">
                          <a:solidFill>
                            <a:srgbClr val="FFFFFF"/>
                          </a:solidFill>
                          <a:latin typeface="Calibri"/>
                        </a:rPr>
                        <a:t>Ngưỡng</a:t>
                      </a:r>
                    </a:p>
                  </a:txBody>
                  <a:tcPr marL="91440" marR="91440" marT="27432" marB="27432" anchor="ctr">
                    <a:solidFill>
                      <a:srgbClr val="16202E"/>
                    </a:solidFill>
                  </a:tcPr>
                </a:tc>
                <a:tc>
                  <a:txBody>
                    <a:bodyPr wrap="square"/>
                    <a:lstStyle/>
                    <a:p>
                      <a:pPr algn="ctr"/>
                      <a:r>
                        <a:rPr sz="1100" b="1">
                          <a:solidFill>
                            <a:srgbClr val="FFFFFF"/>
                          </a:solidFill>
                          <a:latin typeface="Calibri"/>
                        </a:rPr>
                        <a:t>Nói + nhạc (Miss)</a:t>
                      </a:r>
                    </a:p>
                  </a:txBody>
                  <a:tcPr marL="91440" marR="91440" marT="27432" marB="27432" anchor="ctr">
                    <a:solidFill>
                      <a:srgbClr val="16202E"/>
                    </a:solidFill>
                  </a:tcPr>
                </a:tc>
                <a:tc>
                  <a:txBody>
                    <a:bodyPr wrap="square"/>
                    <a:lstStyle/>
                    <a:p>
                      <a:pPr algn="ctr"/>
                      <a:r>
                        <a:rPr sz="1100" b="1">
                          <a:solidFill>
                            <a:srgbClr val="FFFFFF"/>
                          </a:solidFill>
                          <a:latin typeface="Calibri"/>
                        </a:rPr>
                        <a:t>Đám đông (FA)</a:t>
                      </a:r>
                    </a:p>
                  </a:txBody>
                  <a:tcPr marL="91440" marR="91440" marT="27432" marB="27432" anchor="ctr">
                    <a:solidFill>
                      <a:srgbClr val="16202E"/>
                    </a:solidFill>
                  </a:tcPr>
                </a:tc>
                <a:tc>
                  <a:txBody>
                    <a:bodyPr wrap="square"/>
                    <a:lstStyle/>
                    <a:p>
                      <a:pPr algn="ctr"/>
                      <a:r>
                        <a:rPr sz="1100" b="1">
                          <a:solidFill>
                            <a:srgbClr val="FFFFFF"/>
                          </a:solidFill>
                          <a:latin typeface="Calibri"/>
                        </a:rPr>
                        <a:t>Cười/ho (FA)</a:t>
                      </a:r>
                    </a:p>
                  </a:txBody>
                  <a:tcPr marL="91440" marR="91440" marT="27432" marB="27432" anchor="ctr">
                    <a:solidFill>
                      <a:srgbClr val="16202E"/>
                    </a:solidFill>
                  </a:tcPr>
                </a:tc>
              </a:tr>
              <a:tr h="457200">
                <a:tc>
                  <a:txBody>
                    <a:bodyPr wrap="square"/>
                    <a:lstStyle/>
                    <a:p>
                      <a:pPr algn="ctr"/>
                      <a:r>
                        <a:rPr sz="1300" b="0">
                          <a:solidFill>
                            <a:srgbClr val="16202E"/>
                          </a:solidFill>
                          <a:latin typeface="Calibri"/>
                        </a:rPr>
                        <a:t>0,50</a:t>
                      </a:r>
                    </a:p>
                  </a:txBody>
                  <a:tcPr marL="91440" marR="91440" marT="27432" marB="27432" anchor="ctr">
                    <a:solidFill>
                      <a:srgbClr val="FFFFFF"/>
                    </a:solidFill>
                  </a:tcPr>
                </a:tc>
                <a:tc>
                  <a:txBody>
                    <a:bodyPr wrap="square"/>
                    <a:lstStyle/>
                    <a:p>
                      <a:pPr algn="ctr"/>
                      <a:r>
                        <a:rPr sz="1300" b="0">
                          <a:solidFill>
                            <a:srgbClr val="16202E"/>
                          </a:solidFill>
                          <a:latin typeface="Calibri"/>
                        </a:rPr>
                        <a:t>7%</a:t>
                      </a:r>
                    </a:p>
                  </a:txBody>
                  <a:tcPr marL="91440" marR="91440" marT="27432" marB="27432" anchor="ctr">
                    <a:solidFill>
                      <a:srgbClr val="FFFFFF"/>
                    </a:solidFill>
                  </a:tcPr>
                </a:tc>
                <a:tc>
                  <a:txBody>
                    <a:bodyPr wrap="square"/>
                    <a:lstStyle/>
                    <a:p>
                      <a:pPr algn="ctr"/>
                      <a:r>
                        <a:rPr sz="1300" b="0">
                          <a:solidFill>
                            <a:srgbClr val="D03B3B"/>
                          </a:solidFill>
                          <a:latin typeface="Calibri"/>
                        </a:rPr>
                        <a:t>71%</a:t>
                      </a:r>
                    </a:p>
                  </a:txBody>
                  <a:tcPr marL="91440" marR="91440" marT="27432" marB="27432" anchor="ctr">
                    <a:solidFill>
                      <a:srgbClr val="FFFFFF"/>
                    </a:solidFill>
                  </a:tcPr>
                </a:tc>
                <a:tc>
                  <a:txBody>
                    <a:bodyPr wrap="square"/>
                    <a:lstStyle/>
                    <a:p>
                      <a:pPr algn="ctr"/>
                      <a:r>
                        <a:rPr sz="1300" b="0">
                          <a:solidFill>
                            <a:srgbClr val="D03B3B"/>
                          </a:solidFill>
                          <a:latin typeface="Calibri"/>
                        </a:rPr>
                        <a:t>58%</a:t>
                      </a:r>
                    </a:p>
                  </a:txBody>
                  <a:tcPr marL="91440" marR="91440" marT="27432" marB="27432" anchor="ctr">
                    <a:solidFill>
                      <a:srgbClr val="FFFFFF"/>
                    </a:solidFill>
                  </a:tcPr>
                </a:tc>
              </a:tr>
              <a:tr h="457200">
                <a:tc>
                  <a:txBody>
                    <a:bodyPr wrap="square"/>
                    <a:lstStyle/>
                    <a:p>
                      <a:pPr algn="ctr"/>
                      <a:r>
                        <a:rPr sz="1300" b="0">
                          <a:solidFill>
                            <a:srgbClr val="16202E"/>
                          </a:solidFill>
                          <a:latin typeface="Calibri"/>
                        </a:rPr>
                        <a:t>0,57</a:t>
                      </a:r>
                    </a:p>
                  </a:txBody>
                  <a:tcPr marL="91440" marR="91440" marT="27432" marB="27432" anchor="ctr">
                    <a:solidFill>
                      <a:srgbClr val="F3F5F8"/>
                    </a:solidFill>
                  </a:tcPr>
                </a:tc>
                <a:tc>
                  <a:txBody>
                    <a:bodyPr wrap="square"/>
                    <a:lstStyle/>
                    <a:p>
                      <a:pPr algn="ctr"/>
                      <a:r>
                        <a:rPr sz="1300" b="0">
                          <a:solidFill>
                            <a:srgbClr val="D03B3B"/>
                          </a:solidFill>
                          <a:latin typeface="Calibri"/>
                        </a:rPr>
                        <a:t>18%</a:t>
                      </a:r>
                    </a:p>
                  </a:txBody>
                  <a:tcPr marL="91440" marR="91440" marT="27432" marB="27432" anchor="ctr">
                    <a:solidFill>
                      <a:srgbClr val="F3F5F8"/>
                    </a:solidFill>
                  </a:tcPr>
                </a:tc>
                <a:tc>
                  <a:txBody>
                    <a:bodyPr wrap="square"/>
                    <a:lstStyle/>
                    <a:p>
                      <a:pPr algn="ctr"/>
                      <a:r>
                        <a:rPr sz="1300" b="0">
                          <a:solidFill>
                            <a:srgbClr val="D03B3B"/>
                          </a:solidFill>
                          <a:latin typeface="Calibri"/>
                        </a:rPr>
                        <a:t>34%</a:t>
                      </a:r>
                    </a:p>
                  </a:txBody>
                  <a:tcPr marL="91440" marR="91440" marT="27432" marB="27432" anchor="ctr">
                    <a:solidFill>
                      <a:srgbClr val="F3F5F8"/>
                    </a:solidFill>
                  </a:tcPr>
                </a:tc>
                <a:tc>
                  <a:txBody>
                    <a:bodyPr wrap="square"/>
                    <a:lstStyle/>
                    <a:p>
                      <a:pPr algn="ctr"/>
                      <a:r>
                        <a:rPr sz="1300" b="0">
                          <a:solidFill>
                            <a:srgbClr val="D03B3B"/>
                          </a:solidFill>
                          <a:latin typeface="Calibri"/>
                        </a:rPr>
                        <a:t>34%</a:t>
                      </a:r>
                    </a:p>
                  </a:txBody>
                  <a:tcPr marL="91440" marR="91440" marT="27432" marB="27432" anchor="ctr">
                    <a:solidFill>
                      <a:srgbClr val="F3F5F8"/>
                    </a:solidFill>
                  </a:tcPr>
                </a:tc>
              </a:tr>
              <a:tr h="457200">
                <a:tc>
                  <a:txBody>
                    <a:bodyPr wrap="square"/>
                    <a:lstStyle/>
                    <a:p>
                      <a:pPr algn="ctr"/>
                      <a:r>
                        <a:rPr sz="1300" b="0">
                          <a:solidFill>
                            <a:srgbClr val="16202E"/>
                          </a:solidFill>
                          <a:latin typeface="Calibri"/>
                        </a:rPr>
                        <a:t>0,60</a:t>
                      </a:r>
                    </a:p>
                  </a:txBody>
                  <a:tcPr marL="91440" marR="91440" marT="27432" marB="27432" anchor="ctr">
                    <a:solidFill>
                      <a:srgbClr val="FFFFFF"/>
                    </a:solidFill>
                  </a:tcPr>
                </a:tc>
                <a:tc>
                  <a:txBody>
                    <a:bodyPr wrap="square"/>
                    <a:lstStyle/>
                    <a:p>
                      <a:pPr algn="ctr"/>
                      <a:r>
                        <a:rPr sz="1300" b="0">
                          <a:solidFill>
                            <a:srgbClr val="D03B3B"/>
                          </a:solidFill>
                          <a:latin typeface="Calibri"/>
                        </a:rPr>
                        <a:t>29%</a:t>
                      </a:r>
                    </a:p>
                  </a:txBody>
                  <a:tcPr marL="91440" marR="91440" marT="27432" marB="27432" anchor="ctr">
                    <a:solidFill>
                      <a:srgbClr val="FFFFFF"/>
                    </a:solidFill>
                  </a:tcPr>
                </a:tc>
                <a:tc>
                  <a:txBody>
                    <a:bodyPr wrap="square"/>
                    <a:lstStyle/>
                    <a:p>
                      <a:pPr algn="ctr"/>
                      <a:r>
                        <a:rPr sz="1300" b="0">
                          <a:solidFill>
                            <a:srgbClr val="D03B3B"/>
                          </a:solidFill>
                          <a:latin typeface="Calibri"/>
                        </a:rPr>
                        <a:t>23%</a:t>
                      </a:r>
                    </a:p>
                  </a:txBody>
                  <a:tcPr marL="91440" marR="91440" marT="27432" marB="27432" anchor="ctr">
                    <a:solidFill>
                      <a:srgbClr val="FFFFFF"/>
                    </a:solidFill>
                  </a:tcPr>
                </a:tc>
                <a:tc>
                  <a:txBody>
                    <a:bodyPr wrap="square"/>
                    <a:lstStyle/>
                    <a:p>
                      <a:pPr algn="ctr"/>
                      <a:r>
                        <a:rPr sz="1300" b="0">
                          <a:solidFill>
                            <a:srgbClr val="D03B3B"/>
                          </a:solidFill>
                          <a:latin typeface="Calibri"/>
                        </a:rPr>
                        <a:t>20%</a:t>
                      </a:r>
                    </a:p>
                  </a:txBody>
                  <a:tcPr marL="91440" marR="91440" marT="27432" marB="27432" anchor="ctr">
                    <a:solidFill>
                      <a:srgbClr val="FFFFFF"/>
                    </a:solidFill>
                  </a:tcPr>
                </a:tc>
              </a:tr>
            </a:tbl>
          </a:graphicData>
        </a:graphic>
      </p:graphicFrame>
      <p:sp>
        <p:nvSpPr>
          <p:cNvPr id="12" name="TextBox 11"/>
          <p:cNvSpPr txBox="1"/>
          <p:nvPr/>
        </p:nvSpPr>
        <p:spPr>
          <a:xfrm>
            <a:off x="7818120" y="4206240"/>
            <a:ext cx="3822191" cy="731520"/>
          </a:xfrm>
          <a:prstGeom prst="rect">
            <a:avLst/>
          </a:prstGeom>
          <a:noFill/>
        </p:spPr>
        <p:txBody>
          <a:bodyPr wrap="square" lIns="0" rIns="0" tIns="0" bIns="0" anchor="t">
            <a:spAutoFit/>
          </a:bodyPr>
          <a:lstStyle/>
          <a:p>
            <a:pPr algn="l">
              <a:spcAft>
                <a:spcPts val="0"/>
              </a:spcAft>
            </a:pPr>
            <a:r>
              <a:rPr sz="1300" b="0" i="0">
                <a:solidFill>
                  <a:srgbClr val="5B6472"/>
                </a:solidFill>
                <a:latin typeface="Calibri"/>
              </a:rPr>
              <a:t>Ngưỡng thấp: đám đông và cười/ho bị báo nhầm. Ngưỡng cao: lời nói trên nền nhạc bị bỏ sót.</a:t>
            </a:r>
          </a:p>
        </p:txBody>
      </p:sp>
      <p:sp>
        <p:nvSpPr>
          <p:cNvPr id="13" name="Rounded Rectangle 12"/>
          <p:cNvSpPr/>
          <p:nvPr/>
        </p:nvSpPr>
        <p:spPr>
          <a:xfrm>
            <a:off x="7818120" y="5029200"/>
            <a:ext cx="3822191" cy="1143000"/>
          </a:xfrm>
          <a:prstGeom prst="roundRect">
            <a:avLst>
              <a:gd name="adj" fmla="val 6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8001000" y="5074920"/>
            <a:ext cx="3456432" cy="1051560"/>
          </a:xfrm>
          <a:prstGeom prst="rect">
            <a:avLst/>
          </a:prstGeom>
          <a:noFill/>
        </p:spPr>
        <p:txBody>
          <a:bodyPr wrap="square" lIns="0" rIns="0" tIns="0" bIns="0" anchor="ctr">
            <a:spAutoFit/>
          </a:bodyPr>
          <a:lstStyle/>
          <a:p>
            <a:pPr algn="l">
              <a:spcAft>
                <a:spcPts val="0"/>
              </a:spcAft>
            </a:pPr>
            <a:r>
              <a:rPr sz="1300" b="1" i="0">
                <a:solidFill>
                  <a:srgbClr val="0A5C5B"/>
                </a:solidFill>
                <a:latin typeface="Calibri"/>
              </a:rPr>
              <a:t>Hướng sửa (E4, E5): </a:t>
            </a:r>
            <a:r>
              <a:rPr sz="1300" b="0" i="0">
                <a:solidFill>
                  <a:srgbClr val="0A5C5B"/>
                </a:solidFill>
                <a:latin typeface="Calibri"/>
              </a:rPr>
              <a:t>thêm đám đông, cười/ho, nhạc cụ làm hard negative; thêm lời nói bị nhạc che làm positive.</a:t>
            </a:r>
          </a:p>
        </p:txBody>
      </p:sp>
      <p:sp>
        <p:nvSpPr>
          <p:cNvPr id="15" name="TextBox 14"/>
          <p:cNvSpPr txBox="1"/>
          <p:nvPr/>
        </p:nvSpPr>
        <p:spPr>
          <a:xfrm>
            <a:off x="548640" y="6419088"/>
            <a:ext cx="10241280" cy="274320"/>
          </a:xfrm>
          <a:prstGeom prst="rect">
            <a:avLst/>
          </a:prstGeom>
          <a:noFill/>
        </p:spPr>
        <p:txBody>
          <a:bodyPr wrap="square" lIns="0" rIns="0" tIns="0" bIns="0" anchor="t">
            <a:spAutoFit/>
          </a:bodyPr>
          <a:lstStyle/>
          <a:p>
            <a:pPr algn="l">
              <a:spcAft>
                <a:spcPts val="0"/>
              </a:spcAft>
            </a:pPr>
            <a:r>
              <a:rPr sz="1000" b="0" i="0">
                <a:solidFill>
                  <a:srgbClr val="8A93A0"/>
                </a:solidFill>
                <a:latin typeface="Calibri"/>
              </a:rPr>
              <a:t>Giả lập: 8 file mỗi nhóm. Lát được tính trên các frame của đúng loại âm thanh đó.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595628" cy="274320"/>
          </a:xfrm>
          <a:prstGeom prst="roundRect">
            <a:avLst>
              <a:gd name="adj" fmla="val 50000"/>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lIns="73152" rIns="73152" tIns="0" bIns="0"/>
          <a:lstStyle/>
          <a:p>
            <a:pPr algn="ctr"/>
            <a:r>
              <a:rPr sz="1100" b="1">
                <a:solidFill>
                  <a:srgbClr val="0A5C5B"/>
                </a:solidFill>
                <a:latin typeface="Calibri"/>
              </a:rPr>
              <a:t>Finding và kế hoạch</a:t>
            </a:r>
          </a:p>
        </p:txBody>
      </p:sp>
      <p:sp>
        <p:nvSpPr>
          <p:cNvPr id="3" name="TextBox 2"/>
          <p:cNvSpPr txBox="1"/>
          <p:nvPr/>
        </p:nvSpPr>
        <p:spPr>
          <a:xfrm>
            <a:off x="548640" y="786384"/>
            <a:ext cx="11091672" cy="731520"/>
          </a:xfrm>
          <a:prstGeom prst="rect">
            <a:avLst/>
          </a:prstGeom>
          <a:noFill/>
        </p:spPr>
        <p:txBody>
          <a:bodyPr wrap="square" lIns="0" rIns="0" tIns="0" bIns="0" anchor="t">
            <a:spAutoFit/>
          </a:bodyPr>
          <a:lstStyle/>
          <a:p>
            <a:pPr algn="l">
              <a:spcAft>
                <a:spcPts val="0"/>
              </a:spcAft>
            </a:pPr>
            <a:r>
              <a:rPr sz="2800" b="1" i="0">
                <a:solidFill>
                  <a:srgbClr val="16202E"/>
                </a:solidFill>
                <a:latin typeface="Cambria"/>
              </a:rPr>
              <a:t>Tối ưu theo thứ tự: rẻ và chắc trước, chỉ giữ thay đổi qua cổng</a:t>
            </a:r>
          </a:p>
        </p:txBody>
      </p:sp>
      <p:sp>
        <p:nvSpPr>
          <p:cNvPr id="4" name="TextBox 3"/>
          <p:cNvSpPr txBox="1"/>
          <p:nvPr/>
        </p:nvSpPr>
        <p:spPr>
          <a:xfrm>
            <a:off x="11000232" y="6419088"/>
            <a:ext cx="640080" cy="256032"/>
          </a:xfrm>
          <a:prstGeom prst="rect">
            <a:avLst/>
          </a:prstGeom>
          <a:noFill/>
        </p:spPr>
        <p:txBody>
          <a:bodyPr wrap="square" lIns="0" rIns="0" tIns="0" bIns="0" anchor="t">
            <a:spAutoFit/>
          </a:bodyPr>
          <a:lstStyle/>
          <a:p>
            <a:pPr algn="r">
              <a:spcAft>
                <a:spcPts val="0"/>
              </a:spcAft>
            </a:pPr>
            <a:r>
              <a:rPr sz="1000" b="0" i="0">
                <a:solidFill>
                  <a:srgbClr val="8A93A0"/>
                </a:solidFill>
                <a:latin typeface="Calibri"/>
              </a:rPr>
              <a:t>14 / 15</a:t>
            </a:r>
          </a:p>
        </p:txBody>
      </p:sp>
      <p:sp>
        <p:nvSpPr>
          <p:cNvPr id="5" name="TextBox 4"/>
          <p:cNvSpPr txBox="1"/>
          <p:nvPr/>
        </p:nvSpPr>
        <p:spPr>
          <a:xfrm>
            <a:off x="548640" y="1691640"/>
            <a:ext cx="11091672"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Viết mỗi finding theo cùng một mẫu</a:t>
            </a:r>
          </a:p>
        </p:txBody>
      </p:sp>
      <p:sp>
        <p:nvSpPr>
          <p:cNvPr id="6" name="Pentagon 5"/>
          <p:cNvSpPr/>
          <p:nvPr/>
        </p:nvSpPr>
        <p:spPr>
          <a:xfrm>
            <a:off x="548640" y="2148840"/>
            <a:ext cx="2788920" cy="960120"/>
          </a:xfrm>
          <a:prstGeom prst="homePlate">
            <a:avLst/>
          </a:prstGeom>
          <a:solidFill>
            <a:srgbClr val="DDF1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822959" y="2194560"/>
            <a:ext cx="2148840" cy="365760"/>
          </a:xfrm>
          <a:prstGeom prst="rect">
            <a:avLst/>
          </a:prstGeom>
          <a:noFill/>
        </p:spPr>
        <p:txBody>
          <a:bodyPr wrap="square" lIns="0" rIns="0" tIns="0" bIns="0" anchor="t">
            <a:spAutoFit/>
          </a:bodyPr>
          <a:lstStyle/>
          <a:p>
            <a:pPr algn="l">
              <a:spcAft>
                <a:spcPts val="0"/>
              </a:spcAft>
            </a:pPr>
            <a:r>
              <a:rPr sz="1500" b="1" i="0">
                <a:solidFill>
                  <a:srgbClr val="0A5C5B"/>
                </a:solidFill>
                <a:latin typeface="Calibri"/>
              </a:rPr>
              <a:t>Quan sát</a:t>
            </a:r>
          </a:p>
        </p:txBody>
      </p:sp>
      <p:sp>
        <p:nvSpPr>
          <p:cNvPr id="8" name="TextBox 7"/>
          <p:cNvSpPr txBox="1"/>
          <p:nvPr/>
        </p:nvSpPr>
        <p:spPr>
          <a:xfrm>
            <a:off x="822959" y="2542032"/>
            <a:ext cx="2148840" cy="502920"/>
          </a:xfrm>
          <a:prstGeom prst="rect">
            <a:avLst/>
          </a:prstGeom>
          <a:noFill/>
        </p:spPr>
        <p:txBody>
          <a:bodyPr wrap="square" lIns="0" rIns="0" tIns="0" bIns="0" anchor="t">
            <a:spAutoFit/>
          </a:bodyPr>
          <a:lstStyle/>
          <a:p>
            <a:pPr algn="l">
              <a:spcAft>
                <a:spcPts val="0"/>
              </a:spcAft>
            </a:pPr>
            <a:r>
              <a:rPr sz="1200" b="0" i="0">
                <a:solidFill>
                  <a:srgbClr val="0A5C5B"/>
                </a:solidFill>
                <a:latin typeface="Calibri"/>
              </a:rPr>
              <a:t>FA cao</a:t>
            </a:r>
          </a:p>
        </p:txBody>
      </p:sp>
      <p:sp>
        <p:nvSpPr>
          <p:cNvPr id="9" name="Chevron 8"/>
          <p:cNvSpPr/>
          <p:nvPr/>
        </p:nvSpPr>
        <p:spPr>
          <a:xfrm>
            <a:off x="3376879" y="2148840"/>
            <a:ext cx="2788920" cy="960120"/>
          </a:xfrm>
          <a:prstGeom prst="chevron">
            <a:avLst/>
          </a:prstGeom>
          <a:solidFill>
            <a:srgbClr val="B9E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TextBox 9"/>
          <p:cNvSpPr txBox="1"/>
          <p:nvPr/>
        </p:nvSpPr>
        <p:spPr>
          <a:xfrm>
            <a:off x="3943807" y="2194560"/>
            <a:ext cx="1856231" cy="365760"/>
          </a:xfrm>
          <a:prstGeom prst="rect">
            <a:avLst/>
          </a:prstGeom>
          <a:noFill/>
        </p:spPr>
        <p:txBody>
          <a:bodyPr wrap="square" lIns="0" rIns="0" tIns="0" bIns="0" anchor="t">
            <a:spAutoFit/>
          </a:bodyPr>
          <a:lstStyle/>
          <a:p>
            <a:pPr algn="l">
              <a:spcAft>
                <a:spcPts val="0"/>
              </a:spcAft>
            </a:pPr>
            <a:r>
              <a:rPr sz="1500" b="1" i="0">
                <a:solidFill>
                  <a:srgbClr val="0A5C5B"/>
                </a:solidFill>
                <a:latin typeface="Calibri"/>
              </a:rPr>
              <a:t>Nguyên nhân</a:t>
            </a:r>
          </a:p>
        </p:txBody>
      </p:sp>
      <p:sp>
        <p:nvSpPr>
          <p:cNvPr id="11" name="TextBox 10"/>
          <p:cNvSpPr txBox="1"/>
          <p:nvPr/>
        </p:nvSpPr>
        <p:spPr>
          <a:xfrm>
            <a:off x="3943807" y="2542032"/>
            <a:ext cx="1856231" cy="502920"/>
          </a:xfrm>
          <a:prstGeom prst="rect">
            <a:avLst/>
          </a:prstGeom>
          <a:noFill/>
        </p:spPr>
        <p:txBody>
          <a:bodyPr wrap="square" lIns="0" rIns="0" tIns="0" bIns="0" anchor="t">
            <a:spAutoFit/>
          </a:bodyPr>
          <a:lstStyle/>
          <a:p>
            <a:pPr algn="l">
              <a:spcAft>
                <a:spcPts val="0"/>
              </a:spcAft>
            </a:pPr>
            <a:r>
              <a:rPr sz="1200" b="0" i="0">
                <a:solidFill>
                  <a:srgbClr val="0A5C5B"/>
                </a:solidFill>
                <a:latin typeface="Calibri"/>
              </a:rPr>
              <a:t>39% FA nằm sát biên</a:t>
            </a:r>
          </a:p>
        </p:txBody>
      </p:sp>
      <p:sp>
        <p:nvSpPr>
          <p:cNvPr id="12" name="Chevron 11"/>
          <p:cNvSpPr/>
          <p:nvPr/>
        </p:nvSpPr>
        <p:spPr>
          <a:xfrm>
            <a:off x="6205118" y="2148840"/>
            <a:ext cx="2788920" cy="960120"/>
          </a:xfrm>
          <a:prstGeom prst="chevron">
            <a:avLst/>
          </a:prstGeom>
          <a:solidFill>
            <a:srgbClr val="5FB3B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TextBox 12"/>
          <p:cNvSpPr txBox="1"/>
          <p:nvPr/>
        </p:nvSpPr>
        <p:spPr>
          <a:xfrm>
            <a:off x="6772046" y="2194560"/>
            <a:ext cx="1856231" cy="365760"/>
          </a:xfrm>
          <a:prstGeom prst="rect">
            <a:avLst/>
          </a:prstGeom>
          <a:noFill/>
        </p:spPr>
        <p:txBody>
          <a:bodyPr wrap="square" lIns="0" rIns="0" tIns="0" bIns="0" anchor="t">
            <a:spAutoFit/>
          </a:bodyPr>
          <a:lstStyle/>
          <a:p>
            <a:pPr algn="l">
              <a:spcAft>
                <a:spcPts val="0"/>
              </a:spcAft>
            </a:pPr>
            <a:r>
              <a:rPr sz="1500" b="1" i="0">
                <a:solidFill>
                  <a:srgbClr val="FFFFFF"/>
                </a:solidFill>
                <a:latin typeface="Calibri"/>
              </a:rPr>
              <a:t>Bằng chứng</a:t>
            </a:r>
          </a:p>
        </p:txBody>
      </p:sp>
      <p:sp>
        <p:nvSpPr>
          <p:cNvPr id="14" name="TextBox 13"/>
          <p:cNvSpPr txBox="1"/>
          <p:nvPr/>
        </p:nvSpPr>
        <p:spPr>
          <a:xfrm>
            <a:off x="6772046" y="2542032"/>
            <a:ext cx="1856231" cy="50292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Tách biên: FA 12,4% → 7,6%</a:t>
            </a:r>
          </a:p>
        </p:txBody>
      </p:sp>
      <p:sp>
        <p:nvSpPr>
          <p:cNvPr id="15" name="Chevron 14"/>
          <p:cNvSpPr/>
          <p:nvPr/>
        </p:nvSpPr>
        <p:spPr>
          <a:xfrm>
            <a:off x="9033357" y="2148840"/>
            <a:ext cx="2788920" cy="960120"/>
          </a:xfrm>
          <a:prstGeom prst="chevron">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TextBox 15"/>
          <p:cNvSpPr txBox="1"/>
          <p:nvPr/>
        </p:nvSpPr>
        <p:spPr>
          <a:xfrm>
            <a:off x="9600285" y="2194560"/>
            <a:ext cx="1856231" cy="365760"/>
          </a:xfrm>
          <a:prstGeom prst="rect">
            <a:avLst/>
          </a:prstGeom>
          <a:noFill/>
        </p:spPr>
        <p:txBody>
          <a:bodyPr wrap="square" lIns="0" rIns="0" tIns="0" bIns="0" anchor="t">
            <a:spAutoFit/>
          </a:bodyPr>
          <a:lstStyle/>
          <a:p>
            <a:pPr algn="l">
              <a:spcAft>
                <a:spcPts val="0"/>
              </a:spcAft>
            </a:pPr>
            <a:r>
              <a:rPr sz="1500" b="1" i="0">
                <a:solidFill>
                  <a:srgbClr val="FFFFFF"/>
                </a:solidFill>
                <a:latin typeface="Calibri"/>
              </a:rPr>
              <a:t>Hành động</a:t>
            </a:r>
          </a:p>
        </p:txBody>
      </p:sp>
      <p:sp>
        <p:nvSpPr>
          <p:cNvPr id="17" name="TextBox 16"/>
          <p:cNvSpPr txBox="1"/>
          <p:nvPr/>
        </p:nvSpPr>
        <p:spPr>
          <a:xfrm>
            <a:off x="9600285" y="2542032"/>
            <a:ext cx="1856231" cy="50292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Ưu tiên E1, E3</a:t>
            </a:r>
          </a:p>
        </p:txBody>
      </p:sp>
      <p:sp>
        <p:nvSpPr>
          <p:cNvPr id="18" name="TextBox 17"/>
          <p:cNvSpPr txBox="1"/>
          <p:nvPr/>
        </p:nvSpPr>
        <p:spPr>
          <a:xfrm>
            <a:off x="548640" y="3182112"/>
            <a:ext cx="11091672" cy="274320"/>
          </a:xfrm>
          <a:prstGeom prst="rect">
            <a:avLst/>
          </a:prstGeom>
          <a:noFill/>
        </p:spPr>
        <p:txBody>
          <a:bodyPr wrap="square" lIns="0" rIns="0" tIns="0" bIns="0" anchor="t">
            <a:spAutoFit/>
          </a:bodyPr>
          <a:lstStyle/>
          <a:p>
            <a:pPr algn="l">
              <a:spcAft>
                <a:spcPts val="0"/>
              </a:spcAft>
            </a:pPr>
            <a:r>
              <a:rPr sz="1100" b="0" i="0">
                <a:solidFill>
                  <a:srgbClr val="8A93A0"/>
                </a:solidFill>
                <a:latin typeface="Calibri"/>
              </a:rPr>
              <a:t>Ví dụ lấy từ giả lập; mỗi bằng chứng cần kèm CI 95%.</a:t>
            </a:r>
          </a:p>
        </p:txBody>
      </p:sp>
      <p:sp>
        <p:nvSpPr>
          <p:cNvPr id="19" name="Rounded Rectangle 18"/>
          <p:cNvSpPr/>
          <p:nvPr/>
        </p:nvSpPr>
        <p:spPr>
          <a:xfrm>
            <a:off x="548640" y="3611880"/>
            <a:ext cx="2331720" cy="2103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731520" y="3703320"/>
            <a:ext cx="196596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Nhanh</a:t>
            </a:r>
          </a:p>
        </p:txBody>
      </p:sp>
      <p:sp>
        <p:nvSpPr>
          <p:cNvPr id="21" name="TextBox 20"/>
          <p:cNvSpPr txBox="1"/>
          <p:nvPr/>
        </p:nvSpPr>
        <p:spPr>
          <a:xfrm>
            <a:off x="731520" y="4069080"/>
            <a:ext cx="1965960" cy="27432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Vài ngày</a:t>
            </a:r>
          </a:p>
        </p:txBody>
      </p:sp>
      <p:sp>
        <p:nvSpPr>
          <p:cNvPr id="22" name="TextBox 21"/>
          <p:cNvSpPr txBox="1"/>
          <p:nvPr/>
        </p:nvSpPr>
        <p:spPr>
          <a:xfrm>
            <a:off x="731520" y="4434840"/>
            <a:ext cx="2011679" cy="1645920"/>
          </a:xfrm>
          <a:prstGeom prst="rect">
            <a:avLst/>
          </a:prstGeom>
          <a:noFill/>
        </p:spPr>
        <p:txBody>
          <a:bodyPr wrap="square" lIns="0" rIns="0" tIns="0" bIns="0" anchor="t">
            <a:spAutoFit/>
          </a:bodyPr>
          <a:lstStyle/>
          <a:p>
            <a:pPr algn="l" marL="201168" indent="-201168">
              <a:spcAft>
                <a:spcPts val="500"/>
              </a:spcAft>
              <a:buFont typeface="Arial"/>
              <a:buChar char="•"/>
            </a:pPr>
            <a:r>
              <a:rPr sz="1300" b="0" i="0">
                <a:solidFill>
                  <a:srgbClr val="16202E"/>
                </a:solidFill>
                <a:latin typeface="Calibri"/>
              </a:rPr>
              <a:t>Đánh giá tách lỗi biên</a:t>
            </a:r>
          </a:p>
          <a:p>
            <a:pPr algn="l" marL="201168" indent="-201168">
              <a:spcAft>
                <a:spcPts val="500"/>
              </a:spcAft>
              <a:buFont typeface="Arial"/>
              <a:buChar char="•"/>
            </a:pPr>
            <a:r>
              <a:rPr sz="1300" b="0" i="0">
                <a:solidFill>
                  <a:srgbClr val="16202E"/>
                </a:solidFill>
                <a:latin typeface="Calibri"/>
              </a:rPr>
              <a:t>E1: tune hậu xử lý trên dev</a:t>
            </a:r>
          </a:p>
        </p:txBody>
      </p:sp>
      <p:sp>
        <p:nvSpPr>
          <p:cNvPr id="23" name="Rounded Rectangle 22"/>
          <p:cNvSpPr/>
          <p:nvPr/>
        </p:nvSpPr>
        <p:spPr>
          <a:xfrm>
            <a:off x="3035808" y="3611880"/>
            <a:ext cx="2331720" cy="2103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TextBox 23"/>
          <p:cNvSpPr txBox="1"/>
          <p:nvPr/>
        </p:nvSpPr>
        <p:spPr>
          <a:xfrm>
            <a:off x="3218688" y="3703320"/>
            <a:ext cx="196596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Vừa</a:t>
            </a:r>
          </a:p>
        </p:txBody>
      </p:sp>
      <p:sp>
        <p:nvSpPr>
          <p:cNvPr id="25" name="TextBox 24"/>
          <p:cNvSpPr txBox="1"/>
          <p:nvPr/>
        </p:nvSpPr>
        <p:spPr>
          <a:xfrm>
            <a:off x="3218688" y="4069080"/>
            <a:ext cx="1965960" cy="27432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1–2 tuần</a:t>
            </a:r>
          </a:p>
        </p:txBody>
      </p:sp>
      <p:sp>
        <p:nvSpPr>
          <p:cNvPr id="26" name="TextBox 25"/>
          <p:cNvSpPr txBox="1"/>
          <p:nvPr/>
        </p:nvSpPr>
        <p:spPr>
          <a:xfrm>
            <a:off x="3218688" y="4434840"/>
            <a:ext cx="2011679" cy="1645920"/>
          </a:xfrm>
          <a:prstGeom prst="rect">
            <a:avLst/>
          </a:prstGeom>
          <a:noFill/>
        </p:spPr>
        <p:txBody>
          <a:bodyPr wrap="square" lIns="0" rIns="0" tIns="0" bIns="0" anchor="t">
            <a:spAutoFit/>
          </a:bodyPr>
          <a:lstStyle/>
          <a:p>
            <a:pPr algn="l" marL="201168" indent="-201168">
              <a:spcAft>
                <a:spcPts val="500"/>
              </a:spcAft>
              <a:buFont typeface="Arial"/>
              <a:buChar char="•"/>
            </a:pPr>
            <a:r>
              <a:rPr sz="1300" b="0" i="0">
                <a:solidFill>
                  <a:srgbClr val="16202E"/>
                </a:solidFill>
                <a:latin typeface="Calibri"/>
              </a:rPr>
              <a:t>E2: tầng thời gian</a:t>
            </a:r>
          </a:p>
          <a:p>
            <a:pPr algn="l" marL="201168" indent="-201168">
              <a:spcAft>
                <a:spcPts val="500"/>
              </a:spcAft>
              <a:buFont typeface="Arial"/>
              <a:buChar char="•"/>
            </a:pPr>
            <a:r>
              <a:rPr sz="1300" b="0" i="0">
                <a:solidFill>
                  <a:srgbClr val="16202E"/>
                </a:solidFill>
                <a:latin typeface="Calibri"/>
              </a:rPr>
              <a:t>E4: dữ liệu lát khó</a:t>
            </a:r>
          </a:p>
        </p:txBody>
      </p:sp>
      <p:sp>
        <p:nvSpPr>
          <p:cNvPr id="27" name="Rounded Rectangle 26"/>
          <p:cNvSpPr/>
          <p:nvPr/>
        </p:nvSpPr>
        <p:spPr>
          <a:xfrm>
            <a:off x="5522975" y="3611880"/>
            <a:ext cx="2331720" cy="2103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TextBox 27"/>
          <p:cNvSpPr txBox="1"/>
          <p:nvPr/>
        </p:nvSpPr>
        <p:spPr>
          <a:xfrm>
            <a:off x="5705855" y="3703320"/>
            <a:ext cx="1965960" cy="365760"/>
          </a:xfrm>
          <a:prstGeom prst="rect">
            <a:avLst/>
          </a:prstGeom>
          <a:noFill/>
        </p:spPr>
        <p:txBody>
          <a:bodyPr wrap="square" lIns="0" rIns="0" tIns="0" bIns="0" anchor="t">
            <a:spAutoFit/>
          </a:bodyPr>
          <a:lstStyle/>
          <a:p>
            <a:pPr algn="l">
              <a:spcAft>
                <a:spcPts val="0"/>
              </a:spcAft>
            </a:pPr>
            <a:r>
              <a:rPr sz="1700" b="1" i="0">
                <a:solidFill>
                  <a:srgbClr val="16202E"/>
                </a:solidFill>
                <a:latin typeface="Cambria"/>
              </a:rPr>
              <a:t>Lớn</a:t>
            </a:r>
          </a:p>
        </p:txBody>
      </p:sp>
      <p:sp>
        <p:nvSpPr>
          <p:cNvPr id="29" name="TextBox 28"/>
          <p:cNvSpPr txBox="1"/>
          <p:nvPr/>
        </p:nvSpPr>
        <p:spPr>
          <a:xfrm>
            <a:off x="5705855" y="4069080"/>
            <a:ext cx="1965960" cy="274320"/>
          </a:xfrm>
          <a:prstGeom prst="rect">
            <a:avLst/>
          </a:prstGeom>
          <a:noFill/>
        </p:spPr>
        <p:txBody>
          <a:bodyPr wrap="square" lIns="0" rIns="0" tIns="0" bIns="0" anchor="t">
            <a:spAutoFit/>
          </a:bodyPr>
          <a:lstStyle/>
          <a:p>
            <a:pPr algn="l">
              <a:spcAft>
                <a:spcPts val="0"/>
              </a:spcAft>
            </a:pPr>
            <a:r>
              <a:rPr sz="1200" b="1" i="0">
                <a:solidFill>
                  <a:srgbClr val="0A5C5B"/>
                </a:solidFill>
                <a:latin typeface="Calibri"/>
              </a:rPr>
              <a:t>2–4 tuần</a:t>
            </a:r>
          </a:p>
        </p:txBody>
      </p:sp>
      <p:sp>
        <p:nvSpPr>
          <p:cNvPr id="30" name="TextBox 29"/>
          <p:cNvSpPr txBox="1"/>
          <p:nvPr/>
        </p:nvSpPr>
        <p:spPr>
          <a:xfrm>
            <a:off x="5705855" y="4434840"/>
            <a:ext cx="2011679" cy="1645920"/>
          </a:xfrm>
          <a:prstGeom prst="rect">
            <a:avLst/>
          </a:prstGeom>
          <a:noFill/>
        </p:spPr>
        <p:txBody>
          <a:bodyPr wrap="square" lIns="0" rIns="0" tIns="0" bIns="0" anchor="t">
            <a:spAutoFit/>
          </a:bodyPr>
          <a:lstStyle/>
          <a:p>
            <a:pPr algn="l" marL="201168" indent="-201168">
              <a:spcAft>
                <a:spcPts val="500"/>
              </a:spcAft>
              <a:buFont typeface="Arial"/>
              <a:buChar char="•"/>
            </a:pPr>
            <a:r>
              <a:rPr sz="1300" b="0" i="0">
                <a:solidFill>
                  <a:srgbClr val="16202E"/>
                </a:solidFill>
                <a:latin typeface="Calibri"/>
              </a:rPr>
              <a:t>E3: nhánh 10 ms</a:t>
            </a:r>
          </a:p>
          <a:p>
            <a:pPr algn="l" marL="201168" indent="-201168">
              <a:spcAft>
                <a:spcPts val="500"/>
              </a:spcAft>
              <a:buFont typeface="Arial"/>
              <a:buChar char="•"/>
            </a:pPr>
            <a:r>
              <a:rPr sz="1300" b="0" i="0">
                <a:solidFill>
                  <a:srgbClr val="16202E"/>
                </a:solidFill>
                <a:latin typeface="Calibri"/>
              </a:rPr>
              <a:t>E5: fine-tune, logit Singing</a:t>
            </a:r>
          </a:p>
          <a:p>
            <a:pPr algn="l" marL="201168" indent="-201168">
              <a:spcAft>
                <a:spcPts val="500"/>
              </a:spcAft>
              <a:buFont typeface="Arial"/>
              <a:buChar char="•"/>
            </a:pPr>
            <a:r>
              <a:rPr sz="1300" b="0" i="0">
                <a:solidFill>
                  <a:srgbClr val="16202E"/>
                </a:solidFill>
                <a:latin typeface="Calibri"/>
              </a:rPr>
              <a:t>E6: student nhẹ</a:t>
            </a:r>
          </a:p>
        </p:txBody>
      </p:sp>
      <p:sp>
        <p:nvSpPr>
          <p:cNvPr id="31" name="Rounded Rectangle 30"/>
          <p:cNvSpPr/>
          <p:nvPr/>
        </p:nvSpPr>
        <p:spPr>
          <a:xfrm>
            <a:off x="8010144" y="3611880"/>
            <a:ext cx="3630168" cy="2103120"/>
          </a:xfrm>
          <a:prstGeom prst="roundRect">
            <a:avLst>
              <a:gd name="adj" fmla="val 6000"/>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2" name="Oval 31"/>
          <p:cNvSpPr/>
          <p:nvPr/>
        </p:nvSpPr>
        <p:spPr>
          <a:xfrm>
            <a:off x="8238744" y="3794760"/>
            <a:ext cx="502920" cy="502920"/>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3" name="Picture 32" descr="flag_w.png"/>
          <p:cNvPicPr>
            <a:picLocks noChangeAspect="1"/>
          </p:cNvPicPr>
          <p:nvPr/>
        </p:nvPicPr>
        <p:blipFill>
          <a:blip r:embed="rId2"/>
          <a:stretch>
            <a:fillRect/>
          </a:stretch>
        </p:blipFill>
        <p:spPr>
          <a:xfrm>
            <a:off x="8349386" y="3905402"/>
            <a:ext cx="281635" cy="281635"/>
          </a:xfrm>
          <a:prstGeom prst="rect">
            <a:avLst/>
          </a:prstGeom>
        </p:spPr>
      </p:pic>
      <p:sp>
        <p:nvSpPr>
          <p:cNvPr id="34" name="TextBox 33"/>
          <p:cNvSpPr txBox="1"/>
          <p:nvPr/>
        </p:nvSpPr>
        <p:spPr>
          <a:xfrm>
            <a:off x="8878824" y="3840480"/>
            <a:ext cx="2624328" cy="411480"/>
          </a:xfrm>
          <a:prstGeom prst="rect">
            <a:avLst/>
          </a:prstGeom>
          <a:noFill/>
        </p:spPr>
        <p:txBody>
          <a:bodyPr wrap="square" lIns="0" rIns="0" tIns="0" bIns="0" anchor="t">
            <a:spAutoFit/>
          </a:bodyPr>
          <a:lstStyle/>
          <a:p>
            <a:pPr algn="l">
              <a:spcAft>
                <a:spcPts val="0"/>
              </a:spcAft>
            </a:pPr>
            <a:r>
              <a:rPr sz="1700" b="1" i="0">
                <a:solidFill>
                  <a:srgbClr val="FFFFFF"/>
                </a:solidFill>
                <a:latin typeface="Cambria"/>
              </a:rPr>
              <a:t>Cổng chấp nhận</a:t>
            </a:r>
          </a:p>
        </p:txBody>
      </p:sp>
      <p:sp>
        <p:nvSpPr>
          <p:cNvPr id="35" name="TextBox 34"/>
          <p:cNvSpPr txBox="1"/>
          <p:nvPr/>
        </p:nvSpPr>
        <p:spPr>
          <a:xfrm>
            <a:off x="8238744" y="4480560"/>
            <a:ext cx="3218688" cy="1645920"/>
          </a:xfrm>
          <a:prstGeom prst="rect">
            <a:avLst/>
          </a:prstGeom>
          <a:noFill/>
        </p:spPr>
        <p:txBody>
          <a:bodyPr wrap="square" lIns="0" rIns="0" tIns="0" bIns="0" anchor="t">
            <a:spAutoFit/>
          </a:bodyPr>
          <a:lstStyle/>
          <a:p>
            <a:pPr algn="l" marL="201168" indent="-201168">
              <a:spcAft>
                <a:spcPts val="600"/>
              </a:spcAft>
              <a:buFont typeface="Arial"/>
              <a:buChar char="•"/>
            </a:pPr>
            <a:r>
              <a:rPr sz="1300" b="0" i="0">
                <a:solidFill>
                  <a:srgbClr val="C9D3E0"/>
                </a:solidFill>
                <a:latin typeface="Calibri"/>
              </a:rPr>
              <a:t>Scorecard cải thiện vượt khỏi CI</a:t>
            </a:r>
          </a:p>
          <a:p>
            <a:pPr algn="l" marL="201168" indent="-201168">
              <a:spcAft>
                <a:spcPts val="600"/>
              </a:spcAft>
              <a:buFont typeface="Arial"/>
              <a:buChar char="•"/>
            </a:pPr>
            <a:r>
              <a:rPr sz="1300" b="0" i="0">
                <a:solidFill>
                  <a:srgbClr val="C9D3E0"/>
                </a:solidFill>
                <a:latin typeface="Calibri"/>
              </a:rPr>
              <a:t>Không lát nào tệ đi</a:t>
            </a:r>
          </a:p>
          <a:p>
            <a:pPr algn="l" marL="201168" indent="-201168">
              <a:spcAft>
                <a:spcPts val="600"/>
              </a:spcAft>
              <a:buFont typeface="Arial"/>
              <a:buChar char="•"/>
            </a:pPr>
            <a:r>
              <a:rPr sz="1300" b="0" i="0">
                <a:solidFill>
                  <a:srgbClr val="C9D3E0"/>
                </a:solidFill>
                <a:latin typeface="Calibri"/>
              </a:rPr>
              <a:t>RTF, RAM trong ngân sách lib.so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31520" y="685800"/>
            <a:ext cx="10698480" cy="365760"/>
          </a:xfrm>
          <a:prstGeom prst="rect">
            <a:avLst/>
          </a:prstGeom>
          <a:noFill/>
        </p:spPr>
        <p:txBody>
          <a:bodyPr wrap="square" lIns="0" rIns="0" tIns="0" bIns="0" anchor="t">
            <a:spAutoFit/>
          </a:bodyPr>
          <a:lstStyle/>
          <a:p>
            <a:pPr algn="l">
              <a:spcAft>
                <a:spcPts val="0"/>
              </a:spcAft>
            </a:pPr>
            <a:r>
              <a:rPr sz="1400" b="1" i="0">
                <a:solidFill>
                  <a:srgbClr val="8FD3D1"/>
                </a:solidFill>
                <a:latin typeface="Calibri"/>
              </a:rPr>
              <a:t>Bước tiếp theo</a:t>
            </a:r>
          </a:p>
        </p:txBody>
      </p:sp>
      <p:sp>
        <p:nvSpPr>
          <p:cNvPr id="4" name="TextBox 3"/>
          <p:cNvSpPr txBox="1"/>
          <p:nvPr/>
        </p:nvSpPr>
        <p:spPr>
          <a:xfrm>
            <a:off x="731520" y="1051560"/>
            <a:ext cx="10698480" cy="914400"/>
          </a:xfrm>
          <a:prstGeom prst="rect">
            <a:avLst/>
          </a:prstGeom>
          <a:noFill/>
        </p:spPr>
        <p:txBody>
          <a:bodyPr wrap="square" lIns="0" rIns="0" tIns="0" bIns="0" anchor="t">
            <a:spAutoFit/>
          </a:bodyPr>
          <a:lstStyle/>
          <a:p>
            <a:pPr algn="l">
              <a:spcAft>
                <a:spcPts val="0"/>
              </a:spcAft>
            </a:pPr>
            <a:r>
              <a:rPr sz="3200" b="1" i="0">
                <a:solidFill>
                  <a:srgbClr val="FFFFFF"/>
                </a:solidFill>
                <a:latin typeface="Cambria"/>
              </a:rPr>
              <a:t>Lộ trình 6 tuần: đo trước, sửa rẻ trước, mở rộng sau</a:t>
            </a:r>
          </a:p>
        </p:txBody>
      </p:sp>
      <p:cxnSp>
        <p:nvCxnSpPr>
          <p:cNvPr id="5" name="Connector 4"/>
          <p:cNvCxnSpPr/>
          <p:nvPr/>
        </p:nvCxnSpPr>
        <p:spPr>
          <a:xfrm>
            <a:off x="1143000" y="2971800"/>
            <a:ext cx="9921240" cy="0"/>
          </a:xfrm>
          <a:prstGeom prst="line">
            <a:avLst/>
          </a:prstGeom>
          <a:ln w="31750">
            <a:solidFill>
              <a:srgbClr val="46536A"/>
            </a:solidFill>
          </a:ln>
        </p:spPr>
        <p:style>
          <a:lnRef idx="2">
            <a:schemeClr val="accent1"/>
          </a:lnRef>
          <a:fillRef idx="0">
            <a:schemeClr val="accent1"/>
          </a:fillRef>
          <a:effectRef idx="0">
            <a:schemeClr val="accent1"/>
          </a:effectRef>
          <a:fontRef idx="minor">
            <a:schemeClr val="tx1"/>
          </a:fontRef>
        </p:style>
      </p:cxnSp>
      <p:sp>
        <p:nvSpPr>
          <p:cNvPr id="6" name="Oval 5"/>
          <p:cNvSpPr/>
          <p:nvPr/>
        </p:nvSpPr>
        <p:spPr>
          <a:xfrm>
            <a:off x="777240" y="2587752"/>
            <a:ext cx="768096" cy="768096"/>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 name="Picture 6" descr="insights_w.png"/>
          <p:cNvPicPr>
            <a:picLocks noChangeAspect="1"/>
          </p:cNvPicPr>
          <p:nvPr/>
        </p:nvPicPr>
        <p:blipFill>
          <a:blip r:embed="rId2"/>
          <a:stretch>
            <a:fillRect/>
          </a:stretch>
        </p:blipFill>
        <p:spPr>
          <a:xfrm>
            <a:off x="946221" y="2756733"/>
            <a:ext cx="430133" cy="430133"/>
          </a:xfrm>
          <a:prstGeom prst="rect">
            <a:avLst/>
          </a:prstGeom>
        </p:spPr>
      </p:pic>
      <p:sp>
        <p:nvSpPr>
          <p:cNvPr id="8" name="TextBox 7"/>
          <p:cNvSpPr txBox="1"/>
          <p:nvPr/>
        </p:nvSpPr>
        <p:spPr>
          <a:xfrm>
            <a:off x="731520" y="3566160"/>
            <a:ext cx="2514600" cy="320040"/>
          </a:xfrm>
          <a:prstGeom prst="rect">
            <a:avLst/>
          </a:prstGeom>
          <a:noFill/>
        </p:spPr>
        <p:txBody>
          <a:bodyPr wrap="square" lIns="0" rIns="0" tIns="0" bIns="0" anchor="t">
            <a:spAutoFit/>
          </a:bodyPr>
          <a:lstStyle/>
          <a:p>
            <a:pPr algn="l">
              <a:spcAft>
                <a:spcPts val="0"/>
              </a:spcAft>
            </a:pPr>
            <a:r>
              <a:rPr sz="1300" b="1" i="0">
                <a:solidFill>
                  <a:srgbClr val="8FD3D1"/>
                </a:solidFill>
                <a:latin typeface="Calibri"/>
              </a:rPr>
              <a:t>Tuần 1</a:t>
            </a:r>
          </a:p>
        </p:txBody>
      </p:sp>
      <p:sp>
        <p:nvSpPr>
          <p:cNvPr id="9" name="TextBox 8"/>
          <p:cNvSpPr txBox="1"/>
          <p:nvPr/>
        </p:nvSpPr>
        <p:spPr>
          <a:xfrm>
            <a:off x="731520" y="3886200"/>
            <a:ext cx="251460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mbria"/>
              </a:rPr>
              <a:t>Đo lường</a:t>
            </a:r>
          </a:p>
        </p:txBody>
      </p:sp>
      <p:sp>
        <p:nvSpPr>
          <p:cNvPr id="10" name="TextBox 9"/>
          <p:cNvSpPr txBox="1"/>
          <p:nvPr/>
        </p:nvSpPr>
        <p:spPr>
          <a:xfrm>
            <a:off x="731520" y="4389120"/>
            <a:ext cx="2423160" cy="1280160"/>
          </a:xfrm>
          <a:prstGeom prst="rect">
            <a:avLst/>
          </a:prstGeom>
          <a:noFill/>
        </p:spPr>
        <p:txBody>
          <a:bodyPr wrap="square" lIns="0" rIns="0" tIns="0" bIns="0" anchor="t">
            <a:spAutoFit/>
          </a:bodyPr>
          <a:lstStyle/>
          <a:p>
            <a:pPr algn="l">
              <a:spcAft>
                <a:spcPts val="0"/>
              </a:spcAft>
            </a:pPr>
            <a:r>
              <a:rPr sz="1400" b="0" i="0">
                <a:solidFill>
                  <a:srgbClr val="C9D3E0"/>
                </a:solidFill>
                <a:latin typeface="Calibri"/>
              </a:rPr>
              <a:t>Rà nhãn theo định nghĩa mới; chạy baseline; dựng scorecard theo lát.</a:t>
            </a:r>
          </a:p>
        </p:txBody>
      </p:sp>
      <p:sp>
        <p:nvSpPr>
          <p:cNvPr id="11" name="Oval 10"/>
          <p:cNvSpPr/>
          <p:nvPr/>
        </p:nvSpPr>
        <p:spPr>
          <a:xfrm>
            <a:off x="3630168" y="2587752"/>
            <a:ext cx="768096" cy="768096"/>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2" name="Picture 11" descr="tune_w.png"/>
          <p:cNvPicPr>
            <a:picLocks noChangeAspect="1"/>
          </p:cNvPicPr>
          <p:nvPr/>
        </p:nvPicPr>
        <p:blipFill>
          <a:blip r:embed="rId3"/>
          <a:stretch>
            <a:fillRect/>
          </a:stretch>
        </p:blipFill>
        <p:spPr>
          <a:xfrm>
            <a:off x="3799149" y="2756733"/>
            <a:ext cx="430133" cy="430133"/>
          </a:xfrm>
          <a:prstGeom prst="rect">
            <a:avLst/>
          </a:prstGeom>
        </p:spPr>
      </p:pic>
      <p:sp>
        <p:nvSpPr>
          <p:cNvPr id="13" name="TextBox 12"/>
          <p:cNvSpPr txBox="1"/>
          <p:nvPr/>
        </p:nvSpPr>
        <p:spPr>
          <a:xfrm>
            <a:off x="3584448" y="3566160"/>
            <a:ext cx="2514600" cy="320040"/>
          </a:xfrm>
          <a:prstGeom prst="rect">
            <a:avLst/>
          </a:prstGeom>
          <a:noFill/>
        </p:spPr>
        <p:txBody>
          <a:bodyPr wrap="square" lIns="0" rIns="0" tIns="0" bIns="0" anchor="t">
            <a:spAutoFit/>
          </a:bodyPr>
          <a:lstStyle/>
          <a:p>
            <a:pPr algn="l">
              <a:spcAft>
                <a:spcPts val="0"/>
              </a:spcAft>
            </a:pPr>
            <a:r>
              <a:rPr sz="1300" b="1" i="0">
                <a:solidFill>
                  <a:srgbClr val="8FD3D1"/>
                </a:solidFill>
                <a:latin typeface="Calibri"/>
              </a:rPr>
              <a:t>Tuần 2</a:t>
            </a:r>
          </a:p>
        </p:txBody>
      </p:sp>
      <p:sp>
        <p:nvSpPr>
          <p:cNvPr id="14" name="TextBox 13"/>
          <p:cNvSpPr txBox="1"/>
          <p:nvPr/>
        </p:nvSpPr>
        <p:spPr>
          <a:xfrm>
            <a:off x="3584448" y="3886200"/>
            <a:ext cx="251460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mbria"/>
              </a:rPr>
              <a:t>Sửa rẻ nhất</a:t>
            </a:r>
          </a:p>
        </p:txBody>
      </p:sp>
      <p:sp>
        <p:nvSpPr>
          <p:cNvPr id="15" name="TextBox 14"/>
          <p:cNvSpPr txBox="1"/>
          <p:nvPr/>
        </p:nvSpPr>
        <p:spPr>
          <a:xfrm>
            <a:off x="3584448" y="4389120"/>
            <a:ext cx="2423160" cy="1280160"/>
          </a:xfrm>
          <a:prstGeom prst="rect">
            <a:avLst/>
          </a:prstGeom>
          <a:noFill/>
        </p:spPr>
        <p:txBody>
          <a:bodyPr wrap="square" lIns="0" rIns="0" tIns="0" bIns="0" anchor="t">
            <a:spAutoFit/>
          </a:bodyPr>
          <a:lstStyle/>
          <a:p>
            <a:pPr algn="l">
              <a:spcAft>
                <a:spcPts val="0"/>
              </a:spcAft>
            </a:pPr>
            <a:r>
              <a:rPr sz="1400" b="0" i="0">
                <a:solidFill>
                  <a:srgbClr val="C9D3E0"/>
                </a:solidFill>
                <a:latin typeface="Calibri"/>
              </a:rPr>
              <a:t>Tune hậu xử lý trên dev; thêm BiGRU trên chuỗi embedding.</a:t>
            </a:r>
          </a:p>
        </p:txBody>
      </p:sp>
      <p:sp>
        <p:nvSpPr>
          <p:cNvPr id="16" name="Oval 15"/>
          <p:cNvSpPr/>
          <p:nvPr/>
        </p:nvSpPr>
        <p:spPr>
          <a:xfrm>
            <a:off x="6483096" y="2587752"/>
            <a:ext cx="768096" cy="768096"/>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7" name="Picture 16" descr="wave_w.png"/>
          <p:cNvPicPr>
            <a:picLocks noChangeAspect="1"/>
          </p:cNvPicPr>
          <p:nvPr/>
        </p:nvPicPr>
        <p:blipFill>
          <a:blip r:embed="rId4"/>
          <a:stretch>
            <a:fillRect/>
          </a:stretch>
        </p:blipFill>
        <p:spPr>
          <a:xfrm>
            <a:off x="6652077" y="2756733"/>
            <a:ext cx="430133" cy="430133"/>
          </a:xfrm>
          <a:prstGeom prst="rect">
            <a:avLst/>
          </a:prstGeom>
        </p:spPr>
      </p:pic>
      <p:sp>
        <p:nvSpPr>
          <p:cNvPr id="18" name="TextBox 17"/>
          <p:cNvSpPr txBox="1"/>
          <p:nvPr/>
        </p:nvSpPr>
        <p:spPr>
          <a:xfrm>
            <a:off x="6437376" y="3566160"/>
            <a:ext cx="2514600" cy="320040"/>
          </a:xfrm>
          <a:prstGeom prst="rect">
            <a:avLst/>
          </a:prstGeom>
          <a:noFill/>
        </p:spPr>
        <p:txBody>
          <a:bodyPr wrap="square" lIns="0" rIns="0" tIns="0" bIns="0" anchor="t">
            <a:spAutoFit/>
          </a:bodyPr>
          <a:lstStyle/>
          <a:p>
            <a:pPr algn="l">
              <a:spcAft>
                <a:spcPts val="0"/>
              </a:spcAft>
            </a:pPr>
            <a:r>
              <a:rPr sz="1300" b="1" i="0">
                <a:solidFill>
                  <a:srgbClr val="8FD3D1"/>
                </a:solidFill>
                <a:latin typeface="Calibri"/>
              </a:rPr>
              <a:t>Tuần 3–4</a:t>
            </a:r>
          </a:p>
        </p:txBody>
      </p:sp>
      <p:sp>
        <p:nvSpPr>
          <p:cNvPr id="19" name="TextBox 18"/>
          <p:cNvSpPr txBox="1"/>
          <p:nvPr/>
        </p:nvSpPr>
        <p:spPr>
          <a:xfrm>
            <a:off x="6437376" y="3886200"/>
            <a:ext cx="251460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mbria"/>
              </a:rPr>
              <a:t>Lát khó</a:t>
            </a:r>
          </a:p>
        </p:txBody>
      </p:sp>
      <p:sp>
        <p:nvSpPr>
          <p:cNvPr id="20" name="TextBox 19"/>
          <p:cNvSpPr txBox="1"/>
          <p:nvPr/>
        </p:nvSpPr>
        <p:spPr>
          <a:xfrm>
            <a:off x="6437376" y="4389120"/>
            <a:ext cx="2423160" cy="1280160"/>
          </a:xfrm>
          <a:prstGeom prst="rect">
            <a:avLst/>
          </a:prstGeom>
          <a:noFill/>
        </p:spPr>
        <p:txBody>
          <a:bodyPr wrap="square" lIns="0" rIns="0" tIns="0" bIns="0" anchor="t">
            <a:spAutoFit/>
          </a:bodyPr>
          <a:lstStyle/>
          <a:p>
            <a:pPr algn="l">
              <a:spcAft>
                <a:spcPts val="0"/>
              </a:spcAft>
            </a:pPr>
            <a:r>
              <a:rPr sz="1400" b="0" i="0">
                <a:solidFill>
                  <a:srgbClr val="C9D3E0"/>
                </a:solidFill>
                <a:latin typeface="Calibri"/>
              </a:rPr>
              <a:t>Thêm dữ liệu đám đông, cười/ho, nhạc cụ, giọng bị che; nhánh 10 ms.</a:t>
            </a:r>
          </a:p>
        </p:txBody>
      </p:sp>
      <p:sp>
        <p:nvSpPr>
          <p:cNvPr id="21" name="Oval 20"/>
          <p:cNvSpPr/>
          <p:nvPr/>
        </p:nvSpPr>
        <p:spPr>
          <a:xfrm>
            <a:off x="9336024" y="2587752"/>
            <a:ext cx="768096" cy="768096"/>
          </a:xfrm>
          <a:prstGeom prst="ellipse">
            <a:avLst/>
          </a:prstGeom>
          <a:solidFill>
            <a:srgbClr val="0E7C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2" name="Picture 21" descr="model_w.png"/>
          <p:cNvPicPr>
            <a:picLocks noChangeAspect="1"/>
          </p:cNvPicPr>
          <p:nvPr/>
        </p:nvPicPr>
        <p:blipFill>
          <a:blip r:embed="rId5"/>
          <a:stretch>
            <a:fillRect/>
          </a:stretch>
        </p:blipFill>
        <p:spPr>
          <a:xfrm>
            <a:off x="9505005" y="2756733"/>
            <a:ext cx="430133" cy="430133"/>
          </a:xfrm>
          <a:prstGeom prst="rect">
            <a:avLst/>
          </a:prstGeom>
        </p:spPr>
      </p:pic>
      <p:sp>
        <p:nvSpPr>
          <p:cNvPr id="23" name="TextBox 22"/>
          <p:cNvSpPr txBox="1"/>
          <p:nvPr/>
        </p:nvSpPr>
        <p:spPr>
          <a:xfrm>
            <a:off x="9290304" y="3566160"/>
            <a:ext cx="2514600" cy="320040"/>
          </a:xfrm>
          <a:prstGeom prst="rect">
            <a:avLst/>
          </a:prstGeom>
          <a:noFill/>
        </p:spPr>
        <p:txBody>
          <a:bodyPr wrap="square" lIns="0" rIns="0" tIns="0" bIns="0" anchor="t">
            <a:spAutoFit/>
          </a:bodyPr>
          <a:lstStyle/>
          <a:p>
            <a:pPr algn="l">
              <a:spcAft>
                <a:spcPts val="0"/>
              </a:spcAft>
            </a:pPr>
            <a:r>
              <a:rPr sz="1300" b="1" i="0">
                <a:solidFill>
                  <a:srgbClr val="8FD3D1"/>
                </a:solidFill>
                <a:latin typeface="Calibri"/>
              </a:rPr>
              <a:t>Tuần 5–6</a:t>
            </a:r>
          </a:p>
        </p:txBody>
      </p:sp>
      <p:sp>
        <p:nvSpPr>
          <p:cNvPr id="24" name="TextBox 23"/>
          <p:cNvSpPr txBox="1"/>
          <p:nvPr/>
        </p:nvSpPr>
        <p:spPr>
          <a:xfrm>
            <a:off x="9290304" y="3886200"/>
            <a:ext cx="2514600" cy="457200"/>
          </a:xfrm>
          <a:prstGeom prst="rect">
            <a:avLst/>
          </a:prstGeom>
          <a:noFill/>
        </p:spPr>
        <p:txBody>
          <a:bodyPr wrap="square" lIns="0" rIns="0" tIns="0" bIns="0" anchor="t">
            <a:spAutoFit/>
          </a:bodyPr>
          <a:lstStyle/>
          <a:p>
            <a:pPr algn="l">
              <a:spcAft>
                <a:spcPts val="0"/>
              </a:spcAft>
            </a:pPr>
            <a:r>
              <a:rPr sz="2000" b="1" i="0">
                <a:solidFill>
                  <a:srgbClr val="FFFFFF"/>
                </a:solidFill>
                <a:latin typeface="Cambria"/>
              </a:rPr>
              <a:t>Thu gọn</a:t>
            </a:r>
          </a:p>
        </p:txBody>
      </p:sp>
      <p:sp>
        <p:nvSpPr>
          <p:cNvPr id="25" name="TextBox 24"/>
          <p:cNvSpPr txBox="1"/>
          <p:nvPr/>
        </p:nvSpPr>
        <p:spPr>
          <a:xfrm>
            <a:off x="9290304" y="4389120"/>
            <a:ext cx="2423160" cy="1280160"/>
          </a:xfrm>
          <a:prstGeom prst="rect">
            <a:avLst/>
          </a:prstGeom>
          <a:noFill/>
        </p:spPr>
        <p:txBody>
          <a:bodyPr wrap="square" lIns="0" rIns="0" tIns="0" bIns="0" anchor="t">
            <a:spAutoFit/>
          </a:bodyPr>
          <a:lstStyle/>
          <a:p>
            <a:pPr algn="l">
              <a:spcAft>
                <a:spcPts val="0"/>
              </a:spcAft>
            </a:pPr>
            <a:r>
              <a:rPr sz="1400" b="0" i="0">
                <a:solidFill>
                  <a:srgbClr val="C9D3E0"/>
                </a:solidFill>
                <a:latin typeface="Calibri"/>
              </a:rPr>
              <a:t>Distillation sang student nhẹ trong lib.so; đo RTF, RAM, điện năng.</a:t>
            </a:r>
          </a:p>
        </p:txBody>
      </p:sp>
      <p:sp>
        <p:nvSpPr>
          <p:cNvPr id="26" name="TextBox 25"/>
          <p:cNvSpPr txBox="1"/>
          <p:nvPr/>
        </p:nvSpPr>
        <p:spPr>
          <a:xfrm>
            <a:off x="731520" y="5989320"/>
            <a:ext cx="10698480" cy="365760"/>
          </a:xfrm>
          <a:prstGeom prst="rect">
            <a:avLst/>
          </a:prstGeom>
          <a:noFill/>
        </p:spPr>
        <p:txBody>
          <a:bodyPr wrap="square" lIns="0" rIns="0" tIns="0" bIns="0" anchor="t">
            <a:spAutoFit/>
          </a:bodyPr>
          <a:lstStyle/>
          <a:p>
            <a:pPr algn="l">
              <a:spcAft>
                <a:spcPts val="0"/>
              </a:spcAft>
            </a:pPr>
            <a:r>
              <a:rPr sz="1400" b="0" i="0">
                <a:solidFill>
                  <a:srgbClr val="8A93A0"/>
                </a:solidFill>
                <a:latin typeface="Calibri"/>
              </a:rPr>
              <a:t>Mỗi bước đều chấm bằng cùng scorecard và qua cùng cổng chấp nhận.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